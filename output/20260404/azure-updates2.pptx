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1.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5447" r:id="rId4"/>
  </p:sldMasterIdLst>
  <p:notesMasterIdLst>
    <p:notesMasterId r:id="rId8"/>
  </p:notesMasterIdLst>
  <p:handoutMasterIdLst>
    <p:handoutMasterId r:id="rId9"/>
  </p:handoutMasterIdLst>
  <p:sldIdLst>
    <p:sldId id="256" r:id="rId7"/>
    <p:sldId id="257" r:id="rId6"/>
    <p:sldId id="258" r:id="rId5"/>
    <p:sldId id="259" r:id="rId30"/>
    <p:sldId id="260" r:id="rId31"/>
    <p:sldId id="261" r:id="rId32"/>
    <p:sldId id="262" r:id="rId33"/>
    <p:sldId id="263" r:id="rId34"/>
    <p:sldId id="264" r:id="rId35"/>
    <p:sldId id="265" r:id="rId36"/>
    <p:sldId id="266" r:id="rId37"/>
    <p:sldId id="267" r:id="rId38"/>
    <p:sldId id="268" r:id="rId39"/>
    <p:sldId id="269" r:id="rId40"/>
    <p:sldId id="270" r:id="rId41"/>
    <p:sldId id="271" r:id="rId42"/>
    <p:sldId id="272" r:id="rId43"/>
    <p:sldId id="273" r:id="rId44"/>
    <p:sldId id="274" r:id="rId45"/>
    <p:sldId id="275" r:id="rId46"/>
    <p:sldId id="276" r:id="rId47"/>
    <p:sldId id="277" r:id="rId48"/>
    <p:sldId id="278" r:id="rId49"/>
    <p:sldId id="279" r:id="rId50"/>
    <p:sldId id="280" r:id="rId51"/>
    <p:sldId id="281" r:id="rId52"/>
    <p:sldId id="282" r:id="rId53"/>
    <p:sldId id="283" r:id="rId54"/>
    <p:sldId id="284" r:id="rId55"/>
    <p:sldId id="285" r:id="rId56"/>
    <p:sldId id="286" r:id="rId57"/>
    <p:sldId id="287" r:id="rId58"/>
    <p:sldId id="288" r:id="rId59"/>
    <p:sldId id="289" r:id="rId60"/>
    <p:sldId id="290" r:id="rId61"/>
    <p:sldId id="291" r:id="rId62"/>
    <p:sldId id="292" r:id="rId63"/>
    <p:sldId id="293" r:id="rId64"/>
    <p:sldId id="294" r:id="rId65"/>
    <p:sldId id="295" r:id="rId66"/>
    <p:sldId id="296" r:id="rId67"/>
    <p:sldId id="297" r:id="rId68"/>
    <p:sldId id="298" r:id="rId69"/>
    <p:sldId id="299" r:id="rId70"/>
    <p:sldId id="300" r:id="rId71"/>
    <p:sldId id="301" r:id="rId72"/>
    <p:sldId id="302" r:id="rId73"/>
    <p:sldId id="303" r:id="rId74"/>
    <p:sldId id="304" r:id="rId75"/>
    <p:sldId id="305" r:id="rId76"/>
    <p:sldId id="306" r:id="rId77"/>
    <p:sldId id="307" r:id="rId78"/>
    <p:sldId id="308" r:id="rId79"/>
    <p:sldId id="309" r:id="rId80"/>
    <p:sldId id="310" r:id="rId81"/>
    <p:sldId id="311" r:id="rId82"/>
    <p:sldId id="312" r:id="rId83"/>
    <p:sldId id="313" r:id="rId84"/>
    <p:sldId id="314" r:id="rId85"/>
    <p:sldId id="315" r:id="rId86"/>
    <p:sldId id="316" r:id="rId87"/>
    <p:sldId id="317" r:id="rId88"/>
    <p:sldId id="318" r:id="rId89"/>
    <p:sldId id="319" r:id="rId90"/>
    <p:sldId id="320" r:id="rId91"/>
    <p:sldId id="321" r:id="rId92"/>
    <p:sldId id="322" r:id="rId93"/>
    <p:sldId id="323" r:id="rId94"/>
    <p:sldId id="324" r:id="rId95"/>
    <p:sldId id="325" r:id="rId96"/>
    <p:sldId id="326" r:id="rId97"/>
    <p:sldId id="327" r:id="rId98"/>
    <p:sldId id="328" r:id="rId99"/>
    <p:sldId id="329" r:id="rId100"/>
    <p:sldId id="330" r:id="rId101"/>
    <p:sldId id="331" r:id="rId102"/>
    <p:sldId id="332" r:id="rId103"/>
    <p:sldId id="333" r:id="rId104"/>
    <p:sldId id="334" r:id="rId105"/>
    <p:sldId id="335" r:id="rId106"/>
    <p:sldId id="336" r:id="rId107"/>
    <p:sldId id="337" r:id="rId108"/>
  </p:sldIdLst>
  <p:sldSz cx="12192000" cy="6858000"/>
  <p:notesSz cx="6858000" cy="9144000"/>
  <p:embeddedFontLst>
    <p:embeddedFont>
      <p:font typeface="Segoe Sans Text" pitchFamily="2" charset="0"/>
      <p:regular r:id="rId10"/>
      <p:bold r:id="rId11"/>
      <p:italic r:id="rId12"/>
      <p:boldItalic r:id="rId13"/>
    </p:embeddedFont>
    <p:embeddedFont>
      <p:font typeface="Segoe Sans Text Semibold" pitchFamily="2" charset="0"/>
      <p:regular r:id="rId14"/>
      <p:bold r:id="rId15"/>
      <p:boldItalic r:id="rId16"/>
    </p:embeddedFont>
    <p:embeddedFont>
      <p:font typeface="Segoe UI" panose="020B0502040204020203" pitchFamily="34" charset="0"/>
      <p:regular r:id="rId17"/>
      <p:bold r:id="rId18"/>
      <p:italic r:id="rId19"/>
      <p:boldItalic r:id="rId20"/>
    </p:embeddedFont>
    <p:embeddedFont>
      <p:font typeface="Yu Gothic UI" panose="020B0500000000000000" pitchFamily="34" charset="-128"/>
      <p:regular r:id="rId21"/>
      <p:bold r:id="rId22"/>
    </p:embeddedFont>
  </p:embeddedFontLst>
  <p:defaultTex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AFA61D8-796F-555E-A395-B33F90AAF99E}" name="Monica Lueder" initials="ML" userId="S::monical@microsoft.com::75969e72-ba9c-4e32-a4ac-c8f3aeff9ba2"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0" name="Saku Uchikawa" initials="SU" lastIdx="11" clrIdx="0"/>
  <p:cmAuthor id="1" name="Mary Feil-Jacobs" initials="MFJ" lastIdx="43" clrIdx="1"/>
  <p:cmAuthor id="2" name="Monica Lueder" initials="ML" lastIdx="22" clrIdx="2">
    <p:extLst>
      <p:ext uri="{19B8F6BF-5375-455C-9EA6-DF929625EA0E}">
        <p15:presenceInfo xmlns:p15="http://schemas.microsoft.com/office/powerpoint/2012/main" userId="S-1-5-21-2127521184-1604012920-1887927527-2598260" providerId="AD"/>
      </p:ext>
    </p:extLst>
  </p:cmAuthor>
  <p:cmAuthor id="3" name="Mary Feil-Jacobs" initials="MF" lastIdx="28" clrIdx="3">
    <p:extLst>
      <p:ext uri="{19B8F6BF-5375-455C-9EA6-DF929625EA0E}">
        <p15:presenceInfo xmlns:p15="http://schemas.microsoft.com/office/powerpoint/2012/main" userId="S-1-5-21-2127521184-1604012920-1887927527-65006" providerId="AD"/>
      </p:ext>
    </p:extLst>
  </p:cmAuthor>
  <p:cmAuthor id="4" name="Tracy Tran" initials="TT" lastIdx="9" clrIdx="4">
    <p:extLst>
      <p:ext uri="{19B8F6BF-5375-455C-9EA6-DF929625EA0E}">
        <p15:presenceInfo xmlns:p15="http://schemas.microsoft.com/office/powerpoint/2012/main" userId="S::tracyt@microsoft.com::7b485f56-8fe8-4efc-a1b3-85e720327ac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4364C"/>
    <a:srgbClr val="C03BC4"/>
    <a:srgbClr val="E8E6DF"/>
    <a:srgbClr val="F4F3F5"/>
    <a:srgbClr val="0078D4"/>
    <a:srgbClr val="F0F0F0"/>
    <a:srgbClr val="8C8279"/>
    <a:srgbClr val="FFB900"/>
    <a:srgbClr val="091F2C"/>
    <a:srgbClr val="2A446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0ECBF74-D144-C640-BF81-1B86CF99FB24}" v="92" dt="2023-09-19T21:25:10.35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03" autoAdjust="0"/>
    <p:restoredTop sz="96328" autoAdjust="0"/>
  </p:normalViewPr>
  <p:slideViewPr>
    <p:cSldViewPr snapToGrid="0">
      <p:cViewPr varScale="1">
        <p:scale>
          <a:sx n="103" d="100"/>
          <a:sy n="103" d="100"/>
        </p:scale>
        <p:origin x="41" y="456"/>
      </p:cViewPr>
      <p:guideLst/>
    </p:cSldViewPr>
  </p:slideViewPr>
  <p:outlineViewPr>
    <p:cViewPr>
      <p:scale>
        <a:sx n="33" d="100"/>
        <a:sy n="33" d="100"/>
      </p:scale>
      <p:origin x="0" y="-2334"/>
    </p:cViewPr>
  </p:outlineViewPr>
  <p:notesTextViewPr>
    <p:cViewPr>
      <p:scale>
        <a:sx n="3" d="2"/>
        <a:sy n="3" d="2"/>
      </p:scale>
      <p:origin x="0" y="0"/>
    </p:cViewPr>
  </p:notesTextViewPr>
  <p:sorterViewPr>
    <p:cViewPr>
      <p:scale>
        <a:sx n="100" d="100"/>
        <a:sy n="100" d="100"/>
      </p:scale>
      <p:origin x="0" y="0"/>
    </p:cViewPr>
  </p:sorterViewPr>
  <p:notesViewPr>
    <p:cSldViewPr snapToGrid="0" showGuides="1">
      <p:cViewPr varScale="1">
        <p:scale>
          <a:sx n="80" d="100"/>
          <a:sy n="80" d="100"/>
        </p:scale>
        <p:origin x="3066"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3.xml"/><Relationship Id="rId6" Type="http://schemas.openxmlformats.org/officeDocument/2006/relationships/slide" Target="slides/slide2.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handoutMaster" Target="handoutMasters/handoutMaster1.xml"/><Relationship Id="rId10" Type="http://schemas.openxmlformats.org/officeDocument/2006/relationships/font" Target="fonts/font1.fntdata"/><Relationship Id="rId11" Type="http://schemas.openxmlformats.org/officeDocument/2006/relationships/font" Target="fonts/font2.fntdata"/><Relationship Id="rId12" Type="http://schemas.openxmlformats.org/officeDocument/2006/relationships/font" Target="fonts/font3.fntdata"/><Relationship Id="rId13" Type="http://schemas.openxmlformats.org/officeDocument/2006/relationships/font" Target="fonts/font4.fntdata"/><Relationship Id="rId14" Type="http://schemas.openxmlformats.org/officeDocument/2006/relationships/font" Target="fonts/font5.fntdata"/><Relationship Id="rId15" Type="http://schemas.openxmlformats.org/officeDocument/2006/relationships/font" Target="fonts/font6.fntdata"/><Relationship Id="rId16" Type="http://schemas.openxmlformats.org/officeDocument/2006/relationships/font" Target="fonts/font7.fntdata"/><Relationship Id="rId17" Type="http://schemas.openxmlformats.org/officeDocument/2006/relationships/font" Target="fonts/font8.fntdata"/><Relationship Id="rId18" Type="http://schemas.openxmlformats.org/officeDocument/2006/relationships/font" Target="fonts/font9.fntdata"/><Relationship Id="rId19" Type="http://schemas.openxmlformats.org/officeDocument/2006/relationships/font" Target="fonts/font10.fntdata"/><Relationship Id="rId20" Type="http://schemas.openxmlformats.org/officeDocument/2006/relationships/font" Target="fonts/font11.fntdata"/><Relationship Id="rId21" Type="http://schemas.openxmlformats.org/officeDocument/2006/relationships/font" Target="fonts/font12.fntdata"/><Relationship Id="rId22" Type="http://schemas.openxmlformats.org/officeDocument/2006/relationships/font" Target="fonts/font13.fntdata"/><Relationship Id="rId23" Type="http://schemas.openxmlformats.org/officeDocument/2006/relationships/commentAuthors" Target="commentAuthors.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 Id="rId28" Type="http://schemas.microsoft.com/office/2015/10/relationships/revisionInfo" Target="revisionInfo.xml"/><Relationship Id="rId29" Type="http://schemas.microsoft.com/office/2018/10/relationships/authors" Target="authors.xml"/><Relationship Id="rId30" Type="http://schemas.openxmlformats.org/officeDocument/2006/relationships/slide" Target="slides/slide4.xml"/><Relationship Id="rId31" Type="http://schemas.openxmlformats.org/officeDocument/2006/relationships/slide" Target="slides/slide5.xml"/><Relationship Id="rId32" Type="http://schemas.openxmlformats.org/officeDocument/2006/relationships/slide" Target="slides/slide6.xml"/><Relationship Id="rId33" Type="http://schemas.openxmlformats.org/officeDocument/2006/relationships/slide" Target="slides/slide7.xml"/><Relationship Id="rId34" Type="http://schemas.openxmlformats.org/officeDocument/2006/relationships/slide" Target="slides/slide8.xml"/><Relationship Id="rId35" Type="http://schemas.openxmlformats.org/officeDocument/2006/relationships/slide" Target="slides/slide9.xml"/><Relationship Id="rId36" Type="http://schemas.openxmlformats.org/officeDocument/2006/relationships/slide" Target="slides/slide10.xml"/><Relationship Id="rId37" Type="http://schemas.openxmlformats.org/officeDocument/2006/relationships/slide" Target="slides/slide11.xml"/><Relationship Id="rId38" Type="http://schemas.openxmlformats.org/officeDocument/2006/relationships/slide" Target="slides/slide12.xml"/><Relationship Id="rId39" Type="http://schemas.openxmlformats.org/officeDocument/2006/relationships/slide" Target="slides/slide13.xml"/><Relationship Id="rId40" Type="http://schemas.openxmlformats.org/officeDocument/2006/relationships/slide" Target="slides/slide14.xml"/><Relationship Id="rId41" Type="http://schemas.openxmlformats.org/officeDocument/2006/relationships/slide" Target="slides/slide15.xml"/><Relationship Id="rId42" Type="http://schemas.openxmlformats.org/officeDocument/2006/relationships/slide" Target="slides/slide16.xml"/><Relationship Id="rId43" Type="http://schemas.openxmlformats.org/officeDocument/2006/relationships/slide" Target="slides/slide17.xml"/><Relationship Id="rId44" Type="http://schemas.openxmlformats.org/officeDocument/2006/relationships/slide" Target="slides/slide18.xml"/><Relationship Id="rId45" Type="http://schemas.openxmlformats.org/officeDocument/2006/relationships/slide" Target="slides/slide19.xml"/><Relationship Id="rId46" Type="http://schemas.openxmlformats.org/officeDocument/2006/relationships/slide" Target="slides/slide20.xml"/><Relationship Id="rId47" Type="http://schemas.openxmlformats.org/officeDocument/2006/relationships/slide" Target="slides/slide21.xml"/><Relationship Id="rId48" Type="http://schemas.openxmlformats.org/officeDocument/2006/relationships/slide" Target="slides/slide22.xml"/><Relationship Id="rId49" Type="http://schemas.openxmlformats.org/officeDocument/2006/relationships/slide" Target="slides/slide23.xml"/><Relationship Id="rId50" Type="http://schemas.openxmlformats.org/officeDocument/2006/relationships/slide" Target="slides/slide24.xml"/><Relationship Id="rId51" Type="http://schemas.openxmlformats.org/officeDocument/2006/relationships/slide" Target="slides/slide25.xml"/><Relationship Id="rId52" Type="http://schemas.openxmlformats.org/officeDocument/2006/relationships/slide" Target="slides/slide26.xml"/><Relationship Id="rId53" Type="http://schemas.openxmlformats.org/officeDocument/2006/relationships/slide" Target="slides/slide27.xml"/><Relationship Id="rId54" Type="http://schemas.openxmlformats.org/officeDocument/2006/relationships/slide" Target="slides/slide28.xml"/><Relationship Id="rId55" Type="http://schemas.openxmlformats.org/officeDocument/2006/relationships/slide" Target="slides/slide29.xml"/><Relationship Id="rId56" Type="http://schemas.openxmlformats.org/officeDocument/2006/relationships/slide" Target="slides/slide30.xml"/><Relationship Id="rId57" Type="http://schemas.openxmlformats.org/officeDocument/2006/relationships/slide" Target="slides/slide31.xml"/><Relationship Id="rId58" Type="http://schemas.openxmlformats.org/officeDocument/2006/relationships/slide" Target="slides/slide32.xml"/><Relationship Id="rId59" Type="http://schemas.openxmlformats.org/officeDocument/2006/relationships/slide" Target="slides/slide33.xml"/><Relationship Id="rId60" Type="http://schemas.openxmlformats.org/officeDocument/2006/relationships/slide" Target="slides/slide34.xml"/><Relationship Id="rId61" Type="http://schemas.openxmlformats.org/officeDocument/2006/relationships/slide" Target="slides/slide35.xml"/><Relationship Id="rId62" Type="http://schemas.openxmlformats.org/officeDocument/2006/relationships/slide" Target="slides/slide36.xml"/><Relationship Id="rId63" Type="http://schemas.openxmlformats.org/officeDocument/2006/relationships/slide" Target="slides/slide37.xml"/><Relationship Id="rId64" Type="http://schemas.openxmlformats.org/officeDocument/2006/relationships/slide" Target="slides/slide38.xml"/><Relationship Id="rId65" Type="http://schemas.openxmlformats.org/officeDocument/2006/relationships/slide" Target="slides/slide39.xml"/><Relationship Id="rId66" Type="http://schemas.openxmlformats.org/officeDocument/2006/relationships/slide" Target="slides/slide40.xml"/><Relationship Id="rId67" Type="http://schemas.openxmlformats.org/officeDocument/2006/relationships/slide" Target="slides/slide41.xml"/><Relationship Id="rId68" Type="http://schemas.openxmlformats.org/officeDocument/2006/relationships/slide" Target="slides/slide42.xml"/><Relationship Id="rId69" Type="http://schemas.openxmlformats.org/officeDocument/2006/relationships/slide" Target="slides/slide43.xml"/><Relationship Id="rId70" Type="http://schemas.openxmlformats.org/officeDocument/2006/relationships/slide" Target="slides/slide44.xml"/><Relationship Id="rId71" Type="http://schemas.openxmlformats.org/officeDocument/2006/relationships/slide" Target="slides/slide45.xml"/><Relationship Id="rId72" Type="http://schemas.openxmlformats.org/officeDocument/2006/relationships/slide" Target="slides/slide46.xml"/><Relationship Id="rId73" Type="http://schemas.openxmlformats.org/officeDocument/2006/relationships/slide" Target="slides/slide47.xml"/><Relationship Id="rId74" Type="http://schemas.openxmlformats.org/officeDocument/2006/relationships/slide" Target="slides/slide48.xml"/><Relationship Id="rId75" Type="http://schemas.openxmlformats.org/officeDocument/2006/relationships/slide" Target="slides/slide49.xml"/><Relationship Id="rId76" Type="http://schemas.openxmlformats.org/officeDocument/2006/relationships/slide" Target="slides/slide50.xml"/><Relationship Id="rId77" Type="http://schemas.openxmlformats.org/officeDocument/2006/relationships/slide" Target="slides/slide51.xml"/><Relationship Id="rId78" Type="http://schemas.openxmlformats.org/officeDocument/2006/relationships/slide" Target="slides/slide52.xml"/><Relationship Id="rId79" Type="http://schemas.openxmlformats.org/officeDocument/2006/relationships/slide" Target="slides/slide53.xml"/><Relationship Id="rId80" Type="http://schemas.openxmlformats.org/officeDocument/2006/relationships/slide" Target="slides/slide54.xml"/><Relationship Id="rId81" Type="http://schemas.openxmlformats.org/officeDocument/2006/relationships/slide" Target="slides/slide55.xml"/><Relationship Id="rId82" Type="http://schemas.openxmlformats.org/officeDocument/2006/relationships/slide" Target="slides/slide56.xml"/><Relationship Id="rId83" Type="http://schemas.openxmlformats.org/officeDocument/2006/relationships/slide" Target="slides/slide57.xml"/><Relationship Id="rId84" Type="http://schemas.openxmlformats.org/officeDocument/2006/relationships/slide" Target="slides/slide58.xml"/><Relationship Id="rId85" Type="http://schemas.openxmlformats.org/officeDocument/2006/relationships/slide" Target="slides/slide59.xml"/><Relationship Id="rId86" Type="http://schemas.openxmlformats.org/officeDocument/2006/relationships/slide" Target="slides/slide60.xml"/><Relationship Id="rId87" Type="http://schemas.openxmlformats.org/officeDocument/2006/relationships/slide" Target="slides/slide61.xml"/><Relationship Id="rId88" Type="http://schemas.openxmlformats.org/officeDocument/2006/relationships/slide" Target="slides/slide62.xml"/><Relationship Id="rId89" Type="http://schemas.openxmlformats.org/officeDocument/2006/relationships/slide" Target="slides/slide63.xml"/><Relationship Id="rId90" Type="http://schemas.openxmlformats.org/officeDocument/2006/relationships/slide" Target="slides/slide64.xml"/><Relationship Id="rId91" Type="http://schemas.openxmlformats.org/officeDocument/2006/relationships/slide" Target="slides/slide65.xml"/><Relationship Id="rId92" Type="http://schemas.openxmlformats.org/officeDocument/2006/relationships/slide" Target="slides/slide66.xml"/><Relationship Id="rId93" Type="http://schemas.openxmlformats.org/officeDocument/2006/relationships/slide" Target="slides/slide67.xml"/><Relationship Id="rId94" Type="http://schemas.openxmlformats.org/officeDocument/2006/relationships/slide" Target="slides/slide68.xml"/><Relationship Id="rId95" Type="http://schemas.openxmlformats.org/officeDocument/2006/relationships/slide" Target="slides/slide69.xml"/><Relationship Id="rId96" Type="http://schemas.openxmlformats.org/officeDocument/2006/relationships/slide" Target="slides/slide70.xml"/><Relationship Id="rId97" Type="http://schemas.openxmlformats.org/officeDocument/2006/relationships/slide" Target="slides/slide71.xml"/><Relationship Id="rId98" Type="http://schemas.openxmlformats.org/officeDocument/2006/relationships/slide" Target="slides/slide72.xml"/><Relationship Id="rId99" Type="http://schemas.openxmlformats.org/officeDocument/2006/relationships/slide" Target="slides/slide73.xml"/><Relationship Id="rId100" Type="http://schemas.openxmlformats.org/officeDocument/2006/relationships/slide" Target="slides/slide74.xml"/><Relationship Id="rId101" Type="http://schemas.openxmlformats.org/officeDocument/2006/relationships/slide" Target="slides/slide75.xml"/><Relationship Id="rId102" Type="http://schemas.openxmlformats.org/officeDocument/2006/relationships/slide" Target="slides/slide76.xml"/><Relationship Id="rId103" Type="http://schemas.openxmlformats.org/officeDocument/2006/relationships/slide" Target="slides/slide77.xml"/><Relationship Id="rId104" Type="http://schemas.openxmlformats.org/officeDocument/2006/relationships/slide" Target="slides/slide78.xml"/><Relationship Id="rId105" Type="http://schemas.openxmlformats.org/officeDocument/2006/relationships/slide" Target="slides/slide79.xml"/><Relationship Id="rId106" Type="http://schemas.openxmlformats.org/officeDocument/2006/relationships/slide" Target="slides/slide80.xml"/><Relationship Id="rId107" Type="http://schemas.openxmlformats.org/officeDocument/2006/relationships/slide" Target="slides/slide81.xml"/><Relationship Id="rId108" Type="http://schemas.openxmlformats.org/officeDocument/2006/relationships/slide" Target="slides/slide8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endParaRPr lang="en-US" dirty="0">
              <a:latin typeface="Segoe UI" pitchFamily="34"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58A7A3D-F8D3-49CD-971A-AE485987F0DA}" type="datetime8">
              <a:rPr lang="en-US" smtClean="0">
                <a:latin typeface="Segoe UI" pitchFamily="34" charset="0"/>
              </a:rPr>
              <a:t>4/4/2026 12:04 PM</a:t>
            </a:fld>
            <a:endParaRPr lang="en-US" dirty="0">
              <a:latin typeface="Segoe UI"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dirty="0">
                <a:gradFill>
                  <a:gsLst>
                    <a:gs pos="0">
                      <a:schemeClr val="tx1"/>
                    </a:gs>
                    <a:gs pos="100000">
                      <a:schemeClr val="tx1"/>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itchFamily="34" charset="0"/>
              </a:rPr>
              <a:t>‹#›</a:t>
            </a:fld>
            <a:endParaRPr lang="en-US" dirty="0">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endParaRPr lang="en-US" dirty="0"/>
          </a:p>
        </p:txBody>
      </p:sp>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vl1p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331C1C56-4AA7-46EE-A81E-B453CF54EE00}" type="datetime8">
              <a:rPr lang="en-US" smtClean="0"/>
              <a:t>4/4/2026 12:04 PM</a:t>
            </a:fld>
            <a:endParaRPr lang="en-US" dirty="0"/>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itchFamily="34" charset="0"/>
              </a:defRPr>
            </a:lvl1pPr>
          </a:lstStyle>
          <a:p>
            <a:fld id="{B4008EB6-D09E-4580-8CD6-DDB14511944F}" type="slidenum">
              <a:rPr lang="en-US" smtClean="0"/>
              <a:pPr/>
              <a:t>‹#›</a:t>
            </a:fld>
            <a:endParaRPr lang="en-US" dirty="0"/>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14367" rtl="0" eaLnBrk="1" latinLnBrk="0" hangingPunct="1">
      <a:lnSpc>
        <a:spcPct val="90000"/>
      </a:lnSpc>
      <a:spcAft>
        <a:spcPts val="333"/>
      </a:spcAft>
      <a:defRPr sz="882" kern="1200">
        <a:solidFill>
          <a:schemeClr val="tx1"/>
        </a:solidFill>
        <a:latin typeface="Segoe UI" panose="020B0502040204020203" pitchFamily="34" charset="0"/>
        <a:ea typeface="+mn-ea"/>
        <a:cs typeface="+mn-cs"/>
      </a:defRPr>
    </a:lvl1pPr>
    <a:lvl2pPr marL="212982" indent="-105829"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2pPr>
    <a:lvl3pPr marL="328071"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3pPr>
    <a:lvl4pPr marL="482848" indent="-146838"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4pPr>
    <a:lvl5pPr marL="615134"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5pPr>
    <a:lvl6pPr marL="2285918" algn="l" defTabSz="914367" rtl="0" eaLnBrk="1" latinLnBrk="0" hangingPunct="1">
      <a:defRPr sz="1176" kern="1200">
        <a:solidFill>
          <a:schemeClr val="tx1"/>
        </a:solidFill>
        <a:latin typeface="+mn-lt"/>
        <a:ea typeface="+mn-ea"/>
        <a:cs typeface="+mn-cs"/>
      </a:defRPr>
    </a:lvl6pPr>
    <a:lvl7pPr marL="2743101" algn="l" defTabSz="914367" rtl="0" eaLnBrk="1" latinLnBrk="0" hangingPunct="1">
      <a:defRPr sz="1176" kern="1200">
        <a:solidFill>
          <a:schemeClr val="tx1"/>
        </a:solidFill>
        <a:latin typeface="+mn-lt"/>
        <a:ea typeface="+mn-ea"/>
        <a:cs typeface="+mn-cs"/>
      </a:defRPr>
    </a:lvl7pPr>
    <a:lvl8pPr marL="3200284" algn="l" defTabSz="914367" rtl="0" eaLnBrk="1" latinLnBrk="0" hangingPunct="1">
      <a:defRPr sz="1176" kern="1200">
        <a:solidFill>
          <a:schemeClr val="tx1"/>
        </a:solidFill>
        <a:latin typeface="+mn-lt"/>
        <a:ea typeface="+mn-ea"/>
        <a:cs typeface="+mn-cs"/>
      </a:defRPr>
    </a:lvl8pPr>
    <a:lvl9pPr marL="3657469" algn="l" defTabSz="914367" rtl="0" eaLnBrk="1" latinLnBrk="0" hangingPunct="1">
      <a:defRPr sz="1176"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emf"/></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1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spc="-50" baseline="0">
                <a:solidFill>
                  <a:schemeClr val="bg1"/>
                </a:solidFill>
                <a:latin typeface="Yu Gothic UI" panose="020B0500000000000000" pitchFamily="50" charset="-128"/>
                <a:ea typeface="Yu Gothic UI" panose="020B0500000000000000" pitchFamily="50" charset="-128"/>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spc="0" baseline="0">
                <a:solidFill>
                  <a:schemeClr val="bg1"/>
                </a:solidFill>
                <a:latin typeface="Yu Gothic UI" panose="020B0500000000000000" pitchFamily="50" charset="-128"/>
                <a:ea typeface="Yu Gothic UI" panose="020B0500000000000000" pitchFamily="50" charset="-128"/>
                <a:cs typeface="Segoe UI" panose="020B0502040204020203" pitchFamily="34" charset="0"/>
              </a:defRPr>
            </a:lvl1pPr>
          </a:lstStyle>
          <a:p>
            <a:pPr lvl="0"/>
            <a:r>
              <a:rPr lang="en-US" dirty="0"/>
              <a:t>Speaker name or subtitle text</a:t>
            </a:r>
          </a:p>
        </p:txBody>
      </p:sp>
      <p:pic>
        <p:nvPicPr>
          <p:cNvPr id="4" name="MS logo white - EMF" descr="Microsoft logo white text version">
            <a:extLst>
              <a:ext uri="{FF2B5EF4-FFF2-40B4-BE49-F238E27FC236}">
                <a16:creationId xmlns:a16="http://schemas.microsoft.com/office/drawing/2014/main" id="{0BB37EE3-73AC-5546-F43B-FE5420C7D028}"/>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237513682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32" userDrawn="1">
          <p15:clr>
            <a:srgbClr val="5ACBF0"/>
          </p15:clr>
        </p15:guide>
        <p15:guide id="2" orient="horz" pos="2520" userDrawn="1">
          <p15:clr>
            <a:srgbClr val="5ACBF0"/>
          </p15:clr>
        </p15:guide>
        <p15:guide id="3" pos="6144">
          <p15:clr>
            <a:srgbClr val="5ACBF0"/>
          </p15:clr>
        </p15:guide>
        <p15:guide id="4" orient="horz" pos="216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タイトルとコンテンツ">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a:xfrm>
            <a:off x="584518" y="240086"/>
            <a:ext cx="11018520" cy="553998"/>
          </a:xfrm>
        </p:spPr>
        <p:txBody>
          <a:bodyPr anchor="ctr"/>
          <a:lstStyle>
            <a:lvl1pPr>
              <a:defRPr>
                <a:solidFill>
                  <a:schemeClr val="tx1"/>
                </a:solidFill>
                <a:latin typeface="Yu Gothic UI" panose="020B0500000000000000" pitchFamily="50" charset="-128"/>
                <a:ea typeface="Yu Gothic UI" panose="020B0500000000000000" pitchFamily="50" charset="-128"/>
              </a:defRPr>
            </a:lvl1pPr>
          </a:lstStyle>
          <a:p>
            <a:r>
              <a:rPr lang="en-US" altLang="ja-JP" dirty="0"/>
              <a:t>Click to edit Master title style</a:t>
            </a:r>
            <a:endParaRPr lang="en-US" dirty="0"/>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518" y="939983"/>
            <a:ext cx="11018838" cy="1612749"/>
          </a:xfrm>
        </p:spPr>
        <p:txBody>
          <a:bodyPr/>
          <a:lstStyle>
            <a:lvl1pPr>
              <a:buFont typeface="Arial" panose="020B0604020202020204" pitchFamily="34" charset="0"/>
              <a:buChar char="•"/>
              <a:defRPr>
                <a:solidFill>
                  <a:schemeClr val="tx1"/>
                </a:solidFill>
                <a:latin typeface="Yu Gothic UI" panose="020B0500000000000000" pitchFamily="50" charset="-128"/>
                <a:ea typeface="Yu Gothic UI" panose="020B0500000000000000" pitchFamily="50" charset="-128"/>
              </a:defRPr>
            </a:lvl1pPr>
            <a:lvl2pPr>
              <a:buFont typeface="Arial" panose="020B0604020202020204" pitchFamily="34" charset="0"/>
              <a:buChar char="•"/>
              <a:defRPr>
                <a:solidFill>
                  <a:schemeClr val="tx1"/>
                </a:solidFill>
                <a:latin typeface="Yu Gothic UI" panose="020B0500000000000000" pitchFamily="50" charset="-128"/>
                <a:ea typeface="Yu Gothic UI" panose="020B0500000000000000" pitchFamily="50" charset="-128"/>
              </a:defRPr>
            </a:lvl2pPr>
            <a:lvl3pPr>
              <a:buFont typeface="Arial" panose="020B0604020202020204" pitchFamily="34" charset="0"/>
              <a:buChar char="•"/>
              <a:defRPr>
                <a:solidFill>
                  <a:schemeClr val="tx1"/>
                </a:solidFill>
                <a:latin typeface="Yu Gothic UI" panose="020B0500000000000000" pitchFamily="50" charset="-128"/>
                <a:ea typeface="Yu Gothic UI" panose="020B0500000000000000" pitchFamily="50" charset="-128"/>
              </a:defRPr>
            </a:lvl3pPr>
            <a:lvl4pPr>
              <a:buFont typeface="Arial" panose="020B0604020202020204" pitchFamily="34" charset="0"/>
              <a:buChar char="•"/>
              <a:defRPr>
                <a:solidFill>
                  <a:schemeClr val="tx1"/>
                </a:solidFill>
                <a:latin typeface="Yu Gothic UI" panose="020B0500000000000000" pitchFamily="50" charset="-128"/>
                <a:ea typeface="Yu Gothic UI" panose="020B0500000000000000" pitchFamily="50" charset="-128"/>
              </a:defRPr>
            </a:lvl4pPr>
            <a:lvl5pPr>
              <a:buFont typeface="Arial" panose="020B0604020202020204" pitchFamily="34" charset="0"/>
              <a:buChar char="•"/>
              <a:defRPr>
                <a:solidFill>
                  <a:schemeClr val="tx1"/>
                </a:solidFill>
                <a:latin typeface="Yu Gothic UI" panose="020B0500000000000000" pitchFamily="50" charset="-128"/>
                <a:ea typeface="Yu Gothic UI" panose="020B0500000000000000" pitchFamily="50" charset="-128"/>
              </a:defRPr>
            </a:lvl5pPr>
          </a:lstStyle>
          <a:p>
            <a:pPr lvl="0"/>
            <a:r>
              <a:rPr lang="en-US" altLang="ja-JP" dirty="0"/>
              <a:t>Click to edit Master text styles</a:t>
            </a:r>
          </a:p>
          <a:p>
            <a:pPr lvl="1"/>
            <a:r>
              <a:rPr lang="en-US" altLang="ja-JP" dirty="0"/>
              <a:t>Second level</a:t>
            </a:r>
          </a:p>
          <a:p>
            <a:pPr lvl="2"/>
            <a:r>
              <a:rPr lang="en-US" altLang="ja-JP" dirty="0"/>
              <a:t>Third level</a:t>
            </a:r>
          </a:p>
          <a:p>
            <a:pPr lvl="3"/>
            <a:r>
              <a:rPr lang="en-US" altLang="ja-JP" dirty="0"/>
              <a:t>Fourth level</a:t>
            </a:r>
          </a:p>
          <a:p>
            <a:pPr lvl="4"/>
            <a:r>
              <a:rPr lang="en-US" altLang="ja-JP" dirty="0"/>
              <a:t>Fifth level</a:t>
            </a:r>
            <a:endParaRPr lang="en-US" dirty="0"/>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cxnSp>
        <p:nvCxnSpPr>
          <p:cNvPr id="5" name="Straight Connector 4">
            <a:extLst>
              <a:ext uri="{FF2B5EF4-FFF2-40B4-BE49-F238E27FC236}">
                <a16:creationId xmlns:a16="http://schemas.microsoft.com/office/drawing/2014/main" id="{B377CAB8-A073-AB6D-C504-22E1D1E3D82B}"/>
              </a:ext>
            </a:extLst>
          </p:cNvPr>
          <p:cNvCxnSpPr/>
          <p:nvPr userDrawn="1"/>
        </p:nvCxnSpPr>
        <p:spPr>
          <a:xfrm>
            <a:off x="584518" y="862796"/>
            <a:ext cx="11018520" cy="0"/>
          </a:xfrm>
          <a:prstGeom prst="line">
            <a:avLst/>
          </a:prstGeom>
          <a:ln>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2FD318CE-72EC-83B7-6937-85209655913B}"/>
              </a:ext>
            </a:extLst>
          </p:cNvPr>
          <p:cNvSpPr txBox="1"/>
          <p:nvPr userDrawn="1"/>
        </p:nvSpPr>
        <p:spPr>
          <a:xfrm>
            <a:off x="11603038" y="6464025"/>
            <a:ext cx="442822" cy="307777"/>
          </a:xfrm>
          <a:prstGeom prst="rect">
            <a:avLst/>
          </a:prstGeom>
          <a:noFill/>
        </p:spPr>
        <p:txBody>
          <a:bodyPr wrap="square" lIns="0" tIns="0" rIns="0" bIns="0" rtlCol="0">
            <a:spAutoFit/>
          </a:bodyPr>
          <a:lstStyle/>
          <a:p>
            <a:pPr algn="r"/>
            <a:fld id="{EC0794C1-EF0D-4FC1-8DED-114D42516E02}" type="slidenum">
              <a:rPr lang="en-US" sz="2000" smtClean="0"/>
              <a:pPr algn="r"/>
              <a:t>‹#›</a:t>
            </a:fld>
            <a:endParaRPr lang="en-US" sz="2000" dirty="0" err="1"/>
          </a:p>
        </p:txBody>
      </p:sp>
    </p:spTree>
    <p:extLst>
      <p:ext uri="{BB962C8B-B14F-4D97-AF65-F5344CB8AC3E}">
        <p14:creationId xmlns:p14="http://schemas.microsoft.com/office/powerpoint/2010/main" val="3224827369"/>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text side by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2309811"/>
            <a:ext cx="3182027" cy="553998"/>
          </a:xfrm>
        </p:spPr>
        <p:txBody>
          <a:bodyPr anchor="t"/>
          <a:lstStyle>
            <a:lvl1pPr>
              <a:defRPr>
                <a:solidFill>
                  <a:schemeClr val="tx2"/>
                </a:solidFill>
              </a:defRPr>
            </a:lvl1pPr>
          </a:lstStyle>
          <a:p>
            <a:r>
              <a:rPr lang="en-US" dirty="0"/>
              <a:t>Agenda</a:t>
            </a:r>
          </a:p>
        </p:txBody>
      </p:sp>
      <p:sp>
        <p:nvSpPr>
          <p:cNvPr id="7" name="Text Placeholder 2">
            <a:extLst>
              <a:ext uri="{FF2B5EF4-FFF2-40B4-BE49-F238E27FC236}">
                <a16:creationId xmlns:a16="http://schemas.microsoft.com/office/drawing/2014/main" id="{7E9DBFD9-3E1E-4F19-AF15-56780F9C7927}"/>
              </a:ext>
            </a:extLst>
          </p:cNvPr>
          <p:cNvSpPr>
            <a:spLocks noGrp="1"/>
          </p:cNvSpPr>
          <p:nvPr>
            <p:ph type="body" sz="quarter" idx="11"/>
          </p:nvPr>
        </p:nvSpPr>
        <p:spPr>
          <a:xfrm>
            <a:off x="4356100" y="2309812"/>
            <a:ext cx="7253288" cy="3959223"/>
          </a:xfrm>
        </p:spPr>
        <p:txBody>
          <a:bodyPr anchor="t"/>
          <a:lstStyle>
            <a:lvl1pPr marL="231775" indent="-231775">
              <a:spcAft>
                <a:spcPts val="600"/>
              </a:spcAft>
              <a:buFont typeface="Wingdings" panose="05000000000000000000" pitchFamily="2" charset="2"/>
              <a:buChar char=""/>
              <a:defRPr/>
            </a:lvl1pPr>
          </a:lstStyle>
          <a:p>
            <a:pPr lvl="0"/>
            <a:r>
              <a:rPr lang="en-US" altLang="ja-JP"/>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p:nvCxnSpPr>
        <p:spPr>
          <a:xfrm>
            <a:off x="585216" y="2019300"/>
            <a:ext cx="3182112"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9D8AF80-CAD5-4055-80AD-0B31EBCB52A9}"/>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p:nvCxnSpPr>
        <p:spPr>
          <a:xfrm>
            <a:off x="4354523" y="201930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97217360"/>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9144000" cy="553998"/>
          </a:xfrm>
          <a:noFill/>
        </p:spPr>
        <p:txBody>
          <a:bodyPr vert="horz" wrap="square" lIns="0" tIns="0" rIns="0" bIns="0" rtlCol="0" anchor="b" anchorCtr="0">
            <a:spAutoFit/>
          </a:bodyPr>
          <a:lstStyle>
            <a:lvl1pPr>
              <a:defRPr lang="en-US" sz="4000" b="0" dirty="0">
                <a:latin typeface="+mj-lt"/>
              </a:defRPr>
            </a:lvl1pPr>
          </a:lstStyle>
          <a:p>
            <a:pPr lvl="0">
              <a:lnSpc>
                <a:spcPct val="90000"/>
              </a:lnSpc>
            </a:pPr>
            <a:r>
              <a:rPr lang="en-US" dirty="0"/>
              <a:t>Section title</a:t>
            </a:r>
          </a:p>
        </p:txBody>
      </p:sp>
    </p:spTree>
    <p:extLst>
      <p:ext uri="{BB962C8B-B14F-4D97-AF65-F5344CB8AC3E}">
        <p14:creationId xmlns:p14="http://schemas.microsoft.com/office/powerpoint/2010/main" val="97555665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losing logo slide">
    <p:bg>
      <p:bgRef idx="1001">
        <a:schemeClr val="bg2"/>
      </p:bgRef>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dirty="0">
                <a:solidFill>
                  <a:schemeClr val="tx1"/>
                </a:solidFill>
                <a:cs typeface="Segoe UI" pitchFamily="34" charset="0"/>
              </a:rPr>
              <a:t>© Copyright Microsoft Corporation. All rights reserved. </a:t>
            </a:r>
          </a:p>
        </p:txBody>
      </p:sp>
      <p:pic>
        <p:nvPicPr>
          <p:cNvPr id="5" name="MS logo white - EMF" descr="Microsoft logo white text version">
            <a:extLst>
              <a:ext uri="{FF2B5EF4-FFF2-40B4-BE49-F238E27FC236}">
                <a16:creationId xmlns:a16="http://schemas.microsoft.com/office/drawing/2014/main" id="{70D3778F-A717-44C8-9013-FF206B15DD6D}"/>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3594519733"/>
      </p:ext>
    </p:extLst>
  </p:cSld>
  <p:clrMapOvr>
    <a:overrideClrMapping bg1="dk1" tx1="lt1" bg2="dk2" tx2="lt2" accent1="accent1" accent2="accent2" accent3="accent3" accent4="accent4" accent5="accent5" accent6="accent6" hlink="hlink" folHlink="folHlink"/>
  </p:clrMapOvr>
  <p:transition>
    <p:fade/>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 Id="rId7" Type="http://schemas.openxmlformats.org/officeDocument/2006/relationships/image" Target="../media/image1.sv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White">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ja-JP" altLang="en-US"/>
              <a:t>マスター タイトルの書式設定</a:t>
            </a:r>
            <a:endParaRPr lang="en-US" dirty="0"/>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144" name="Graphic 143">
            <a:extLst>
              <a:ext uri="{FF2B5EF4-FFF2-40B4-BE49-F238E27FC236}">
                <a16:creationId xmlns:a16="http://schemas.microsoft.com/office/drawing/2014/main" id="{55FCE7D5-5796-0746-3173-EB75FBE85E45}"/>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rot="5400000">
            <a:off x="9509919" y="2743200"/>
            <a:ext cx="6858000" cy="1371600"/>
          </a:xfrm>
          <a:prstGeom prst="rect">
            <a:avLst/>
          </a:prstGeom>
        </p:spPr>
      </p:pic>
    </p:spTree>
    <p:extLst>
      <p:ext uri="{BB962C8B-B14F-4D97-AF65-F5344CB8AC3E}">
        <p14:creationId xmlns:p14="http://schemas.microsoft.com/office/powerpoint/2010/main" val="3418689686"/>
      </p:ext>
    </p:extLst>
  </p:cSld>
  <p:clrMap bg1="lt1" tx1="dk1" bg2="lt2" tx2="dk2" accent1="accent1" accent2="accent2" accent3="accent3" accent4="accent4" accent5="accent5" accent6="accent6" hlink="hlink" folHlink="folHlink"/>
  <p:sldLayoutIdLst>
    <p:sldLayoutId id="2147485513" r:id="rId1"/>
    <p:sldLayoutId id="2147485452" r:id="rId2"/>
    <p:sldLayoutId id="2147485482" r:id="rId3"/>
    <p:sldLayoutId id="2147485491" r:id="rId4"/>
    <p:sldLayoutId id="2147485495" r:id="rId5"/>
  </p:sldLayoutIdLst>
  <p:transition>
    <p:fade/>
  </p:transition>
  <p:hf hdr="0" ftr="0" dt="0"/>
  <p:txStyles>
    <p:titleStyle>
      <a:lvl1pPr algn="l" defTabSz="932742" rtl="0" eaLnBrk="1" latinLnBrk="0" hangingPunct="1">
        <a:lnSpc>
          <a:spcPct val="100000"/>
        </a:lnSpc>
        <a:spcBef>
          <a:spcPct val="0"/>
        </a:spcBef>
        <a:buNone/>
        <a:defRPr kumimoji="1" lang="en-US" sz="3600" b="0" kern="1200" cap="none" spc="-50" baseline="0" dirty="0" smtClean="0">
          <a:ln w="3175">
            <a:noFill/>
          </a:ln>
          <a:solidFill>
            <a:schemeClr val="tx2"/>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en-US"/>
      </a:defPPr>
      <a:lvl1pPr marL="0" algn="l" defTabSz="932742" rtl="0" eaLnBrk="1" latinLnBrk="0" hangingPunct="1">
        <a:defRPr kumimoji="1" sz="1800" kern="1200">
          <a:solidFill>
            <a:schemeClr val="tx1"/>
          </a:solidFill>
          <a:latin typeface="+mn-lt"/>
          <a:ea typeface="+mn-ea"/>
          <a:cs typeface="+mn-cs"/>
        </a:defRPr>
      </a:lvl1pPr>
      <a:lvl2pPr marL="466371" algn="l" defTabSz="932742" rtl="0" eaLnBrk="1" latinLnBrk="0" hangingPunct="1">
        <a:defRPr kumimoji="1" sz="1800" kern="1200">
          <a:solidFill>
            <a:schemeClr val="tx1"/>
          </a:solidFill>
          <a:latin typeface="+mn-lt"/>
          <a:ea typeface="+mn-ea"/>
          <a:cs typeface="+mn-cs"/>
        </a:defRPr>
      </a:lvl2pPr>
      <a:lvl3pPr marL="932742" algn="l" defTabSz="932742" rtl="0" eaLnBrk="1" latinLnBrk="0" hangingPunct="1">
        <a:defRPr kumimoji="1" sz="1800" kern="1200">
          <a:solidFill>
            <a:schemeClr val="tx1"/>
          </a:solidFill>
          <a:latin typeface="+mn-lt"/>
          <a:ea typeface="+mn-ea"/>
          <a:cs typeface="+mn-cs"/>
        </a:defRPr>
      </a:lvl3pPr>
      <a:lvl4pPr marL="1399113" algn="l" defTabSz="932742" rtl="0" eaLnBrk="1" latinLnBrk="0" hangingPunct="1">
        <a:defRPr kumimoji="1" sz="1800" kern="1200">
          <a:solidFill>
            <a:schemeClr val="tx1"/>
          </a:solidFill>
          <a:latin typeface="+mn-lt"/>
          <a:ea typeface="+mn-ea"/>
          <a:cs typeface="+mn-cs"/>
        </a:defRPr>
      </a:lvl4pPr>
      <a:lvl5pPr marL="1865484" algn="l" defTabSz="932742" rtl="0" eaLnBrk="1" latinLnBrk="0" hangingPunct="1">
        <a:defRPr kumimoji="1" sz="1800" kern="1200">
          <a:solidFill>
            <a:schemeClr val="tx1"/>
          </a:solidFill>
          <a:latin typeface="+mn-lt"/>
          <a:ea typeface="+mn-ea"/>
          <a:cs typeface="+mn-cs"/>
        </a:defRPr>
      </a:lvl5pPr>
      <a:lvl6pPr marL="2331856" algn="l" defTabSz="932742" rtl="0" eaLnBrk="1" latinLnBrk="0" hangingPunct="1">
        <a:defRPr kumimoji="1" sz="1800" kern="1200">
          <a:solidFill>
            <a:schemeClr val="tx1"/>
          </a:solidFill>
          <a:latin typeface="+mn-lt"/>
          <a:ea typeface="+mn-ea"/>
          <a:cs typeface="+mn-cs"/>
        </a:defRPr>
      </a:lvl6pPr>
      <a:lvl7pPr marL="2798226" algn="l" defTabSz="932742" rtl="0" eaLnBrk="1" latinLnBrk="0" hangingPunct="1">
        <a:defRPr kumimoji="1" sz="1800" kern="1200">
          <a:solidFill>
            <a:schemeClr val="tx1"/>
          </a:solidFill>
          <a:latin typeface="+mn-lt"/>
          <a:ea typeface="+mn-ea"/>
          <a:cs typeface="+mn-cs"/>
        </a:defRPr>
      </a:lvl7pPr>
      <a:lvl8pPr marL="3264597" algn="l" defTabSz="932742" rtl="0" eaLnBrk="1" latinLnBrk="0" hangingPunct="1">
        <a:defRPr kumimoji="1" sz="1800" kern="1200">
          <a:solidFill>
            <a:schemeClr val="tx1"/>
          </a:solidFill>
          <a:latin typeface="+mn-lt"/>
          <a:ea typeface="+mn-ea"/>
          <a:cs typeface="+mn-cs"/>
        </a:defRPr>
      </a:lvl8pPr>
      <a:lvl9pPr marL="3730969" algn="l" defTabSz="932742"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0" userDrawn="1">
          <p15:clr>
            <a:srgbClr val="C35EA4"/>
          </p15:clr>
        </p15:guide>
        <p15:guide id="17" pos="7320" userDrawn="1">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92" userDrawn="1">
          <p15:clr>
            <a:srgbClr val="A4A3A4"/>
          </p15:clr>
        </p15:guide>
        <p15:guide id="29" orient="horz" pos="4135">
          <p15:clr>
            <a:srgbClr val="A4A3A4"/>
          </p15:clr>
        </p15:guide>
        <p15:guide id="30" pos="7488" userDrawn="1">
          <p15:clr>
            <a:srgbClr val="A4A3A4"/>
          </p15:clr>
        </p15:guide>
        <p15:guide id="31" orient="horz" pos="400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9772"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9535"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8183"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8016"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9695"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8662"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7527"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7395"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7922"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8027"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8247"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8246"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48497"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48525"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48543"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7094"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43279"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49077"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16070"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7929"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9677"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9552"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9526"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7902"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7892"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7912"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7917"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9322"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7862"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7887"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7877"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7882"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7927"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8276"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7394"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7406"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6085"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8086"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9767"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8879"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8836"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8846"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8851"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8865"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8870"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8121" TargetMode="Externa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8810" TargetMode="Externa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7141" TargetMode="Externa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8140" TargetMode="Externa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9504" TargetMode="Externa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8841" TargetMode="Externa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8884" TargetMode="Externa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8116" TargetMode="Externa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8927" TargetMode="Externa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8150" TargetMode="Externa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9660" TargetMode="Externa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8134" TargetMode="Externa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8145" TargetMode="Externa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37234" TargetMode="Externa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8155" TargetMode="Externa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8169" TargetMode="Externa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8178" TargetMode="Externa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8164" TargetMode="Externa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0519" TargetMode="Externa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8278" TargetMode="Externa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9406" TargetMode="Externa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8825" TargetMode="Externa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8656" TargetMode="Externa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8321" TargetMode="Externa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9273" TargetMode="Externa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8651" TargetMode="Externa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7123" TargetMode="Externa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492542"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600" b="1">
                <a:solidFill>
                  <a:srgbClr val="FFFFFF"/>
                </a:solidFill>
                <a:latin typeface="Yu Gothic UI"/>
                <a:ea typeface="Yu Gothic UI"/>
              </a:rPr>
              <a:t>Azure Updates まとめ</a:t>
            </a:r>
          </a:p>
        </p:txBody>
      </p:sp>
      <p:sp>
        <p:nvSpPr>
          <p:cNvPr id="3" name="Text Placeholder 2"/>
          <p:cNvSpPr>
            <a:spLocks noGrp="1"/>
          </p:cNvSpPr>
          <p:nvPr>
            <p:ph type="body" idx="12" sz="quarter"/>
          </p:nvPr>
        </p:nvSpPr>
        <p:spPr/>
        <p:txBody>
          <a:bodyPr/>
          <a:lstStyle/>
          <a:p>
            <a:r>
              <a:rPr sz="2000" b="0">
                <a:solidFill>
                  <a:srgbClr val="FFFFFF"/>
                </a:solidFill>
                <a:latin typeface="Yu Gothic UI"/>
                <a:ea typeface="Yu Gothic UI"/>
              </a:rPr>
              <a:t>2026/03/06 〜 2026/04/03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b="1">
                <a:solidFill>
                  <a:srgbClr val="0078D4"/>
                </a:solidFill>
                <a:latin typeface="Yu Gothic UI"/>
                <a:ea typeface="Yu Gothic UI"/>
              </a:rPr>
              <a:t>サマリー</a:t>
            </a:r>
          </a:p>
        </p:txBody>
      </p:sp>
      <p:sp>
        <p:nvSpPr>
          <p:cNvPr id="3" name="Content Placeholder 2"/>
          <p:cNvSpPr>
            <a:spLocks noGrp="1"/>
          </p:cNvSpPr>
          <p:nvPr>
            <p:ph idx="10" sz="quarter"/>
          </p:nvPr>
        </p:nvSpPr>
        <p:spPr>
          <a:xfrm>
            <a:off x="457200" y="939983"/>
            <a:ext cx="10561638" cy="5460817"/>
          </a:xfrm>
        </p:spPr>
        <p:txBody>
          <a:bodyPr lIns="365760" rIns="365760" tIns="91440" bIns="91440" wrap="square"/>
          <a:lstStyle/>
          <a:p>
            <a:r>
              <a:rPr sz="2200" b="1">
                <a:solidFill>
                  <a:srgbClr val="0078D4"/>
                </a:solidFill>
                <a:latin typeface="Yu Gothic UI"/>
                <a:ea typeface="Yu Gothic UI"/>
              </a:rPr>
              <a:t>ステータス別件数</a:t>
            </a:r>
          </a:p>
          <a:p>
            <a:pPr lvl="1">
              <a:spcBef>
                <a:spcPts val="200"/>
              </a:spcBef>
            </a:pPr>
            <a:r>
              <a:rPr sz="1800" b="0">
                <a:solidFill>
                  <a:srgbClr val="107C10"/>
                </a:solidFill>
                <a:latin typeface="Yu Gothic UI"/>
                <a:ea typeface="Yu Gothic UI"/>
              </a:rPr>
              <a:t>一般提供開始: 30件</a:t>
            </a:r>
          </a:p>
          <a:p>
            <a:pPr lvl="1">
              <a:spcBef>
                <a:spcPts val="200"/>
              </a:spcBef>
            </a:pPr>
            <a:r>
              <a:rPr sz="1800" b="0">
                <a:solidFill>
                  <a:srgbClr val="CA5010"/>
                </a:solidFill>
                <a:latin typeface="Yu Gothic UI"/>
                <a:ea typeface="Yu Gothic UI"/>
              </a:rPr>
              <a:t>パブリックプレビュー: 23件</a:t>
            </a:r>
          </a:p>
          <a:p>
            <a:pPr lvl="1">
              <a:spcBef>
                <a:spcPts val="200"/>
              </a:spcBef>
            </a:pPr>
            <a:r>
              <a:rPr sz="1800" b="0">
                <a:solidFill>
                  <a:srgbClr val="D13438"/>
                </a:solidFill>
                <a:latin typeface="Yu Gothic UI"/>
                <a:ea typeface="Yu Gothic UI"/>
              </a:rPr>
              <a:t>廃止予定: 20件</a:t>
            </a:r>
          </a:p>
          <a:p>
            <a:pPr>
              <a:spcBef>
                <a:spcPts val="1600"/>
              </a:spcBef>
            </a:pPr>
            <a:r>
              <a:rPr sz="2200" b="1">
                <a:solidFill>
                  <a:srgbClr val="0078D4"/>
                </a:solidFill>
                <a:latin typeface="Yu Gothic UI"/>
                <a:ea typeface="Yu Gothic UI"/>
              </a:rPr>
              <a:t>ソリューションカテゴリ別件数</a:t>
            </a:r>
          </a:p>
          <a:p>
            <a:pPr lvl="1">
              <a:spcBef>
                <a:spcPts val="200"/>
              </a:spcBef>
            </a:pPr>
            <a:r>
              <a:rPr sz="1800" b="0">
                <a:solidFill>
                  <a:srgbClr val="333333"/>
                </a:solidFill>
                <a:latin typeface="Yu Gothic UI"/>
                <a:ea typeface="Yu Gothic UI"/>
              </a:rPr>
              <a:t>セキュリティ: 7件</a:t>
            </a:r>
          </a:p>
          <a:p>
            <a:pPr lvl="1">
              <a:spcBef>
                <a:spcPts val="200"/>
              </a:spcBef>
            </a:pPr>
            <a:r>
              <a:rPr sz="1800" b="0">
                <a:solidFill>
                  <a:srgbClr val="333333"/>
                </a:solidFill>
                <a:latin typeface="Yu Gothic UI"/>
                <a:ea typeface="Yu Gothic UI"/>
              </a:rPr>
              <a:t>ネットワーク: 2件</a:t>
            </a:r>
          </a:p>
          <a:p>
            <a:pPr lvl="1">
              <a:spcBef>
                <a:spcPts val="200"/>
              </a:spcBef>
            </a:pPr>
            <a:r>
              <a:rPr sz="1800" b="0">
                <a:solidFill>
                  <a:srgbClr val="333333"/>
                </a:solidFill>
                <a:latin typeface="Yu Gothic UI"/>
                <a:ea typeface="Yu Gothic UI"/>
              </a:rPr>
              <a:t>コンピューティング: 24件</a:t>
            </a:r>
          </a:p>
          <a:p>
            <a:pPr lvl="1">
              <a:spcBef>
                <a:spcPts val="200"/>
              </a:spcBef>
            </a:pPr>
            <a:r>
              <a:rPr sz="1800" b="0">
                <a:solidFill>
                  <a:srgbClr val="333333"/>
                </a:solidFill>
                <a:latin typeface="Yu Gothic UI"/>
                <a:ea typeface="Yu Gothic UI"/>
              </a:rPr>
              <a:t>データ &amp; AI: 22件</a:t>
            </a:r>
          </a:p>
          <a:p>
            <a:pPr lvl="1">
              <a:spcBef>
                <a:spcPts val="200"/>
              </a:spcBef>
            </a:pPr>
            <a:r>
              <a:rPr sz="1800" b="0">
                <a:solidFill>
                  <a:srgbClr val="333333"/>
                </a:solidFill>
                <a:latin typeface="Yu Gothic UI"/>
                <a:ea typeface="Yu Gothic UI"/>
              </a:rPr>
              <a:t>DevOps &amp; 開発者ツール: 8件</a:t>
            </a:r>
          </a:p>
          <a:p>
            <a:pPr lvl="1">
              <a:spcBef>
                <a:spcPts val="200"/>
              </a:spcBef>
            </a:pPr>
            <a:r>
              <a:rPr sz="1800" b="0">
                <a:solidFill>
                  <a:srgbClr val="333333"/>
                </a:solidFill>
                <a:latin typeface="Yu Gothic UI"/>
                <a:ea typeface="Yu Gothic UI"/>
              </a:rPr>
              <a:t>管理 &amp; ガバナンス: 8件</a:t>
            </a:r>
          </a:p>
          <a:p>
            <a:pPr lvl="1">
              <a:spcBef>
                <a:spcPts val="200"/>
              </a:spcBef>
            </a:pPr>
            <a:r>
              <a:rPr sz="1800" b="0">
                <a:solidFill>
                  <a:srgbClr val="333333"/>
                </a:solidFill>
                <a:latin typeface="Yu Gothic UI"/>
                <a:ea typeface="Yu Gothic UI"/>
              </a:rPr>
              <a:t>IoT: 2件</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600" b="1">
                <a:solidFill>
                  <a:srgbClr val="FFFFFF"/>
                </a:solidFill>
                <a:latin typeface="Yu Gothic UI"/>
                <a:ea typeface="Yu Gothic UI"/>
              </a:rPr>
              <a:t>セキュリティ（7件）</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一般提供開始: Azure Data Box が自動セキュア消去証明書でコンプライアンスを強化</a:t>
            </a:r>
          </a:p>
        </p:txBody>
      </p:sp>
      <p:sp>
        <p:nvSpPr>
          <p:cNvPr id="3" name="Content Placeholder 2"/>
          <p:cNvSpPr>
            <a:spLocks noGrp="1"/>
          </p:cNvSpPr>
          <p:nvPr>
            <p:ph idx="10" sz="quarter"/>
          </p:nvPr>
        </p:nvSpPr>
        <p:spPr>
          <a:xfrm>
            <a:off x="457200" y="939983"/>
            <a:ext cx="10561638" cy="5460817"/>
          </a:xfrm>
        </p:spPr>
        <p:txBody>
          <a:bodyPr lIns="365760" rIns="365760" tIns="91440" bIns="91440" wrap="square"/>
          <a:lstStyle/>
          <a:p>
            <a:pPr>
              <a:spcAft>
                <a:spcPts val="800"/>
              </a:spcAft>
            </a:pPr>
            <a:r>
              <a:rPr sz="1600" b="1">
                <a:solidFill>
                  <a:srgbClr val="107C10"/>
                </a:solidFill>
                <a:latin typeface="Yu Gothic UI"/>
                <a:ea typeface="Yu Gothic UI"/>
              </a:rPr>
              <a:t>【一般提供開始】</a:t>
            </a:r>
            <a:r>
              <a:rPr sz="1600" b="1">
                <a:solidFill>
                  <a:srgbClr val="333333"/>
                </a:solidFill>
                <a:latin typeface="Yu Gothic UI"/>
                <a:ea typeface="Yu Gothic UI"/>
              </a:rPr>
              <a:t>  重要度: 中</a:t>
            </a:r>
          </a:p>
          <a:p>
            <a:pPr lvl="1">
              <a:spcBef>
                <a:spcPts val="300"/>
              </a:spcBef>
            </a:pPr>
            <a:r>
              <a:rPr sz="1400" b="0">
                <a:solidFill>
                  <a:srgbClr val="333333"/>
                </a:solidFill>
                <a:latin typeface="Yu Gothic UI"/>
                <a:ea typeface="Yu Gothic UI"/>
              </a:rPr>
              <a:t>Azure Data Box は、完了したすべての注文に対してダウンロード可能なセキュア消去証明書を自動生成するようになりました</a:t>
            </a:r>
          </a:p>
          <a:p>
            <a:pPr lvl="1">
              <a:spcBef>
                <a:spcPts val="300"/>
              </a:spcBef>
            </a:pPr>
            <a:r>
              <a:rPr sz="1400" b="0">
                <a:solidFill>
                  <a:srgbClr val="333333"/>
                </a:solidFill>
                <a:latin typeface="Yu Gothic UI"/>
                <a:ea typeface="Yu Gothic UI"/>
              </a:rPr>
              <a:t>デバイス上のすべてのデータが NIST 800-88 Revision 2 基準に従って安全に消去されたことを検証できます</a:t>
            </a:r>
          </a:p>
          <a:p>
            <a:pPr lvl="1">
              <a:spcBef>
                <a:spcPts val="300"/>
              </a:spcBef>
            </a:pPr>
            <a:r>
              <a:rPr sz="1400" b="0">
                <a:solidFill>
                  <a:srgbClr val="333333"/>
                </a:solidFill>
                <a:latin typeface="Yu Gothic UI"/>
                <a:ea typeface="Yu Gothic UI"/>
              </a:rPr>
              <a:t>証明書は標準のクリーンアッププロセスの一環として作成され、Azure ポータルから直接アクセス可能です</a:t>
            </a:r>
          </a:p>
          <a:p>
            <a:pPr lvl="1">
              <a:spcBef>
                <a:spcPts val="300"/>
              </a:spcBef>
            </a:pPr>
            <a:r>
              <a:rPr sz="1400" b="0">
                <a:solidFill>
                  <a:srgbClr val="333333"/>
                </a:solidFill>
                <a:latin typeface="Yu Gothic UI"/>
                <a:ea typeface="Yu Gothic UI"/>
              </a:rPr>
              <a:t>この機能強化により、監査の複雑さが軽減され、手動検証が不要になり、機密データを扱う組織（政府、法執行機関、金融サービス等）のコンプライアンスが簡素化されます</a:t>
            </a:r>
          </a:p>
          <a:p>
            <a:pPr>
              <a:spcBef>
                <a:spcPts val="1400"/>
              </a:spcBef>
            </a:pPr>
            <a:r>
              <a:rPr sz="1300" b="1">
                <a:solidFill>
                  <a:srgbClr val="666666"/>
                </a:solidFill>
                <a:latin typeface="Yu Gothic UI"/>
                <a:ea typeface="Yu Gothic UI"/>
              </a:rPr>
              <a:t>対象製品: Azure Data Box</a:t>
            </a:r>
          </a:p>
          <a:p>
            <a:pPr>
              <a:spcBef>
                <a:spcPts val="200"/>
              </a:spcBef>
            </a:pPr>
            <a:r>
              <a:rPr sz="1300" b="0">
                <a:solidFill>
                  <a:srgbClr val="666666"/>
                </a:solidFill>
                <a:latin typeface="Yu Gothic UI"/>
                <a:ea typeface="Yu Gothic UI"/>
              </a:rPr>
              <a:t>作成日: 2026/04/01</a:t>
            </a:r>
          </a:p>
          <a:p>
            <a:pPr>
              <a:spcBef>
                <a:spcPts val="200"/>
              </a:spcBef>
            </a:pPr>
            <a:r>
              <a:rPr sz="1300" b="0">
                <a:solidFill>
                  <a:srgbClr val="666666"/>
                </a:solidFill>
                <a:latin typeface="Yu Gothic UI"/>
                <a:ea typeface="Yu Gothic UI"/>
              </a:rPr>
              <a:t>可用性: General Availability 2026/March</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https://azure.microsoft.com/updates/?id=559772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一般提供開始: Azure Tables、Azure Files、Azure Queues のユーザー委任 SAS</a:t>
            </a:r>
          </a:p>
        </p:txBody>
      </p:sp>
      <p:sp>
        <p:nvSpPr>
          <p:cNvPr id="3" name="Content Placeholder 2"/>
          <p:cNvSpPr>
            <a:spLocks noGrp="1"/>
          </p:cNvSpPr>
          <p:nvPr>
            <p:ph idx="10" sz="quarter"/>
          </p:nvPr>
        </p:nvSpPr>
        <p:spPr>
          <a:xfrm>
            <a:off x="457200" y="939983"/>
            <a:ext cx="10561638" cy="5460817"/>
          </a:xfrm>
        </p:spPr>
        <p:txBody>
          <a:bodyPr lIns="365760" rIns="365760" tIns="91440" bIns="91440" wrap="square"/>
          <a:lstStyle/>
          <a:p>
            <a:pPr>
              <a:spcAft>
                <a:spcPts val="800"/>
              </a:spcAft>
            </a:pPr>
            <a:r>
              <a:rPr sz="1600" b="1">
                <a:solidFill>
                  <a:srgbClr val="107C10"/>
                </a:solidFill>
                <a:latin typeface="Yu Gothic UI"/>
                <a:ea typeface="Yu Gothic UI"/>
              </a:rPr>
              <a:t>【一般提供開始】</a:t>
            </a:r>
            <a:r>
              <a:rPr sz="1600" b="1">
                <a:solidFill>
                  <a:srgbClr val="333333"/>
                </a:solidFill>
                <a:latin typeface="Yu Gothic UI"/>
                <a:ea typeface="Yu Gothic UI"/>
              </a:rPr>
              <a:t>  重要度: 中</a:t>
            </a:r>
          </a:p>
          <a:p>
            <a:pPr lvl="1">
              <a:spcBef>
                <a:spcPts val="300"/>
              </a:spcBef>
            </a:pPr>
            <a:r>
              <a:rPr sz="1400" b="0">
                <a:solidFill>
                  <a:srgbClr val="333333"/>
                </a:solidFill>
                <a:latin typeface="Yu Gothic UI"/>
                <a:ea typeface="Yu Gothic UI"/>
              </a:rPr>
              <a:t>Azure Tables、Azure Files、Azure Queues のユーザー委任 SAS が一般提供開始されました</a:t>
            </a:r>
          </a:p>
          <a:p>
            <a:pPr lvl="1">
              <a:spcBef>
                <a:spcPts val="300"/>
              </a:spcBef>
            </a:pPr>
            <a:r>
              <a:rPr sz="1400" b="0">
                <a:solidFill>
                  <a:srgbClr val="333333"/>
                </a:solidFill>
                <a:latin typeface="Yu Gothic UI"/>
                <a:ea typeface="Yu Gothic UI"/>
              </a:rPr>
              <a:t>ユーザー委任 SAS は、SAS トークンを委任者に紐付けることで、アカウント SAS やサービス SAS より安全な SAS トークンを作成できます</a:t>
            </a:r>
          </a:p>
          <a:p>
            <a:pPr lvl="1">
              <a:spcBef>
                <a:spcPts val="300"/>
              </a:spcBef>
            </a:pPr>
            <a:r>
              <a:rPr sz="1400" b="0">
                <a:solidFill>
                  <a:srgbClr val="333333"/>
                </a:solidFill>
                <a:latin typeface="Yu Gothic UI"/>
                <a:ea typeface="Yu Gothic UI"/>
              </a:rPr>
              <a:t>テーブル、テーブルエンティティ、キュー、キューエンティティ、ファイルコンテナー、個別ファイルレベルで SAS トークンを設定可能です</a:t>
            </a:r>
          </a:p>
          <a:p>
            <a:pPr lvl="1">
              <a:spcBef>
                <a:spcPts val="300"/>
              </a:spcBef>
            </a:pPr>
            <a:r>
              <a:rPr sz="1400" b="0">
                <a:solidFill>
                  <a:srgbClr val="333333"/>
                </a:solidFill>
                <a:latin typeface="Yu Gothic UI"/>
                <a:ea typeface="Yu Gothic UI"/>
              </a:rPr>
              <a:t>上位レベルで設定された SAS トークンは配下のすべてのエンティティへのアクセスを提供し、基底レベルの SAS トークンはその個別エンティティのみへのアクセスを提供します</a:t>
            </a:r>
          </a:p>
          <a:p>
            <a:pPr lvl="1">
              <a:spcBef>
                <a:spcPts val="300"/>
              </a:spcBef>
            </a:pPr>
            <a:r>
              <a:rPr sz="1400" b="0">
                <a:solidFill>
                  <a:srgbClr val="333333"/>
                </a:solidFill>
                <a:latin typeface="Yu Gothic UI"/>
                <a:ea typeface="Yu Gothic UI"/>
              </a:rPr>
              <a:t>追加コストはありません</a:t>
            </a:r>
          </a:p>
          <a:p>
            <a:pPr>
              <a:spcBef>
                <a:spcPts val="1400"/>
              </a:spcBef>
            </a:pPr>
            <a:r>
              <a:rPr sz="1300" b="1">
                <a:solidFill>
                  <a:srgbClr val="666666"/>
                </a:solidFill>
                <a:latin typeface="Yu Gothic UI"/>
                <a:ea typeface="Yu Gothic UI"/>
              </a:rPr>
              <a:t>対象製品: Azure Files, Queue Storage, Table Storage</a:t>
            </a:r>
          </a:p>
          <a:p>
            <a:pPr>
              <a:spcBef>
                <a:spcPts val="200"/>
              </a:spcBef>
            </a:pPr>
            <a:r>
              <a:rPr sz="1300" b="0">
                <a:solidFill>
                  <a:srgbClr val="666666"/>
                </a:solidFill>
                <a:latin typeface="Yu Gothic UI"/>
                <a:ea typeface="Yu Gothic UI"/>
              </a:rPr>
              <a:t>作成日: 2026/03/31</a:t>
            </a:r>
          </a:p>
          <a:p>
            <a:pPr>
              <a:spcBef>
                <a:spcPts val="200"/>
              </a:spcBef>
            </a:pPr>
            <a:r>
              <a:rPr sz="1300" b="0">
                <a:solidFill>
                  <a:srgbClr val="666666"/>
                </a:solidFill>
                <a:latin typeface="Yu Gothic UI"/>
                <a:ea typeface="Yu Gothic UI"/>
              </a:rPr>
              <a:t>可用性: General Availability 2026/March</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https://azure.microsoft.com/updates/?id=559535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一般提供開始: Azure SQL Database の透過的データ暗号化におけるバージョンレスキーのサポート</a:t>
            </a:r>
          </a:p>
        </p:txBody>
      </p:sp>
      <p:sp>
        <p:nvSpPr>
          <p:cNvPr id="3" name="Content Placeholder 2"/>
          <p:cNvSpPr>
            <a:spLocks noGrp="1"/>
          </p:cNvSpPr>
          <p:nvPr>
            <p:ph idx="10" sz="quarter"/>
          </p:nvPr>
        </p:nvSpPr>
        <p:spPr>
          <a:xfrm>
            <a:off x="457200" y="939983"/>
            <a:ext cx="10561638" cy="5460817"/>
          </a:xfrm>
        </p:spPr>
        <p:txBody>
          <a:bodyPr lIns="365760" rIns="365760" tIns="91440" bIns="91440" wrap="square"/>
          <a:lstStyle/>
          <a:p>
            <a:pPr>
              <a:spcAft>
                <a:spcPts val="800"/>
              </a:spcAft>
            </a:pPr>
            <a:r>
              <a:rPr sz="1600" b="1">
                <a:solidFill>
                  <a:srgbClr val="107C10"/>
                </a:solidFill>
                <a:latin typeface="Yu Gothic UI"/>
                <a:ea typeface="Yu Gothic UI"/>
              </a:rPr>
              <a:t>【一般提供開始】</a:t>
            </a:r>
            <a:r>
              <a:rPr sz="1600" b="1">
                <a:solidFill>
                  <a:srgbClr val="333333"/>
                </a:solidFill>
                <a:latin typeface="Yu Gothic UI"/>
                <a:ea typeface="Yu Gothic UI"/>
              </a:rPr>
              <a:t>  重要度: 中</a:t>
            </a:r>
          </a:p>
          <a:p>
            <a:pPr lvl="1">
              <a:spcBef>
                <a:spcPts val="300"/>
              </a:spcBef>
            </a:pPr>
            <a:r>
              <a:rPr sz="1400" b="0">
                <a:solidFill>
                  <a:srgbClr val="333333"/>
                </a:solidFill>
                <a:latin typeface="Yu Gothic UI"/>
                <a:ea typeface="Yu Gothic UI"/>
              </a:rPr>
              <a:t>Azure SQL Database で透過的データ暗号化 (TDE) にバージョンレスキーが一般提供開始</a:t>
            </a:r>
          </a:p>
          <a:p>
            <a:pPr lvl="1">
              <a:spcBef>
                <a:spcPts val="300"/>
              </a:spcBef>
            </a:pPr>
            <a:r>
              <a:rPr sz="1400" b="0">
                <a:solidFill>
                  <a:srgbClr val="333333"/>
                </a:solidFill>
                <a:latin typeface="Yu Gothic UI"/>
                <a:ea typeface="Yu Gothic UI"/>
              </a:rPr>
              <a:t>顧客管理キーで TDE を構成する際、Azure Key Vault や Managed HSM の特定キーバージョンを参照する必要がなくなり、バージョンレスキー URI を指定するだけで Azure SQL が自動的に最新バージョンを使用</a:t>
            </a:r>
          </a:p>
          <a:p>
            <a:pPr lvl="1">
              <a:spcBef>
                <a:spcPts val="300"/>
              </a:spcBef>
            </a:pPr>
            <a:r>
              <a:rPr sz="1400" b="0">
                <a:solidFill>
                  <a:srgbClr val="333333"/>
                </a:solidFill>
                <a:latin typeface="Yu Gothic UI"/>
                <a:ea typeface="Yu Gothic UI"/>
              </a:rPr>
              <a:t>運用オーバーヘッドと構成ミスのリスクを軽減</a:t>
            </a:r>
          </a:p>
          <a:p>
            <a:pPr>
              <a:spcBef>
                <a:spcPts val="1400"/>
              </a:spcBef>
            </a:pPr>
            <a:r>
              <a:rPr sz="1300" b="1">
                <a:solidFill>
                  <a:srgbClr val="666666"/>
                </a:solidFill>
                <a:latin typeface="Yu Gothic UI"/>
                <a:ea typeface="Yu Gothic UI"/>
              </a:rPr>
              <a:t>対象製品: Azure SQL Database</a:t>
            </a:r>
          </a:p>
          <a:p>
            <a:pPr>
              <a:spcBef>
                <a:spcPts val="200"/>
              </a:spcBef>
            </a:pPr>
            <a:r>
              <a:rPr sz="1300" b="0">
                <a:solidFill>
                  <a:srgbClr val="666666"/>
                </a:solidFill>
                <a:latin typeface="Yu Gothic UI"/>
                <a:ea typeface="Yu Gothic UI"/>
              </a:rPr>
              <a:t>作成日: 2026/03/18</a:t>
            </a:r>
          </a:p>
          <a:p>
            <a:pPr>
              <a:spcBef>
                <a:spcPts val="200"/>
              </a:spcBef>
            </a:pPr>
            <a:r>
              <a:rPr sz="1300" b="0">
                <a:solidFill>
                  <a:srgbClr val="666666"/>
                </a:solidFill>
                <a:latin typeface="Yu Gothic UI"/>
                <a:ea typeface="Yu Gothic UI"/>
              </a:rPr>
              <a:t>可用性: General Availability 2026/March</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https://azure.microsoft.com/updates/?id=558183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一般提供開始: Default Rule Set 2.2 とルールセットサポートポリシーの更新</a:t>
            </a:r>
          </a:p>
        </p:txBody>
      </p:sp>
      <p:sp>
        <p:nvSpPr>
          <p:cNvPr id="3" name="Content Placeholder 2"/>
          <p:cNvSpPr>
            <a:spLocks noGrp="1"/>
          </p:cNvSpPr>
          <p:nvPr>
            <p:ph idx="10" sz="quarter"/>
          </p:nvPr>
        </p:nvSpPr>
        <p:spPr>
          <a:xfrm>
            <a:off x="457200" y="939983"/>
            <a:ext cx="10561638" cy="5460817"/>
          </a:xfrm>
        </p:spPr>
        <p:txBody>
          <a:bodyPr lIns="365760" rIns="365760" tIns="91440" bIns="91440" wrap="square"/>
          <a:lstStyle/>
          <a:p>
            <a:pPr>
              <a:spcAft>
                <a:spcPts val="800"/>
              </a:spcAft>
            </a:pPr>
            <a:r>
              <a:rPr sz="1600" b="1">
                <a:solidFill>
                  <a:srgbClr val="107C10"/>
                </a:solidFill>
                <a:latin typeface="Yu Gothic UI"/>
                <a:ea typeface="Yu Gothic UI"/>
              </a:rPr>
              <a:t>【一般提供開始】</a:t>
            </a:r>
            <a:r>
              <a:rPr sz="1600" b="1">
                <a:solidFill>
                  <a:srgbClr val="333333"/>
                </a:solidFill>
                <a:latin typeface="Yu Gothic UI"/>
                <a:ea typeface="Yu Gothic UI"/>
              </a:rPr>
              <a:t>  重要度: 中</a:t>
            </a:r>
          </a:p>
          <a:p>
            <a:pPr lvl="1">
              <a:spcBef>
                <a:spcPts val="300"/>
              </a:spcBef>
            </a:pPr>
            <a:r>
              <a:rPr sz="1400" b="0">
                <a:solidFill>
                  <a:srgbClr val="333333"/>
                </a:solidFill>
                <a:latin typeface="Yu Gothic UI"/>
                <a:ea typeface="Yu Gothic UI"/>
              </a:rPr>
              <a:t>Azure Web Application Firewall (WAF) の Default Rule Set (DRS) 2.2 が Azure Application Gateway と Azure Front Door で一般提供開始</a:t>
            </a:r>
          </a:p>
          <a:p>
            <a:pPr lvl="1">
              <a:spcBef>
                <a:spcPts val="300"/>
              </a:spcBef>
            </a:pPr>
            <a:r>
              <a:rPr sz="1400" b="0">
                <a:solidFill>
                  <a:srgbClr val="333333"/>
                </a:solidFill>
                <a:latin typeface="Yu Gothic UI"/>
                <a:ea typeface="Yu Gothic UI"/>
              </a:rPr>
              <a:t>マネージドルールセットのサポートポリシーが更新され、最新3バージョン (N, N-1, N-2) がサポートされる</a:t>
            </a:r>
          </a:p>
          <a:p>
            <a:pPr lvl="1">
              <a:spcBef>
                <a:spcPts val="300"/>
              </a:spcBef>
            </a:pPr>
            <a:r>
              <a:rPr sz="1400" b="0">
                <a:solidFill>
                  <a:srgbClr val="333333"/>
                </a:solidFill>
                <a:latin typeface="Yu Gothic UI"/>
                <a:ea typeface="Yu Gothic UI"/>
              </a:rPr>
              <a:t>DRS 2.2 のリリースに伴い、Application Gateway の CRS 3.1/3.0 および Front Door の DRS 1.2/1.1/1.0 は2027年2月26日までの最終サポート期間に入る</a:t>
            </a:r>
          </a:p>
          <a:p>
            <a:pPr lvl="1">
              <a:spcBef>
                <a:spcPts val="300"/>
              </a:spcBef>
            </a:pPr>
            <a:r>
              <a:rPr sz="1400" b="0">
                <a:solidFill>
                  <a:srgbClr val="333333"/>
                </a:solidFill>
                <a:latin typeface="Yu Gothic UI"/>
                <a:ea typeface="Yu Gothic UI"/>
              </a:rPr>
              <a:t>サポート対象ルールセットへのアップグレードを推奨</a:t>
            </a:r>
          </a:p>
          <a:p>
            <a:pPr>
              <a:spcBef>
                <a:spcPts val="1400"/>
              </a:spcBef>
            </a:pPr>
            <a:r>
              <a:rPr sz="1300" b="1">
                <a:solidFill>
                  <a:srgbClr val="666666"/>
                </a:solidFill>
                <a:latin typeface="Yu Gothic UI"/>
                <a:ea typeface="Yu Gothic UI"/>
              </a:rPr>
              <a:t>対象製品: Application Gateway, Azure Front Door, Web Application Firewall</a:t>
            </a:r>
          </a:p>
          <a:p>
            <a:pPr>
              <a:spcBef>
                <a:spcPts val="200"/>
              </a:spcBef>
            </a:pPr>
            <a:r>
              <a:rPr sz="1300" b="0">
                <a:solidFill>
                  <a:srgbClr val="666666"/>
                </a:solidFill>
                <a:latin typeface="Yu Gothic UI"/>
                <a:ea typeface="Yu Gothic UI"/>
              </a:rPr>
              <a:t>作成日: 2026/03/17</a:t>
            </a:r>
          </a:p>
          <a:p>
            <a:pPr>
              <a:spcBef>
                <a:spcPts val="200"/>
              </a:spcBef>
            </a:pPr>
            <a:r>
              <a:rPr sz="1300" b="0">
                <a:solidFill>
                  <a:srgbClr val="666666"/>
                </a:solidFill>
                <a:latin typeface="Yu Gothic UI"/>
                <a:ea typeface="Yu Gothic UI"/>
              </a:rPr>
              <a:t>可用性: General Availability 2026/March</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https://azure.microsoft.com/updates/?id=558016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000" b="1">
                <a:solidFill>
                  <a:srgbClr val="0078D4"/>
                </a:solidFill>
                <a:latin typeface="Yu Gothic UI"/>
                <a:ea typeface="Yu Gothic UI"/>
              </a:rPr>
              <a:t>パブリックプレビュー: Azure Event Grid がよりスマートで安全なイベント駆動型アーキテクチャ向けの新機能を提供</a:t>
            </a:r>
          </a:p>
        </p:txBody>
      </p:sp>
      <p:sp>
        <p:nvSpPr>
          <p:cNvPr id="3" name="Content Placeholder 2"/>
          <p:cNvSpPr>
            <a:spLocks noGrp="1"/>
          </p:cNvSpPr>
          <p:nvPr>
            <p:ph idx="10" sz="quarter"/>
          </p:nvPr>
        </p:nvSpPr>
        <p:spPr>
          <a:xfrm>
            <a:off x="457200" y="939983"/>
            <a:ext cx="10561638" cy="5460817"/>
          </a:xfrm>
        </p:spPr>
        <p:txBody>
          <a:bodyPr lIns="365760" rIns="365760" tIns="91440" bIns="91440" wrap="square"/>
          <a:lstStyle/>
          <a:p>
            <a:pPr>
              <a:spcAft>
                <a:spcPts val="800"/>
              </a:spcAft>
            </a:pPr>
            <a:r>
              <a:rPr sz="1600" b="1">
                <a:solidFill>
                  <a:srgbClr val="CA5010"/>
                </a:solidFill>
                <a:latin typeface="Yu Gothic UI"/>
                <a:ea typeface="Yu Gothic UI"/>
              </a:rPr>
              <a:t>【パブリックプレビュー】</a:t>
            </a:r>
            <a:r>
              <a:rPr sz="1600" b="1">
                <a:solidFill>
                  <a:srgbClr val="333333"/>
                </a:solidFill>
                <a:latin typeface="Yu Gothic UI"/>
                <a:ea typeface="Yu Gothic UI"/>
              </a:rPr>
              <a:t>  重要度: 低</a:t>
            </a:r>
          </a:p>
          <a:p>
            <a:pPr lvl="1">
              <a:spcBef>
                <a:spcPts val="300"/>
              </a:spcBef>
            </a:pPr>
            <a:r>
              <a:rPr sz="1400" b="0">
                <a:solidFill>
                  <a:srgbClr val="333333"/>
                </a:solidFill>
                <a:latin typeface="Yu Gothic UI"/>
                <a:ea typeface="Yu Gothic UI"/>
              </a:rPr>
              <a:t>Azure Event Grid がパブリックプレビューとして、大規模分散システムの管理を改善する新機能を提供します</a:t>
            </a:r>
          </a:p>
          <a:p>
            <a:pPr lvl="1">
              <a:spcBef>
                <a:spcPts val="300"/>
              </a:spcBef>
            </a:pPr>
            <a:r>
              <a:rPr sz="1400" b="0">
                <a:solidFill>
                  <a:srgbClr val="333333"/>
                </a:solidFill>
                <a:latin typeface="Yu Gothic UI"/>
                <a:ea typeface="Yu Gothic UI"/>
              </a:rPr>
              <a:t>クロステナント Webhook 配信（マネージド ID を使用した安全なクロステナント配信）、ネットワーク セキュリティ境界（受信/送信通信ルールによるアクセス境界定義）、Webhook 用マネージド ID（Event Grid と Web…</a:t>
            </a:r>
          </a:p>
          <a:p>
            <a:pPr>
              <a:spcBef>
                <a:spcPts val="200"/>
              </a:spcBef>
            </a:pPr>
            <a:r>
              <a:rPr sz="1300" b="0">
                <a:solidFill>
                  <a:srgbClr val="666666"/>
                </a:solidFill>
                <a:latin typeface="Yu Gothic UI"/>
                <a:ea typeface="Yu Gothic UI"/>
              </a:rPr>
              <a:t>作成日: 2026/03/31</a:t>
            </a:r>
          </a:p>
          <a:p>
            <a:pPr>
              <a:spcBef>
                <a:spcPts val="200"/>
              </a:spcBef>
            </a:pPr>
            <a:r>
              <a:rPr sz="1300" b="0">
                <a:solidFill>
                  <a:srgbClr val="666666"/>
                </a:solidFill>
                <a:latin typeface="Yu Gothic UI"/>
                <a:ea typeface="Yu Gothic UI"/>
              </a:rPr>
              <a:t>可用性: Preview 2025/May</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https://azure.microsoft.com/updates/?id=559695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パブリックプレビュー: Azure Blob Storage SFTP の Entra ID ベースアクセス</a:t>
            </a:r>
          </a:p>
        </p:txBody>
      </p:sp>
      <p:sp>
        <p:nvSpPr>
          <p:cNvPr id="3" name="Content Placeholder 2"/>
          <p:cNvSpPr>
            <a:spLocks noGrp="1"/>
          </p:cNvSpPr>
          <p:nvPr>
            <p:ph idx="10" sz="quarter"/>
          </p:nvPr>
        </p:nvSpPr>
        <p:spPr>
          <a:xfrm>
            <a:off x="457200" y="939983"/>
            <a:ext cx="10561638" cy="5460817"/>
          </a:xfrm>
        </p:spPr>
        <p:txBody>
          <a:bodyPr lIns="365760" rIns="365760" tIns="91440" bIns="91440" wrap="square"/>
          <a:lstStyle/>
          <a:p>
            <a:pPr>
              <a:spcAft>
                <a:spcPts val="800"/>
              </a:spcAft>
            </a:pPr>
            <a:r>
              <a:rPr sz="1600" b="1">
                <a:solidFill>
                  <a:srgbClr val="CA5010"/>
                </a:solidFill>
                <a:latin typeface="Yu Gothic UI"/>
                <a:ea typeface="Yu Gothic UI"/>
              </a:rPr>
              <a:t>【パブリックプレビュー】</a:t>
            </a:r>
            <a:r>
              <a:rPr sz="1600" b="1">
                <a:solidFill>
                  <a:srgbClr val="333333"/>
                </a:solidFill>
                <a:latin typeface="Yu Gothic UI"/>
                <a:ea typeface="Yu Gothic UI"/>
              </a:rPr>
              <a:t>  重要度: 低</a:t>
            </a:r>
          </a:p>
          <a:p>
            <a:pPr lvl="1">
              <a:spcBef>
                <a:spcPts val="300"/>
              </a:spcBef>
            </a:pPr>
            <a:r>
              <a:rPr sz="1400" b="0">
                <a:solidFill>
                  <a:srgbClr val="333333"/>
                </a:solidFill>
                <a:latin typeface="Yu Gothic UI"/>
                <a:ea typeface="Yu Gothic UI"/>
              </a:rPr>
              <a:t>Azure Blob Storage SFTP の Microsoft Entra ID ベースアクセスがパブリックプレビューになりました</a:t>
            </a:r>
          </a:p>
          <a:p>
            <a:pPr lvl="1">
              <a:spcBef>
                <a:spcPts val="300"/>
              </a:spcBef>
            </a:pPr>
            <a:r>
              <a:rPr sz="1400" b="0">
                <a:solidFill>
                  <a:srgbClr val="333333"/>
                </a:solidFill>
                <a:latin typeface="Yu Gothic UI"/>
                <a:ea typeface="Yu Gothic UI"/>
              </a:rPr>
              <a:t>Microsoft Entra ID の ID（Entra External Identities 経由のゲストユーザーを含む）を使用して、ローカルユーザーの作成・管理なしに Azure Blob Storage へ SFTP 接続が可能に…</a:t>
            </a:r>
          </a:p>
          <a:p>
            <a:pPr lvl="1">
              <a:spcBef>
                <a:spcPts val="300"/>
              </a:spcBef>
            </a:pPr>
            <a:r>
              <a:rPr sz="1400" b="0">
                <a:solidFill>
                  <a:srgbClr val="333333"/>
                </a:solidFill>
                <a:latin typeface="Yu Gothic UI"/>
                <a:ea typeface="Yu Gothic UI"/>
              </a:rPr>
              <a:t>主な機能: シングルサインオンと多要素認証（既存の企業認証情報で認証、MFA 対応）、条件付きアクセスポリシー（場所・デバイス準拠・リスクレベル等に基づくアクセス制御）、統合 ID ライフサイクル管理（ユーザーの退職・異動時に SFTP ア…</a:t>
            </a:r>
          </a:p>
          <a:p>
            <a:pPr>
              <a:spcBef>
                <a:spcPts val="1400"/>
              </a:spcBef>
            </a:pPr>
            <a:r>
              <a:rPr sz="1300" b="1">
                <a:solidFill>
                  <a:srgbClr val="666666"/>
                </a:solidFill>
                <a:latin typeface="Yu Gothic UI"/>
                <a:ea typeface="Yu Gothic UI"/>
              </a:rPr>
              <a:t>対象製品: Azure Blob Storage</a:t>
            </a:r>
          </a:p>
          <a:p>
            <a:pPr>
              <a:spcBef>
                <a:spcPts val="200"/>
              </a:spcBef>
            </a:pPr>
            <a:r>
              <a:rPr sz="1300" b="0">
                <a:solidFill>
                  <a:srgbClr val="666666"/>
                </a:solidFill>
                <a:latin typeface="Yu Gothic UI"/>
                <a:ea typeface="Yu Gothic UI"/>
              </a:rPr>
              <a:t>作成日: 2026/03/16</a:t>
            </a:r>
          </a:p>
          <a:p>
            <a:pPr>
              <a:spcBef>
                <a:spcPts val="200"/>
              </a:spcBef>
            </a:pPr>
            <a:r>
              <a:rPr sz="1300" b="0">
                <a:solidFill>
                  <a:srgbClr val="666666"/>
                </a:solidFill>
                <a:latin typeface="Yu Gothic UI"/>
                <a:ea typeface="Yu Gothic UI"/>
              </a:rPr>
              <a:t>可用性: Preview 2026/March, Private Preview 2025/December</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https://azure.microsoft.com/updates/?id=558662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000" b="1">
                <a:solidFill>
                  <a:srgbClr val="0078D4"/>
                </a:solidFill>
                <a:latin typeface="Yu Gothic UI"/>
                <a:ea typeface="Yu Gothic UI"/>
              </a:rPr>
              <a:t>パブリックプレビュー: Azure Database for PostgreSQL の Premium SSD v2 ディスクでカスタマーマネージド暗号化キーをサポート</a:t>
            </a:r>
          </a:p>
        </p:txBody>
      </p:sp>
      <p:sp>
        <p:nvSpPr>
          <p:cNvPr id="3" name="Content Placeholder 2"/>
          <p:cNvSpPr>
            <a:spLocks noGrp="1"/>
          </p:cNvSpPr>
          <p:nvPr>
            <p:ph idx="10" sz="quarter"/>
          </p:nvPr>
        </p:nvSpPr>
        <p:spPr>
          <a:xfrm>
            <a:off x="457200" y="939983"/>
            <a:ext cx="10561638" cy="5460817"/>
          </a:xfrm>
        </p:spPr>
        <p:txBody>
          <a:bodyPr lIns="365760" rIns="365760" tIns="91440" bIns="91440" wrap="square"/>
          <a:lstStyle/>
          <a:p>
            <a:pPr>
              <a:spcAft>
                <a:spcPts val="800"/>
              </a:spcAft>
            </a:pPr>
            <a:r>
              <a:rPr sz="1600" b="1">
                <a:solidFill>
                  <a:srgbClr val="CA5010"/>
                </a:solidFill>
                <a:latin typeface="Yu Gothic UI"/>
                <a:ea typeface="Yu Gothic UI"/>
              </a:rPr>
              <a:t>【パブリックプレビュー】</a:t>
            </a:r>
            <a:r>
              <a:rPr sz="1600" b="1">
                <a:solidFill>
                  <a:srgbClr val="333333"/>
                </a:solidFill>
                <a:latin typeface="Yu Gothic UI"/>
                <a:ea typeface="Yu Gothic UI"/>
              </a:rPr>
              <a:t>  重要度: 低</a:t>
            </a:r>
          </a:p>
          <a:p>
            <a:pPr lvl="1">
              <a:spcBef>
                <a:spcPts val="300"/>
              </a:spcBef>
            </a:pPr>
            <a:r>
              <a:rPr sz="1400" b="0">
                <a:solidFill>
                  <a:srgbClr val="333333"/>
                </a:solidFill>
                <a:latin typeface="Yu Gothic UI"/>
                <a:ea typeface="Yu Gothic UI"/>
              </a:rPr>
              <a:t>Azure Database for PostgreSQL の Premium SSD v2 ディスクでカスタマーマネージドキー (CMK) が利用可能になりました（パブリックプレビュー）</a:t>
            </a:r>
          </a:p>
          <a:p>
            <a:pPr lvl="1">
              <a:spcBef>
                <a:spcPts val="300"/>
              </a:spcBef>
            </a:pPr>
            <a:r>
              <a:rPr sz="1400" b="0">
                <a:solidFill>
                  <a:srgbClr val="333333"/>
                </a:solidFill>
                <a:latin typeface="Yu Gothic UI"/>
                <a:ea typeface="Yu Gothic UI"/>
              </a:rPr>
              <a:t>Azure Key Vault に保存された独自のキーを使用して保存データの暗号化を制御でき、Premium SSD v2 ストレージの高パフォーマンスとスケーラビリティを引き続き活用できます</a:t>
            </a:r>
          </a:p>
          <a:p>
            <a:pPr lvl="1">
              <a:spcBef>
                <a:spcPts val="300"/>
              </a:spcBef>
            </a:pPr>
            <a:r>
              <a:rPr sz="1400" b="0">
                <a:solidFill>
                  <a:srgbClr val="333333"/>
                </a:solidFill>
                <a:latin typeface="Yu Gothic UI"/>
                <a:ea typeface="Yu Gothic UI"/>
              </a:rPr>
              <a:t>CMK は規制産業での運用やカスタマー管理の暗号化・職務分離を求める内部コンプライアンス要件に特に有用です</a:t>
            </a:r>
          </a:p>
          <a:p>
            <a:pPr lvl="1">
              <a:spcBef>
                <a:spcPts val="300"/>
              </a:spcBef>
            </a:pPr>
            <a:r>
              <a:rPr sz="1400" b="0">
                <a:solidFill>
                  <a:srgbClr val="333333"/>
                </a:solidFill>
                <a:latin typeface="Yu Gothic UI"/>
                <a:ea typeface="Yu Gothic UI"/>
              </a:rPr>
              <a:t>組織の基準に従ったキーローテーションとアクセスポリシーの管理が可能で、パフォーマンス・可用性・管理の容易さを損なうことなくセキュリティ体制を強化できます</a:t>
            </a:r>
          </a:p>
          <a:p>
            <a:pPr>
              <a:spcBef>
                <a:spcPts val="1400"/>
              </a:spcBef>
            </a:pPr>
            <a:r>
              <a:rPr sz="1300" b="1">
                <a:solidFill>
                  <a:srgbClr val="666666"/>
                </a:solidFill>
                <a:latin typeface="Yu Gothic UI"/>
                <a:ea typeface="Yu Gothic UI"/>
              </a:rPr>
              <a:t>対象製品: Azure Database for PostgreSQL</a:t>
            </a:r>
          </a:p>
          <a:p>
            <a:pPr>
              <a:spcBef>
                <a:spcPts val="200"/>
              </a:spcBef>
            </a:pPr>
            <a:r>
              <a:rPr sz="1300" b="0">
                <a:solidFill>
                  <a:srgbClr val="666666"/>
                </a:solidFill>
                <a:latin typeface="Yu Gothic UI"/>
                <a:ea typeface="Yu Gothic UI"/>
              </a:rPr>
              <a:t>作成日: 2026/03/11</a:t>
            </a:r>
          </a:p>
          <a:p>
            <a:pPr>
              <a:spcBef>
                <a:spcPts val="200"/>
              </a:spcBef>
            </a:pPr>
            <a:r>
              <a:rPr sz="1300" b="0">
                <a:solidFill>
                  <a:srgbClr val="666666"/>
                </a:solidFill>
                <a:latin typeface="Yu Gothic UI"/>
                <a:ea typeface="Yu Gothic UI"/>
              </a:rPr>
              <a:t>可用性: Preview 2026/March</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https://azure.microsoft.com/updates/?id=557527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600" b="1">
                <a:solidFill>
                  <a:srgbClr val="FFFFFF"/>
                </a:solidFill>
                <a:latin typeface="Yu Gothic UI"/>
                <a:ea typeface="Yu Gothic UI"/>
              </a:rPr>
              <a:t>ネットワーク（2件）</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000" b="1">
                <a:solidFill>
                  <a:srgbClr val="0078D4"/>
                </a:solidFill>
                <a:latin typeface="Yu Gothic UI"/>
                <a:ea typeface="Yu Gothic UI"/>
              </a:rPr>
              <a:t>廃止予定: Azure Government および 21Vianet 運用の Microsoft Azure 向け手動登録 Azure VPN クライアントが 2029 年 3 月 31 日に廃止</a:t>
            </a:r>
          </a:p>
        </p:txBody>
      </p:sp>
      <p:sp>
        <p:nvSpPr>
          <p:cNvPr id="3" name="Content Placeholder 2"/>
          <p:cNvSpPr>
            <a:spLocks noGrp="1"/>
          </p:cNvSpPr>
          <p:nvPr>
            <p:ph idx="10" sz="quarter"/>
          </p:nvPr>
        </p:nvSpPr>
        <p:spPr>
          <a:xfrm>
            <a:off x="457200" y="939983"/>
            <a:ext cx="10561638" cy="5460817"/>
          </a:xfrm>
        </p:spPr>
        <p:txBody>
          <a:bodyPr lIns="365760" rIns="365760" tIns="91440" bIns="91440" wrap="square"/>
          <a:lstStyle/>
          <a:p>
            <a:pPr>
              <a:spcAft>
                <a:spcPts val="800"/>
              </a:spcAft>
            </a:pPr>
            <a:r>
              <a:rPr sz="1600" b="1">
                <a:solidFill>
                  <a:srgbClr val="D13438"/>
                </a:solidFill>
                <a:latin typeface="Yu Gothic UI"/>
                <a:ea typeface="Yu Gothic UI"/>
              </a:rPr>
              <a:t>【廃止予定】</a:t>
            </a:r>
            <a:r>
              <a:rPr sz="1600" b="1">
                <a:solidFill>
                  <a:srgbClr val="333333"/>
                </a:solidFill>
                <a:latin typeface="Yu Gothic UI"/>
                <a:ea typeface="Yu Gothic UI"/>
              </a:rPr>
              <a:t>  重要度: 高</a:t>
            </a:r>
          </a:p>
          <a:p>
            <a:pPr lvl="1">
              <a:spcBef>
                <a:spcPts val="300"/>
              </a:spcBef>
            </a:pPr>
            <a:r>
              <a:rPr sz="1400" b="0">
                <a:solidFill>
                  <a:srgbClr val="333333"/>
                </a:solidFill>
                <a:latin typeface="Yu Gothic UI"/>
                <a:ea typeface="Yu Gothic UI"/>
              </a:rPr>
              <a:t>2029 年 3 月 31 日に、Azure Government および 21Vianet 運用の Microsoft Azure クラウドにおける Microsoft Entra ID 認証を使用したポイント対サイト接続用の手動登録 A…</a:t>
            </a:r>
          </a:p>
          <a:p>
            <a:pPr lvl="1">
              <a:spcBef>
                <a:spcPts val="300"/>
              </a:spcBef>
            </a:pPr>
            <a:r>
              <a:rPr sz="1400" b="0">
                <a:solidFill>
                  <a:srgbClr val="333333"/>
                </a:solidFill>
                <a:latin typeface="Yu Gothic UI"/>
                <a:ea typeface="Yu Gothic UI"/>
              </a:rPr>
              <a:t>中断を防ぐため、2029 年 3 月 31 日までに Microsoft 登録の VPN クライアントに移行してください</a:t>
            </a:r>
          </a:p>
          <a:p>
            <a:pPr lvl="1">
              <a:spcBef>
                <a:spcPts val="300"/>
              </a:spcBef>
            </a:pPr>
            <a:r>
              <a:rPr sz="1400" b="0">
                <a:solidFill>
                  <a:srgbClr val="333333"/>
                </a:solidFill>
                <a:latin typeface="Yu Gothic UI"/>
                <a:ea typeface="Yu Gothic UI"/>
              </a:rPr>
              <a:t>この日以降、セキュリティ向上のため Microsoft 登録の VPN クライアントのみがサポートされます</a:t>
            </a:r>
          </a:p>
          <a:p>
            <a:pPr>
              <a:spcBef>
                <a:spcPts val="1400"/>
              </a:spcBef>
            </a:pPr>
            <a:r>
              <a:rPr sz="1300" b="1">
                <a:solidFill>
                  <a:srgbClr val="666666"/>
                </a:solidFill>
                <a:latin typeface="Yu Gothic UI"/>
                <a:ea typeface="Yu Gothic UI"/>
              </a:rPr>
              <a:t>対象製品: VPN Gateway</a:t>
            </a:r>
          </a:p>
          <a:p>
            <a:pPr>
              <a:spcBef>
                <a:spcPts val="200"/>
              </a:spcBef>
            </a:pPr>
            <a:r>
              <a:rPr sz="1300" b="0">
                <a:solidFill>
                  <a:srgbClr val="666666"/>
                </a:solidFill>
                <a:latin typeface="Yu Gothic UI"/>
                <a:ea typeface="Yu Gothic UI"/>
              </a:rPr>
              <a:t>作成日: 2026/03/31</a:t>
            </a:r>
          </a:p>
          <a:p>
            <a:pPr>
              <a:spcBef>
                <a:spcPts val="200"/>
              </a:spcBef>
            </a:pPr>
            <a:r>
              <a:rPr sz="1300" b="0">
                <a:solidFill>
                  <a:srgbClr val="666666"/>
                </a:solidFill>
                <a:latin typeface="Yu Gothic UI"/>
                <a:ea typeface="Yu Gothic UI"/>
              </a:rPr>
              <a:t>可用性: Retirement 2029/March</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https://azure.microsoft.com/updates/?id=557395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パブリックプレビュー: Microsoft Azure Kubernetes Application Network</a:t>
            </a:r>
          </a:p>
        </p:txBody>
      </p:sp>
      <p:sp>
        <p:nvSpPr>
          <p:cNvPr id="3" name="Content Placeholder 2"/>
          <p:cNvSpPr>
            <a:spLocks noGrp="1"/>
          </p:cNvSpPr>
          <p:nvPr>
            <p:ph idx="10" sz="quarter"/>
          </p:nvPr>
        </p:nvSpPr>
        <p:spPr>
          <a:xfrm>
            <a:off x="457200" y="939983"/>
            <a:ext cx="10561638" cy="5460817"/>
          </a:xfrm>
        </p:spPr>
        <p:txBody>
          <a:bodyPr lIns="365760" rIns="365760" tIns="91440" bIns="91440" wrap="square"/>
          <a:lstStyle/>
          <a:p>
            <a:pPr>
              <a:spcAft>
                <a:spcPts val="800"/>
              </a:spcAft>
            </a:pPr>
            <a:r>
              <a:rPr sz="1600" b="1">
                <a:solidFill>
                  <a:srgbClr val="CA5010"/>
                </a:solidFill>
                <a:latin typeface="Yu Gothic UI"/>
                <a:ea typeface="Yu Gothic UI"/>
              </a:rPr>
              <a:t>【パブリックプレビュー】</a:t>
            </a:r>
            <a:r>
              <a:rPr sz="1600" b="1">
                <a:solidFill>
                  <a:srgbClr val="333333"/>
                </a:solidFill>
                <a:latin typeface="Yu Gothic UI"/>
                <a:ea typeface="Yu Gothic UI"/>
              </a:rPr>
              <a:t>  重要度: 低</a:t>
            </a:r>
          </a:p>
          <a:p>
            <a:pPr lvl="1">
              <a:spcBef>
                <a:spcPts val="300"/>
              </a:spcBef>
            </a:pPr>
            <a:r>
              <a:rPr sz="1400" b="0">
                <a:solidFill>
                  <a:srgbClr val="333333"/>
                </a:solidFill>
                <a:latin typeface="Yu Gothic UI"/>
                <a:ea typeface="Yu Gothic UI"/>
              </a:rPr>
              <a:t>Kubernetes 環境がリージョンやクラスター間にスケールすると、IP ベースのネットワーキングは管理が困難になり、アプリケーションレベルの可視性とセキュリティ制御が制限されます</a:t>
            </a:r>
          </a:p>
          <a:p>
            <a:pPr lvl="1">
              <a:spcBef>
                <a:spcPts val="300"/>
              </a:spcBef>
            </a:pPr>
            <a:r>
              <a:rPr sz="1400" b="0">
                <a:solidFill>
                  <a:srgbClr val="333333"/>
                </a:solidFill>
                <a:latin typeface="Yu Gothic UI"/>
                <a:ea typeface="Yu Gothic UI"/>
              </a:rPr>
              <a:t>Azure Kubernetes Application Network は、Pod 間通信の mTLS、アプリケーション対応の認可ポリシー、イングレスおよびクラスター内通信のトラフィックテレメトリなど、Kubernetes トラフィックの…</a:t>
            </a:r>
          </a:p>
          <a:p>
            <a:pPr>
              <a:spcBef>
                <a:spcPts val="1400"/>
              </a:spcBef>
            </a:pPr>
            <a:r>
              <a:rPr sz="1300" b="1">
                <a:solidFill>
                  <a:srgbClr val="666666"/>
                </a:solidFill>
                <a:latin typeface="Yu Gothic UI"/>
                <a:ea typeface="Yu Gothic UI"/>
              </a:rPr>
              <a:t>対象製品: Azure Kubernetes Service (AKS)</a:t>
            </a:r>
          </a:p>
          <a:p>
            <a:pPr>
              <a:spcBef>
                <a:spcPts val="200"/>
              </a:spcBef>
            </a:pPr>
            <a:r>
              <a:rPr sz="1300" b="0">
                <a:solidFill>
                  <a:srgbClr val="666666"/>
                </a:solidFill>
                <a:latin typeface="Yu Gothic UI"/>
                <a:ea typeface="Yu Gothic UI"/>
              </a:rPr>
              <a:t>作成日: 2026/03/24</a:t>
            </a:r>
          </a:p>
          <a:p>
            <a:pPr>
              <a:spcBef>
                <a:spcPts val="200"/>
              </a:spcBef>
            </a:pPr>
            <a:r>
              <a:rPr sz="1300" b="0">
                <a:solidFill>
                  <a:srgbClr val="666666"/>
                </a:solidFill>
                <a:latin typeface="Yu Gothic UI"/>
                <a:ea typeface="Yu Gothic UI"/>
              </a:rPr>
              <a:t>可用性: Preview 2026/March</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https://azure.microsoft.com/updates/?id=557922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600" b="1">
                <a:solidFill>
                  <a:srgbClr val="FFFFFF"/>
                </a:solidFill>
                <a:latin typeface="Yu Gothic UI"/>
                <a:ea typeface="Yu Gothic UI"/>
              </a:rPr>
              <a:t>コンピューティング（24件）</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000" b="1">
                <a:solidFill>
                  <a:srgbClr val="0078D4"/>
                </a:solidFill>
                <a:latin typeface="Yu Gothic UI"/>
                <a:ea typeface="Yu Gothic UI"/>
              </a:rPr>
              <a:t>廃止予定: Azure App Service および Azure Functions の Windows 上の Python サポートが 2027 年 3 月 31 日に廃止</a:t>
            </a:r>
          </a:p>
        </p:txBody>
      </p:sp>
      <p:sp>
        <p:nvSpPr>
          <p:cNvPr id="3" name="Content Placeholder 2"/>
          <p:cNvSpPr>
            <a:spLocks noGrp="1"/>
          </p:cNvSpPr>
          <p:nvPr>
            <p:ph idx="10" sz="quarter"/>
          </p:nvPr>
        </p:nvSpPr>
        <p:spPr>
          <a:xfrm>
            <a:off x="457200" y="939983"/>
            <a:ext cx="10561638" cy="5460817"/>
          </a:xfrm>
        </p:spPr>
        <p:txBody>
          <a:bodyPr lIns="365760" rIns="365760" tIns="91440" bIns="91440" wrap="square"/>
          <a:lstStyle/>
          <a:p>
            <a:pPr>
              <a:spcAft>
                <a:spcPts val="800"/>
              </a:spcAft>
            </a:pPr>
            <a:r>
              <a:rPr sz="1600" b="1">
                <a:solidFill>
                  <a:srgbClr val="D13438"/>
                </a:solidFill>
                <a:latin typeface="Yu Gothic UI"/>
                <a:ea typeface="Yu Gothic UI"/>
              </a:rPr>
              <a:t>【廃止予定】</a:t>
            </a:r>
            <a:r>
              <a:rPr sz="1600" b="1">
                <a:solidFill>
                  <a:srgbClr val="333333"/>
                </a:solidFill>
                <a:latin typeface="Yu Gothic UI"/>
                <a:ea typeface="Yu Gothic UI"/>
              </a:rPr>
              <a:t>  重要度: 高</a:t>
            </a:r>
          </a:p>
          <a:p>
            <a:pPr lvl="1">
              <a:spcBef>
                <a:spcPts val="300"/>
              </a:spcBef>
            </a:pPr>
            <a:r>
              <a:rPr sz="1400" b="0">
                <a:solidFill>
                  <a:srgbClr val="333333"/>
                </a:solidFill>
                <a:latin typeface="Yu Gothic UI"/>
                <a:ea typeface="Yu Gothic UI"/>
              </a:rPr>
              <a:t>2027 年 3 月 31 日以降、Windows 上の Azure App Service および Azure Functions でホストされている Python アプリケーションは動作しなくなります</a:t>
            </a:r>
          </a:p>
          <a:p>
            <a:pPr lvl="1">
              <a:spcBef>
                <a:spcPts val="300"/>
              </a:spcBef>
            </a:pPr>
            <a:r>
              <a:rPr sz="1400" b="0">
                <a:solidFill>
                  <a:srgbClr val="333333"/>
                </a:solidFill>
                <a:latin typeface="Yu Gothic UI"/>
                <a:ea typeface="Yu Gothic UI"/>
              </a:rPr>
              <a:t>この日以降、アプリケーションの構成とコンテンツは保持されますが、アプリは停止し、テクニカルサポートも提供されなくなります</a:t>
            </a:r>
          </a:p>
          <a:p>
            <a:pPr lvl="1">
              <a:spcBef>
                <a:spcPts val="300"/>
              </a:spcBef>
            </a:pPr>
            <a:r>
              <a:rPr sz="1400" b="0">
                <a:solidFill>
                  <a:srgbClr val="333333"/>
                </a:solidFill>
                <a:latin typeface="Yu Gothic UI"/>
                <a:ea typeface="Yu Gothic UI"/>
              </a:rPr>
              <a:t>Windows 上の App Service での Python は 2021 年 12 月以降サポートされていません</a:t>
            </a:r>
          </a:p>
          <a:p>
            <a:pPr lvl="1">
              <a:spcBef>
                <a:spcPts val="300"/>
              </a:spcBef>
            </a:pPr>
            <a:r>
              <a:rPr sz="1400" b="0">
                <a:solidFill>
                  <a:srgbClr val="333333"/>
                </a:solidFill>
                <a:latin typeface="Yu Gothic UI"/>
                <a:ea typeface="Yu Gothic UI"/>
              </a:rPr>
              <a:t>この変更はランタイムを正式に廃止するものです</a:t>
            </a:r>
          </a:p>
          <a:p>
            <a:pPr lvl="1">
              <a:spcBef>
                <a:spcPts val="300"/>
              </a:spcBef>
            </a:pPr>
            <a:r>
              <a:rPr sz="1400" b="0">
                <a:solidFill>
                  <a:srgbClr val="333333"/>
                </a:solidFill>
                <a:latin typeface="Yu Gothic UI"/>
                <a:ea typeface="Yu Gothic UI"/>
              </a:rPr>
              <a:t>サービス中断を避けるため、2027 年 3 月 31 日までに Python アプリケーションを Linux に移行してください</a:t>
            </a:r>
          </a:p>
          <a:p>
            <a:pPr>
              <a:spcBef>
                <a:spcPts val="1400"/>
              </a:spcBef>
            </a:pPr>
            <a:r>
              <a:rPr sz="1300" b="1">
                <a:solidFill>
                  <a:srgbClr val="666666"/>
                </a:solidFill>
                <a:latin typeface="Yu Gothic UI"/>
                <a:ea typeface="Yu Gothic UI"/>
              </a:rPr>
              <a:t>対象製品: App Service</a:t>
            </a:r>
          </a:p>
          <a:p>
            <a:pPr>
              <a:spcBef>
                <a:spcPts val="200"/>
              </a:spcBef>
            </a:pPr>
            <a:r>
              <a:rPr sz="1300" b="0">
                <a:solidFill>
                  <a:srgbClr val="666666"/>
                </a:solidFill>
                <a:latin typeface="Yu Gothic UI"/>
                <a:ea typeface="Yu Gothic UI"/>
              </a:rPr>
              <a:t>作成日: 2026/04/02</a:t>
            </a:r>
          </a:p>
          <a:p>
            <a:pPr>
              <a:spcBef>
                <a:spcPts val="200"/>
              </a:spcBef>
            </a:pPr>
            <a:r>
              <a:rPr sz="1300" b="0">
                <a:solidFill>
                  <a:srgbClr val="666666"/>
                </a:solidFill>
                <a:latin typeface="Yu Gothic UI"/>
                <a:ea typeface="Yu Gothic UI"/>
              </a:rPr>
              <a:t>可用性: Retirement 2027/March</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https://azure.microsoft.com/updates/?id=558027</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000" b="1">
                <a:solidFill>
                  <a:srgbClr val="0078D4"/>
                </a:solidFill>
                <a:latin typeface="Yu Gothic UI"/>
                <a:ea typeface="Yu Gothic UI"/>
              </a:rPr>
              <a:t>廃止予定: Service Fabric の Windows Server 2022 サポートが 2027 年 3 月 31 日に終了 - Windows Server 2025 へのアップグレードが必要</a:t>
            </a:r>
          </a:p>
        </p:txBody>
      </p:sp>
      <p:sp>
        <p:nvSpPr>
          <p:cNvPr id="3" name="Content Placeholder 2"/>
          <p:cNvSpPr>
            <a:spLocks noGrp="1"/>
          </p:cNvSpPr>
          <p:nvPr>
            <p:ph idx="10" sz="quarter"/>
          </p:nvPr>
        </p:nvSpPr>
        <p:spPr>
          <a:xfrm>
            <a:off x="457200" y="939983"/>
            <a:ext cx="10561638" cy="5460817"/>
          </a:xfrm>
        </p:spPr>
        <p:txBody>
          <a:bodyPr lIns="365760" rIns="365760" tIns="91440" bIns="91440" wrap="square"/>
          <a:lstStyle/>
          <a:p>
            <a:pPr>
              <a:spcAft>
                <a:spcPts val="800"/>
              </a:spcAft>
            </a:pPr>
            <a:r>
              <a:rPr sz="1600" b="1">
                <a:solidFill>
                  <a:srgbClr val="D13438"/>
                </a:solidFill>
                <a:latin typeface="Yu Gothic UI"/>
                <a:ea typeface="Yu Gothic UI"/>
              </a:rPr>
              <a:t>【廃止予定】</a:t>
            </a:r>
            <a:r>
              <a:rPr sz="1600" b="1">
                <a:solidFill>
                  <a:srgbClr val="333333"/>
                </a:solidFill>
                <a:latin typeface="Yu Gothic UI"/>
                <a:ea typeface="Yu Gothic UI"/>
              </a:rPr>
              <a:t>  重要度: 高</a:t>
            </a:r>
          </a:p>
          <a:p>
            <a:pPr lvl="1">
              <a:spcBef>
                <a:spcPts val="300"/>
              </a:spcBef>
            </a:pPr>
            <a:r>
              <a:rPr sz="1400" b="0">
                <a:solidFill>
                  <a:srgbClr val="333333"/>
                </a:solidFill>
                <a:latin typeface="Yu Gothic UI"/>
                <a:ea typeface="Yu Gothic UI"/>
              </a:rPr>
              <a:t>Service Fabric は、Windows Server 2022 上で実行されているすべてのクラスターのサポートを 2027 年 3 月 31 日に終了します</a:t>
            </a:r>
          </a:p>
          <a:p>
            <a:pPr lvl="1">
              <a:spcBef>
                <a:spcPts val="300"/>
              </a:spcBef>
            </a:pPr>
            <a:r>
              <a:rPr sz="1400" b="0">
                <a:solidFill>
                  <a:srgbClr val="333333"/>
                </a:solidFill>
                <a:latin typeface="Yu Gothic UI"/>
                <a:ea typeface="Yu Gothic UI"/>
              </a:rPr>
              <a:t>この日までに Windows Server 2025 にアップグレードする必要があります</a:t>
            </a:r>
          </a:p>
          <a:p>
            <a:pPr lvl="1">
              <a:spcBef>
                <a:spcPts val="300"/>
              </a:spcBef>
            </a:pPr>
            <a:r>
              <a:rPr sz="1400" b="0">
                <a:solidFill>
                  <a:srgbClr val="333333"/>
                </a:solidFill>
                <a:latin typeface="Yu Gothic UI"/>
                <a:ea typeface="Yu Gothic UI"/>
              </a:rPr>
              <a:t>この変更は、Service Fabric の Windows OS イメージサポートモデルをメインストリーム OS サポートのタイムラインに整合させるものです</a:t>
            </a:r>
          </a:p>
          <a:p>
            <a:pPr lvl="1">
              <a:spcBef>
                <a:spcPts val="300"/>
              </a:spcBef>
            </a:pPr>
            <a:r>
              <a:rPr sz="1400" b="0">
                <a:solidFill>
                  <a:srgbClr val="333333"/>
                </a:solidFill>
                <a:latin typeface="Yu Gothic UI"/>
                <a:ea typeface="Yu Gothic UI"/>
              </a:rPr>
              <a:t>セキュリティ強度の向上、運用の複雑さの低減、最新プラットフォームでの継続的なイノベーションを可能にします</a:t>
            </a:r>
          </a:p>
          <a:p>
            <a:pPr lvl="1">
              <a:spcBef>
                <a:spcPts val="300"/>
              </a:spcBef>
            </a:pPr>
            <a:r>
              <a:rPr sz="1400" b="0">
                <a:solidFill>
                  <a:srgbClr val="333333"/>
                </a:solidFill>
                <a:latin typeface="Yu Gothic UI"/>
                <a:ea typeface="Yu Gothic UI"/>
              </a:rPr>
              <a:t>注意: Virtual Machine Scale Sets は 2027 年 3 月 31 日以降も Windows Server 2022 上で動作し続けますが、Service Fabric のサポートは終了します</a:t>
            </a:r>
          </a:p>
          <a:p>
            <a:pPr>
              <a:spcBef>
                <a:spcPts val="1400"/>
              </a:spcBef>
            </a:pPr>
            <a:r>
              <a:rPr sz="1300" b="1">
                <a:solidFill>
                  <a:srgbClr val="666666"/>
                </a:solidFill>
                <a:latin typeface="Yu Gothic UI"/>
                <a:ea typeface="Yu Gothic UI"/>
              </a:rPr>
              <a:t>対象製品: Azure Service Fabric</a:t>
            </a:r>
          </a:p>
          <a:p>
            <a:pPr>
              <a:spcBef>
                <a:spcPts val="200"/>
              </a:spcBef>
            </a:pPr>
            <a:r>
              <a:rPr sz="1300" b="0">
                <a:solidFill>
                  <a:srgbClr val="666666"/>
                </a:solidFill>
                <a:latin typeface="Yu Gothic UI"/>
                <a:ea typeface="Yu Gothic UI"/>
              </a:rPr>
              <a:t>作成日: 2026/04/01</a:t>
            </a:r>
          </a:p>
          <a:p>
            <a:pPr>
              <a:spcBef>
                <a:spcPts val="200"/>
              </a:spcBef>
            </a:pPr>
            <a:r>
              <a:rPr sz="1300" b="0">
                <a:solidFill>
                  <a:srgbClr val="666666"/>
                </a:solidFill>
                <a:latin typeface="Yu Gothic UI"/>
                <a:ea typeface="Yu Gothic UI"/>
              </a:rPr>
              <a:t>可用性: Retirement 2027/March</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https://azure.microsoft.com/updates/?id=558247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000" b="1">
                <a:solidFill>
                  <a:srgbClr val="0078D4"/>
                </a:solidFill>
                <a:latin typeface="Yu Gothic UI"/>
                <a:ea typeface="Yu Gothic UI"/>
              </a:rPr>
              <a:t>廃止予定: Service Fabric の Windows Server 2019 サポートが 2027 年 3 月 31 日に終了 - Windows Server 2025 へのアップグレードが必要</a:t>
            </a:r>
          </a:p>
        </p:txBody>
      </p:sp>
      <p:sp>
        <p:nvSpPr>
          <p:cNvPr id="3" name="Content Placeholder 2"/>
          <p:cNvSpPr>
            <a:spLocks noGrp="1"/>
          </p:cNvSpPr>
          <p:nvPr>
            <p:ph idx="10" sz="quarter"/>
          </p:nvPr>
        </p:nvSpPr>
        <p:spPr>
          <a:xfrm>
            <a:off x="457200" y="939983"/>
            <a:ext cx="10561638" cy="5460817"/>
          </a:xfrm>
        </p:spPr>
        <p:txBody>
          <a:bodyPr lIns="365760" rIns="365760" tIns="91440" bIns="91440" wrap="square"/>
          <a:lstStyle/>
          <a:p>
            <a:pPr>
              <a:spcAft>
                <a:spcPts val="800"/>
              </a:spcAft>
            </a:pPr>
            <a:r>
              <a:rPr sz="1600" b="1">
                <a:solidFill>
                  <a:srgbClr val="D13438"/>
                </a:solidFill>
                <a:latin typeface="Yu Gothic UI"/>
                <a:ea typeface="Yu Gothic UI"/>
              </a:rPr>
              <a:t>【廃止予定】</a:t>
            </a:r>
            <a:r>
              <a:rPr sz="1600" b="1">
                <a:solidFill>
                  <a:srgbClr val="333333"/>
                </a:solidFill>
                <a:latin typeface="Yu Gothic UI"/>
                <a:ea typeface="Yu Gothic UI"/>
              </a:rPr>
              <a:t>  重要度: 高</a:t>
            </a:r>
          </a:p>
          <a:p>
            <a:pPr lvl="1">
              <a:spcBef>
                <a:spcPts val="300"/>
              </a:spcBef>
            </a:pPr>
            <a:r>
              <a:rPr sz="1400" b="0">
                <a:solidFill>
                  <a:srgbClr val="333333"/>
                </a:solidFill>
                <a:latin typeface="Yu Gothic UI"/>
                <a:ea typeface="Yu Gothic UI"/>
              </a:rPr>
              <a:t>Service Fabric は、Windows Server 2019 上で実行されているすべてのクラスターのサポートを 2027 年 3 月 31 日に終了します</a:t>
            </a:r>
          </a:p>
          <a:p>
            <a:pPr lvl="1">
              <a:spcBef>
                <a:spcPts val="300"/>
              </a:spcBef>
            </a:pPr>
            <a:r>
              <a:rPr sz="1400" b="0">
                <a:solidFill>
                  <a:srgbClr val="333333"/>
                </a:solidFill>
                <a:latin typeface="Yu Gothic UI"/>
                <a:ea typeface="Yu Gothic UI"/>
              </a:rPr>
              <a:t>この日までに Windows Server 2025 にアップグレードする必要があります</a:t>
            </a:r>
          </a:p>
          <a:p>
            <a:pPr lvl="1">
              <a:spcBef>
                <a:spcPts val="300"/>
              </a:spcBef>
            </a:pPr>
            <a:r>
              <a:rPr sz="1400" b="0">
                <a:solidFill>
                  <a:srgbClr val="333333"/>
                </a:solidFill>
                <a:latin typeface="Yu Gothic UI"/>
                <a:ea typeface="Yu Gothic UI"/>
              </a:rPr>
              <a:t>この変更は、Service Fabric の Windows OS イメージサポートモデルをメインストリーム OS サポートのタイムラインに整合させるものです</a:t>
            </a:r>
          </a:p>
          <a:p>
            <a:pPr lvl="1">
              <a:spcBef>
                <a:spcPts val="300"/>
              </a:spcBef>
            </a:pPr>
            <a:r>
              <a:rPr sz="1400" b="0">
                <a:solidFill>
                  <a:srgbClr val="333333"/>
                </a:solidFill>
                <a:latin typeface="Yu Gothic UI"/>
                <a:ea typeface="Yu Gothic UI"/>
              </a:rPr>
              <a:t>セキュリティ強度の向上、運用の複雑さの低減、最新プラットフォームでの継続的なイノベーションを可能にします</a:t>
            </a:r>
          </a:p>
          <a:p>
            <a:pPr lvl="1">
              <a:spcBef>
                <a:spcPts val="300"/>
              </a:spcBef>
            </a:pPr>
            <a:r>
              <a:rPr sz="1400" b="0">
                <a:solidFill>
                  <a:srgbClr val="333333"/>
                </a:solidFill>
                <a:latin typeface="Yu Gothic UI"/>
                <a:ea typeface="Yu Gothic UI"/>
              </a:rPr>
              <a:t>注意: Virtual Machine Scale Sets は 2027 年 3 月 31 日以降も Windows Server 2019 上で動作し続けますが、Service Fabric のサポートは終了します</a:t>
            </a:r>
          </a:p>
          <a:p>
            <a:pPr>
              <a:spcBef>
                <a:spcPts val="1400"/>
              </a:spcBef>
            </a:pPr>
            <a:r>
              <a:rPr sz="1300" b="1">
                <a:solidFill>
                  <a:srgbClr val="666666"/>
                </a:solidFill>
                <a:latin typeface="Yu Gothic UI"/>
                <a:ea typeface="Yu Gothic UI"/>
              </a:rPr>
              <a:t>対象製品: Azure Service Fabric</a:t>
            </a:r>
          </a:p>
          <a:p>
            <a:pPr>
              <a:spcBef>
                <a:spcPts val="200"/>
              </a:spcBef>
            </a:pPr>
            <a:r>
              <a:rPr sz="1300" b="0">
                <a:solidFill>
                  <a:srgbClr val="666666"/>
                </a:solidFill>
                <a:latin typeface="Yu Gothic UI"/>
                <a:ea typeface="Yu Gothic UI"/>
              </a:rPr>
              <a:t>作成日: 2026/04/01</a:t>
            </a:r>
          </a:p>
          <a:p>
            <a:pPr>
              <a:spcBef>
                <a:spcPts val="200"/>
              </a:spcBef>
            </a:pPr>
            <a:r>
              <a:rPr sz="1300" b="0">
                <a:solidFill>
                  <a:srgbClr val="666666"/>
                </a:solidFill>
                <a:latin typeface="Yu Gothic UI"/>
                <a:ea typeface="Yu Gothic UI"/>
              </a:rPr>
              <a:t>可用性: Retirement 2027/March</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https://azure.microsoft.com/updates/?id=558246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廃止予定: NP シリーズ Azure Virtual Machines は2027年5月31日に廃止</a:t>
            </a:r>
          </a:p>
        </p:txBody>
      </p:sp>
      <p:sp>
        <p:nvSpPr>
          <p:cNvPr id="3" name="Content Placeholder 2"/>
          <p:cNvSpPr>
            <a:spLocks noGrp="1"/>
          </p:cNvSpPr>
          <p:nvPr>
            <p:ph idx="10" sz="quarter"/>
          </p:nvPr>
        </p:nvSpPr>
        <p:spPr>
          <a:xfrm>
            <a:off x="457200" y="939983"/>
            <a:ext cx="10561638" cy="5460817"/>
          </a:xfrm>
        </p:spPr>
        <p:txBody>
          <a:bodyPr lIns="365760" rIns="365760" tIns="91440" bIns="91440" wrap="square"/>
          <a:lstStyle/>
          <a:p>
            <a:pPr>
              <a:spcAft>
                <a:spcPts val="800"/>
              </a:spcAft>
            </a:pPr>
            <a:r>
              <a:rPr sz="1600" b="1">
                <a:solidFill>
                  <a:srgbClr val="D13438"/>
                </a:solidFill>
                <a:latin typeface="Yu Gothic UI"/>
                <a:ea typeface="Yu Gothic UI"/>
              </a:rPr>
              <a:t>【廃止予定】</a:t>
            </a:r>
            <a:r>
              <a:rPr sz="1600" b="1">
                <a:solidFill>
                  <a:srgbClr val="333333"/>
                </a:solidFill>
                <a:latin typeface="Yu Gothic UI"/>
                <a:ea typeface="Yu Gothic UI"/>
              </a:rPr>
              <a:t>  重要度: 高</a:t>
            </a:r>
          </a:p>
          <a:p>
            <a:pPr lvl="1">
              <a:spcBef>
                <a:spcPts val="300"/>
              </a:spcBef>
            </a:pPr>
            <a:r>
              <a:rPr sz="1400" b="0">
                <a:solidFill>
                  <a:srgbClr val="333333"/>
                </a:solidFill>
                <a:latin typeface="Yu Gothic UI"/>
                <a:ea typeface="Yu Gothic UI"/>
              </a:rPr>
              <a:t>2027年5月31日に NP シリーズ VM (Standard_NP10s, Standard_NP20s, Standard_NP40s) が廃止される</a:t>
            </a:r>
          </a:p>
          <a:p>
            <a:pPr lvl="1">
              <a:spcBef>
                <a:spcPts val="300"/>
              </a:spcBef>
            </a:pPr>
            <a:r>
              <a:rPr sz="1400" b="0">
                <a:solidFill>
                  <a:srgbClr val="333333"/>
                </a:solidFill>
                <a:latin typeface="Yu Gothic UI"/>
                <a:ea typeface="Yu Gothic UI"/>
              </a:rPr>
              <a:t>NDv2、NCads_H100_v5、NCasT4_v3 VM への移行を推奨</a:t>
            </a:r>
          </a:p>
          <a:p>
            <a:pPr lvl="1">
              <a:spcBef>
                <a:spcPts val="300"/>
              </a:spcBef>
            </a:pPr>
            <a:r>
              <a:rPr sz="1400" b="0">
                <a:solidFill>
                  <a:srgbClr val="333333"/>
                </a:solidFill>
                <a:latin typeface="Yu Gothic UI"/>
                <a:ea typeface="Yu Gothic UI"/>
              </a:rPr>
              <a:t>廃止後、残存する NP シリーズ VM は割り当て解除状態となり、課金停止、SLA・サポート対象外となる</a:t>
            </a:r>
          </a:p>
          <a:p>
            <a:pPr lvl="1">
              <a:spcBef>
                <a:spcPts val="300"/>
              </a:spcBef>
            </a:pPr>
            <a:r>
              <a:rPr sz="1400" b="0">
                <a:solidFill>
                  <a:srgbClr val="333333"/>
                </a:solidFill>
                <a:latin typeface="Yu Gothic UI"/>
                <a:ea typeface="Yu Gothic UI"/>
              </a:rPr>
              <a:t>1年および3年のリザーブドインスタンス購入は2026年4月2日に終了</a:t>
            </a:r>
          </a:p>
          <a:p>
            <a:pPr>
              <a:spcBef>
                <a:spcPts val="1400"/>
              </a:spcBef>
            </a:pPr>
            <a:r>
              <a:rPr sz="1300" b="1">
                <a:solidFill>
                  <a:srgbClr val="666666"/>
                </a:solidFill>
                <a:latin typeface="Yu Gothic UI"/>
                <a:ea typeface="Yu Gothic UI"/>
              </a:rPr>
              <a:t>対象製品: Virtual Machines</a:t>
            </a:r>
          </a:p>
          <a:p>
            <a:pPr>
              <a:spcBef>
                <a:spcPts val="200"/>
              </a:spcBef>
            </a:pPr>
            <a:r>
              <a:rPr sz="1300" b="0">
                <a:solidFill>
                  <a:srgbClr val="666666"/>
                </a:solidFill>
                <a:latin typeface="Yu Gothic UI"/>
                <a:ea typeface="Yu Gothic UI"/>
              </a:rPr>
              <a:t>作成日: 2026/03/19</a:t>
            </a:r>
          </a:p>
          <a:p>
            <a:pPr>
              <a:spcBef>
                <a:spcPts val="200"/>
              </a:spcBef>
            </a:pPr>
            <a:r>
              <a:rPr sz="1300" b="0">
                <a:solidFill>
                  <a:srgbClr val="666666"/>
                </a:solidFill>
                <a:latin typeface="Yu Gothic UI"/>
                <a:ea typeface="Yu Gothic UI"/>
              </a:rPr>
              <a:t>可用性: Retirement 2027/May</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https://azure.microsoft.com/updates/?id=548497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廃止予定: HBv2 シリーズ Azure Virtual Machines は2027年5月31日に廃止</a:t>
            </a:r>
          </a:p>
        </p:txBody>
      </p:sp>
      <p:sp>
        <p:nvSpPr>
          <p:cNvPr id="3" name="Content Placeholder 2"/>
          <p:cNvSpPr>
            <a:spLocks noGrp="1"/>
          </p:cNvSpPr>
          <p:nvPr>
            <p:ph idx="10" sz="quarter"/>
          </p:nvPr>
        </p:nvSpPr>
        <p:spPr>
          <a:xfrm>
            <a:off x="457200" y="939983"/>
            <a:ext cx="10561638" cy="5460817"/>
          </a:xfrm>
        </p:spPr>
        <p:txBody>
          <a:bodyPr lIns="365760" rIns="365760" tIns="91440" bIns="91440" wrap="square"/>
          <a:lstStyle/>
          <a:p>
            <a:pPr>
              <a:spcAft>
                <a:spcPts val="800"/>
              </a:spcAft>
            </a:pPr>
            <a:r>
              <a:rPr sz="1600" b="1">
                <a:solidFill>
                  <a:srgbClr val="D13438"/>
                </a:solidFill>
                <a:latin typeface="Yu Gothic UI"/>
                <a:ea typeface="Yu Gothic UI"/>
              </a:rPr>
              <a:t>【廃止予定】</a:t>
            </a:r>
            <a:r>
              <a:rPr sz="1600" b="1">
                <a:solidFill>
                  <a:srgbClr val="333333"/>
                </a:solidFill>
                <a:latin typeface="Yu Gothic UI"/>
                <a:ea typeface="Yu Gothic UI"/>
              </a:rPr>
              <a:t>  重要度: 高</a:t>
            </a:r>
          </a:p>
          <a:p>
            <a:pPr lvl="1">
              <a:spcBef>
                <a:spcPts val="300"/>
              </a:spcBef>
            </a:pPr>
            <a:r>
              <a:rPr sz="1400" b="0">
                <a:solidFill>
                  <a:srgbClr val="333333"/>
                </a:solidFill>
                <a:latin typeface="Yu Gothic UI"/>
                <a:ea typeface="Yu Gothic UI"/>
              </a:rPr>
              <a:t>2027年5月31日に HBv2 シリーズ VM (Standard_HB120rs_v2 等5サイズ) が廃止される</a:t>
            </a:r>
          </a:p>
          <a:p>
            <a:pPr lvl="1">
              <a:spcBef>
                <a:spcPts val="300"/>
              </a:spcBef>
            </a:pPr>
            <a:r>
              <a:rPr sz="1400" b="0">
                <a:solidFill>
                  <a:srgbClr val="333333"/>
                </a:solidFill>
                <a:latin typeface="Yu Gothic UI"/>
                <a:ea typeface="Yu Gothic UI"/>
              </a:rPr>
              <a:t>HBv5 シリーズまたは HX シリーズ VM への移行を推奨</a:t>
            </a:r>
          </a:p>
          <a:p>
            <a:pPr lvl="1">
              <a:spcBef>
                <a:spcPts val="300"/>
              </a:spcBef>
            </a:pPr>
            <a:r>
              <a:rPr sz="1400" b="0">
                <a:solidFill>
                  <a:srgbClr val="333333"/>
                </a:solidFill>
                <a:latin typeface="Yu Gothic UI"/>
                <a:ea typeface="Yu Gothic UI"/>
              </a:rPr>
              <a:t>廃止後、残存する HBv2 シリーズ VM は割り当て解除状態となり、SLA・サポート対象外となる</a:t>
            </a:r>
          </a:p>
          <a:p>
            <a:pPr lvl="1">
              <a:spcBef>
                <a:spcPts val="300"/>
              </a:spcBef>
            </a:pPr>
            <a:r>
              <a:rPr sz="1400" b="0">
                <a:solidFill>
                  <a:srgbClr val="333333"/>
                </a:solidFill>
                <a:latin typeface="Yu Gothic UI"/>
                <a:ea typeface="Yu Gothic UI"/>
              </a:rPr>
              <a:t>1年および3年のリザーブドインスタンス購入は2026年4月2日に終了</a:t>
            </a:r>
          </a:p>
          <a:p>
            <a:pPr>
              <a:spcBef>
                <a:spcPts val="1400"/>
              </a:spcBef>
            </a:pPr>
            <a:r>
              <a:rPr sz="1300" b="1">
                <a:solidFill>
                  <a:srgbClr val="666666"/>
                </a:solidFill>
                <a:latin typeface="Yu Gothic UI"/>
                <a:ea typeface="Yu Gothic UI"/>
              </a:rPr>
              <a:t>対象製品: Virtual Machines</a:t>
            </a:r>
          </a:p>
          <a:p>
            <a:pPr>
              <a:spcBef>
                <a:spcPts val="200"/>
              </a:spcBef>
            </a:pPr>
            <a:r>
              <a:rPr sz="1300" b="0">
                <a:solidFill>
                  <a:srgbClr val="666666"/>
                </a:solidFill>
                <a:latin typeface="Yu Gothic UI"/>
                <a:ea typeface="Yu Gothic UI"/>
              </a:rPr>
              <a:t>作成日: 2026/03/19</a:t>
            </a:r>
          </a:p>
          <a:p>
            <a:pPr>
              <a:spcBef>
                <a:spcPts val="200"/>
              </a:spcBef>
            </a:pPr>
            <a:r>
              <a:rPr sz="1300" b="0">
                <a:solidFill>
                  <a:srgbClr val="666666"/>
                </a:solidFill>
                <a:latin typeface="Yu Gothic UI"/>
                <a:ea typeface="Yu Gothic UI"/>
              </a:rPr>
              <a:t>可用性: Retirement 2027/May</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https://azure.microsoft.com/updates/?id=548525</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廃止予定: HC シリーズ Azure Virtual Machines は2027年5月31日に廃止</a:t>
            </a:r>
          </a:p>
        </p:txBody>
      </p:sp>
      <p:sp>
        <p:nvSpPr>
          <p:cNvPr id="3" name="Content Placeholder 2"/>
          <p:cNvSpPr>
            <a:spLocks noGrp="1"/>
          </p:cNvSpPr>
          <p:nvPr>
            <p:ph idx="10" sz="quarter"/>
          </p:nvPr>
        </p:nvSpPr>
        <p:spPr>
          <a:xfrm>
            <a:off x="457200" y="939983"/>
            <a:ext cx="10561638" cy="5460817"/>
          </a:xfrm>
        </p:spPr>
        <p:txBody>
          <a:bodyPr lIns="365760" rIns="365760" tIns="91440" bIns="91440" wrap="square"/>
          <a:lstStyle/>
          <a:p>
            <a:pPr>
              <a:spcAft>
                <a:spcPts val="800"/>
              </a:spcAft>
            </a:pPr>
            <a:r>
              <a:rPr sz="1600" b="1">
                <a:solidFill>
                  <a:srgbClr val="D13438"/>
                </a:solidFill>
                <a:latin typeface="Yu Gothic UI"/>
                <a:ea typeface="Yu Gothic UI"/>
              </a:rPr>
              <a:t>【廃止予定】</a:t>
            </a:r>
            <a:r>
              <a:rPr sz="1600" b="1">
                <a:solidFill>
                  <a:srgbClr val="333333"/>
                </a:solidFill>
                <a:latin typeface="Yu Gothic UI"/>
                <a:ea typeface="Yu Gothic UI"/>
              </a:rPr>
              <a:t>  重要度: 高</a:t>
            </a:r>
          </a:p>
          <a:p>
            <a:pPr lvl="1">
              <a:spcBef>
                <a:spcPts val="300"/>
              </a:spcBef>
            </a:pPr>
            <a:r>
              <a:rPr sz="1400" b="0">
                <a:solidFill>
                  <a:srgbClr val="333333"/>
                </a:solidFill>
                <a:latin typeface="Yu Gothic UI"/>
                <a:ea typeface="Yu Gothic UI"/>
              </a:rPr>
              <a:t>2027年5月31日に HC シリーズ VM (Standard_HC44rs, Standard_HC44-16rs, Standard_HC44-32rs) が廃止される</a:t>
            </a:r>
          </a:p>
          <a:p>
            <a:pPr lvl="1">
              <a:spcBef>
                <a:spcPts val="300"/>
              </a:spcBef>
            </a:pPr>
            <a:r>
              <a:rPr sz="1400" b="0">
                <a:solidFill>
                  <a:srgbClr val="333333"/>
                </a:solidFill>
                <a:latin typeface="Yu Gothic UI"/>
                <a:ea typeface="Yu Gothic UI"/>
              </a:rPr>
              <a:t>HBv5 シリーズまたは HX シリーズ VM への移行を推奨</a:t>
            </a:r>
          </a:p>
          <a:p>
            <a:pPr lvl="1">
              <a:spcBef>
                <a:spcPts val="300"/>
              </a:spcBef>
            </a:pPr>
            <a:r>
              <a:rPr sz="1400" b="0">
                <a:solidFill>
                  <a:srgbClr val="333333"/>
                </a:solidFill>
                <a:latin typeface="Yu Gothic UI"/>
                <a:ea typeface="Yu Gothic UI"/>
              </a:rPr>
              <a:t>廃止後、残存する HC シリーズ VM は割り当て解除状態となり、SLA・サポート対象外となる</a:t>
            </a:r>
          </a:p>
          <a:p>
            <a:pPr lvl="1">
              <a:spcBef>
                <a:spcPts val="300"/>
              </a:spcBef>
            </a:pPr>
            <a:r>
              <a:rPr sz="1400" b="0">
                <a:solidFill>
                  <a:srgbClr val="333333"/>
                </a:solidFill>
                <a:latin typeface="Yu Gothic UI"/>
                <a:ea typeface="Yu Gothic UI"/>
              </a:rPr>
              <a:t>1年および3年のリザーブドインスタンス購入は2026年4月2日に終了</a:t>
            </a:r>
          </a:p>
          <a:p>
            <a:pPr>
              <a:spcBef>
                <a:spcPts val="1400"/>
              </a:spcBef>
            </a:pPr>
            <a:r>
              <a:rPr sz="1300" b="1">
                <a:solidFill>
                  <a:srgbClr val="666666"/>
                </a:solidFill>
                <a:latin typeface="Yu Gothic UI"/>
                <a:ea typeface="Yu Gothic UI"/>
              </a:rPr>
              <a:t>対象製品: Virtual Machines</a:t>
            </a:r>
          </a:p>
          <a:p>
            <a:pPr>
              <a:spcBef>
                <a:spcPts val="200"/>
              </a:spcBef>
            </a:pPr>
            <a:r>
              <a:rPr sz="1300" b="0">
                <a:solidFill>
                  <a:srgbClr val="666666"/>
                </a:solidFill>
                <a:latin typeface="Yu Gothic UI"/>
                <a:ea typeface="Yu Gothic UI"/>
              </a:rPr>
              <a:t>作成日: 2026/03/19</a:t>
            </a:r>
          </a:p>
          <a:p>
            <a:pPr>
              <a:spcBef>
                <a:spcPts val="200"/>
              </a:spcBef>
            </a:pPr>
            <a:r>
              <a:rPr sz="1300" b="0">
                <a:solidFill>
                  <a:srgbClr val="666666"/>
                </a:solidFill>
                <a:latin typeface="Yu Gothic UI"/>
                <a:ea typeface="Yu Gothic UI"/>
              </a:rPr>
              <a:t>可用性: Retirement 2027/May</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https://azure.microsoft.com/updates/?id=548543</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000" b="1">
                <a:solidFill>
                  <a:srgbClr val="0078D4"/>
                </a:solidFill>
                <a:latin typeface="Yu Gothic UI"/>
                <a:ea typeface="Yu Gothic UI"/>
              </a:rPr>
              <a:t>廃止予定: Azure VMware Solution AV36P および AV52 ノードが 2029年6月30日に廃止</a:t>
            </a:r>
          </a:p>
        </p:txBody>
      </p:sp>
      <p:sp>
        <p:nvSpPr>
          <p:cNvPr id="3" name="Content Placeholder 2"/>
          <p:cNvSpPr>
            <a:spLocks noGrp="1"/>
          </p:cNvSpPr>
          <p:nvPr>
            <p:ph idx="10" sz="quarter"/>
          </p:nvPr>
        </p:nvSpPr>
        <p:spPr>
          <a:xfrm>
            <a:off x="457200" y="939983"/>
            <a:ext cx="10561638" cy="5460817"/>
          </a:xfrm>
        </p:spPr>
        <p:txBody>
          <a:bodyPr lIns="365760" rIns="365760" tIns="91440" bIns="91440" wrap="square"/>
          <a:lstStyle/>
          <a:p>
            <a:pPr>
              <a:spcAft>
                <a:spcPts val="800"/>
              </a:spcAft>
            </a:pPr>
            <a:r>
              <a:rPr sz="1600" b="1">
                <a:solidFill>
                  <a:srgbClr val="D13438"/>
                </a:solidFill>
                <a:latin typeface="Yu Gothic UI"/>
                <a:ea typeface="Yu Gothic UI"/>
              </a:rPr>
              <a:t>【廃止予定】</a:t>
            </a:r>
            <a:r>
              <a:rPr sz="1600" b="1">
                <a:solidFill>
                  <a:srgbClr val="333333"/>
                </a:solidFill>
                <a:latin typeface="Yu Gothic UI"/>
                <a:ea typeface="Yu Gothic UI"/>
              </a:rPr>
              <a:t>  重要度: 高</a:t>
            </a:r>
          </a:p>
          <a:p>
            <a:pPr lvl="1">
              <a:spcBef>
                <a:spcPts val="300"/>
              </a:spcBef>
            </a:pPr>
            <a:r>
              <a:rPr sz="1400" b="0">
                <a:solidFill>
                  <a:srgbClr val="333333"/>
                </a:solidFill>
                <a:latin typeface="Yu Gothic UI"/>
                <a:ea typeface="Yu Gothic UI"/>
              </a:rPr>
              <a:t>Microsoft は AV36P および AV52 ノードを 2029年6月30日に廃止することを発表しました</a:t>
            </a:r>
          </a:p>
          <a:p>
            <a:pPr lvl="1">
              <a:spcBef>
                <a:spcPts val="300"/>
              </a:spcBef>
            </a:pPr>
            <a:r>
              <a:rPr sz="1400" b="0">
                <a:solidFill>
                  <a:srgbClr val="333333"/>
                </a:solidFill>
                <a:latin typeface="Yu Gothic UI"/>
                <a:ea typeface="Yu Gothic UI"/>
              </a:rPr>
              <a:t>現在の AV36P および AV52 の予約インスタンス (RI) の条件はこの発表の影響を受けません</a:t>
            </a:r>
          </a:p>
          <a:p>
            <a:pPr lvl="1">
              <a:spcBef>
                <a:spcPts val="300"/>
              </a:spcBef>
            </a:pPr>
            <a:r>
              <a:rPr sz="1400" b="0">
                <a:solidFill>
                  <a:srgbClr val="333333"/>
                </a:solidFill>
                <a:latin typeface="Yu Gothic UI"/>
                <a:ea typeface="Yu Gothic UI"/>
              </a:rPr>
              <a:t>現在の RI の有効期限を確認し、Microsoft アカウントチームと次のステップについて相談することを推奨します</a:t>
            </a:r>
          </a:p>
          <a:p>
            <a:pPr lvl="1">
              <a:spcBef>
                <a:spcPts val="300"/>
              </a:spcBef>
            </a:pPr>
            <a:r>
              <a:rPr sz="1400" b="0">
                <a:solidFill>
                  <a:srgbClr val="333333"/>
                </a:solidFill>
                <a:latin typeface="Yu Gothic UI"/>
                <a:ea typeface="Yu Gothic UI"/>
              </a:rPr>
              <a:t>移行支援として、AV36P および AV52 VCF BYOL の 3年 RI を 2026年6月30日まで、1年 RI を 2028年6月30日まで提供しています</a:t>
            </a:r>
          </a:p>
          <a:p>
            <a:pPr lvl="1">
              <a:spcBef>
                <a:spcPts val="300"/>
              </a:spcBef>
            </a:pPr>
            <a:r>
              <a:rPr sz="1400" b="0">
                <a:solidFill>
                  <a:srgbClr val="333333"/>
                </a:solidFill>
                <a:latin typeface="Yu Gothic UI"/>
                <a:ea typeface="Yu Gothic UI"/>
              </a:rPr>
              <a:t>AV36P および AV52 からの移行はすべて 2029年6月30日までに完了する必要があります</a:t>
            </a:r>
          </a:p>
          <a:p>
            <a:pPr>
              <a:spcBef>
                <a:spcPts val="1400"/>
              </a:spcBef>
            </a:pPr>
            <a:r>
              <a:rPr sz="1300" b="1">
                <a:solidFill>
                  <a:srgbClr val="666666"/>
                </a:solidFill>
                <a:latin typeface="Yu Gothic UI"/>
                <a:ea typeface="Yu Gothic UI"/>
              </a:rPr>
              <a:t>対象製品: Azure VMware Solution</a:t>
            </a:r>
          </a:p>
          <a:p>
            <a:pPr>
              <a:spcBef>
                <a:spcPts val="200"/>
              </a:spcBef>
            </a:pPr>
            <a:r>
              <a:rPr sz="1300" b="0">
                <a:solidFill>
                  <a:srgbClr val="666666"/>
                </a:solidFill>
                <a:latin typeface="Yu Gothic UI"/>
                <a:ea typeface="Yu Gothic UI"/>
              </a:rPr>
              <a:t>作成日: 2026/03/17</a:t>
            </a:r>
          </a:p>
          <a:p>
            <a:pPr>
              <a:spcBef>
                <a:spcPts val="200"/>
              </a:spcBef>
            </a:pPr>
            <a:r>
              <a:rPr sz="1300" b="0">
                <a:solidFill>
                  <a:srgbClr val="666666"/>
                </a:solidFill>
                <a:latin typeface="Yu Gothic UI"/>
                <a:ea typeface="Yu Gothic UI"/>
              </a:rPr>
              <a:t>可用性: Retirement 2029/June</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https://azure.microsoft.com/updates/?id=557094</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廃止予定: Azure Batch Low-Priority VM の Spot VM への移行（2026年3月初旬）</a:t>
            </a:r>
          </a:p>
        </p:txBody>
      </p:sp>
      <p:sp>
        <p:nvSpPr>
          <p:cNvPr id="3" name="Content Placeholder 2"/>
          <p:cNvSpPr>
            <a:spLocks noGrp="1"/>
          </p:cNvSpPr>
          <p:nvPr>
            <p:ph idx="10" sz="quarter"/>
          </p:nvPr>
        </p:nvSpPr>
        <p:spPr>
          <a:xfrm>
            <a:off x="457200" y="939983"/>
            <a:ext cx="10561638" cy="5460817"/>
          </a:xfrm>
        </p:spPr>
        <p:txBody>
          <a:bodyPr lIns="365760" rIns="365760" tIns="91440" bIns="91440" wrap="square"/>
          <a:lstStyle/>
          <a:p>
            <a:pPr>
              <a:spcAft>
                <a:spcPts val="800"/>
              </a:spcAft>
            </a:pPr>
            <a:r>
              <a:rPr sz="1600" b="1">
                <a:solidFill>
                  <a:srgbClr val="D13438"/>
                </a:solidFill>
                <a:latin typeface="Yu Gothic UI"/>
                <a:ea typeface="Yu Gothic UI"/>
              </a:rPr>
              <a:t>【廃止予定】</a:t>
            </a:r>
            <a:r>
              <a:rPr sz="1600" b="1">
                <a:solidFill>
                  <a:srgbClr val="333333"/>
                </a:solidFill>
                <a:latin typeface="Yu Gothic UI"/>
                <a:ea typeface="Yu Gothic UI"/>
              </a:rPr>
              <a:t>  重要度: 高</a:t>
            </a:r>
          </a:p>
          <a:p>
            <a:pPr lvl="1">
              <a:spcBef>
                <a:spcPts val="300"/>
              </a:spcBef>
            </a:pPr>
            <a:r>
              <a:rPr sz="1400" b="0">
                <a:solidFill>
                  <a:srgbClr val="333333"/>
                </a:solidFill>
                <a:latin typeface="Yu Gothic UI"/>
                <a:ea typeface="Yu Gothic UI"/>
              </a:rPr>
              <a:t>Azure Batch は 2025年9月30日に Low-Priority VM を廃止しており、2026年3月1日からシステム主導で Spot VM への移行を開始します</a:t>
            </a:r>
          </a:p>
          <a:p>
            <a:pPr lvl="1">
              <a:spcBef>
                <a:spcPts val="300"/>
              </a:spcBef>
            </a:pPr>
            <a:r>
              <a:rPr sz="1400" b="0">
                <a:solidFill>
                  <a:srgbClr val="333333"/>
                </a:solidFill>
                <a:latin typeface="Yu Gothic UI"/>
                <a:ea typeface="Yu Gothic UI"/>
              </a:rPr>
              <a:t>この変更により Batch は Azure Spot インフラストラクチャと統一され、VM 提供が簡素化されます</a:t>
            </a:r>
          </a:p>
          <a:p>
            <a:pPr lvl="1">
              <a:spcBef>
                <a:spcPts val="300"/>
              </a:spcBef>
            </a:pPr>
            <a:r>
              <a:rPr sz="1400" b="0">
                <a:solidFill>
                  <a:srgbClr val="333333"/>
                </a:solidFill>
                <a:latin typeface="Yu Gothic UI"/>
                <a:ea typeface="Yu Gothic UI"/>
              </a:rPr>
              <a:t>影響: 移行は自動的に数日以内に完了し、既存のワークロードへの中断は想定されません</a:t>
            </a:r>
          </a:p>
          <a:p>
            <a:pPr lvl="1">
              <a:spcBef>
                <a:spcPts val="300"/>
              </a:spcBef>
            </a:pPr>
            <a:r>
              <a:rPr sz="1400" b="0">
                <a:solidFill>
                  <a:srgbClr val="333333"/>
                </a:solidFill>
                <a:latin typeface="Yu Gothic UI"/>
                <a:ea typeface="Yu Gothic UI"/>
              </a:rPr>
              <a:t>3月の請求から Spot ベースの課金が適用されます</a:t>
            </a:r>
          </a:p>
          <a:p>
            <a:pPr lvl="1">
              <a:spcBef>
                <a:spcPts val="300"/>
              </a:spcBef>
            </a:pPr>
            <a:r>
              <a:rPr sz="1400" b="0">
                <a:solidFill>
                  <a:srgbClr val="333333"/>
                </a:solidFill>
                <a:latin typeface="Yu Gothic UI"/>
                <a:ea typeface="Yu Gothic UI"/>
              </a:rPr>
              <a:t>対応: Spot VM を継続利用する場合はアクション不要です</a:t>
            </a:r>
          </a:p>
          <a:p>
            <a:pPr>
              <a:spcBef>
                <a:spcPts val="1400"/>
              </a:spcBef>
            </a:pPr>
            <a:r>
              <a:rPr sz="1300" b="1">
                <a:solidFill>
                  <a:srgbClr val="666666"/>
                </a:solidFill>
                <a:latin typeface="Yu Gothic UI"/>
                <a:ea typeface="Yu Gothic UI"/>
              </a:rPr>
              <a:t>対象製品: Batch</a:t>
            </a:r>
          </a:p>
          <a:p>
            <a:pPr>
              <a:spcBef>
                <a:spcPts val="200"/>
              </a:spcBef>
            </a:pPr>
            <a:r>
              <a:rPr sz="1300" b="0">
                <a:solidFill>
                  <a:srgbClr val="666666"/>
                </a:solidFill>
                <a:latin typeface="Yu Gothic UI"/>
                <a:ea typeface="Yu Gothic UI"/>
              </a:rPr>
              <a:t>作成日: 2026/03/16</a:t>
            </a:r>
          </a:p>
          <a:p>
            <a:pPr>
              <a:spcBef>
                <a:spcPts val="200"/>
              </a:spcBef>
            </a:pPr>
            <a:r>
              <a:rPr sz="1300" b="0">
                <a:solidFill>
                  <a:srgbClr val="666666"/>
                </a:solidFill>
                <a:latin typeface="Yu Gothic UI"/>
                <a:ea typeface="Yu Gothic UI"/>
              </a:rPr>
              <a:t>可用性: Retirement 2026/March</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https://azure.microsoft.com/updates/?id=543279</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000" b="1">
                <a:solidFill>
                  <a:srgbClr val="0078D4"/>
                </a:solidFill>
                <a:latin typeface="Yu Gothic UI"/>
                <a:ea typeface="Yu Gothic UI"/>
              </a:rPr>
              <a:t>廃止予定: Azure Batch プールでの Windows Server 2016 Marketplace イメージのサポートが 2027年1月12日に終了</a:t>
            </a:r>
          </a:p>
        </p:txBody>
      </p:sp>
      <p:sp>
        <p:nvSpPr>
          <p:cNvPr id="3" name="Content Placeholder 2"/>
          <p:cNvSpPr>
            <a:spLocks noGrp="1"/>
          </p:cNvSpPr>
          <p:nvPr>
            <p:ph idx="10" sz="quarter"/>
          </p:nvPr>
        </p:nvSpPr>
        <p:spPr>
          <a:xfrm>
            <a:off x="457200" y="939983"/>
            <a:ext cx="10561638" cy="5460817"/>
          </a:xfrm>
        </p:spPr>
        <p:txBody>
          <a:bodyPr lIns="365760" rIns="365760" tIns="91440" bIns="91440" wrap="square"/>
          <a:lstStyle/>
          <a:p>
            <a:pPr>
              <a:spcAft>
                <a:spcPts val="800"/>
              </a:spcAft>
            </a:pPr>
            <a:r>
              <a:rPr sz="1600" b="1">
                <a:solidFill>
                  <a:srgbClr val="D13438"/>
                </a:solidFill>
                <a:latin typeface="Yu Gothic UI"/>
                <a:ea typeface="Yu Gothic UI"/>
              </a:rPr>
              <a:t>【廃止予定】</a:t>
            </a:r>
            <a:r>
              <a:rPr sz="1600" b="1">
                <a:solidFill>
                  <a:srgbClr val="333333"/>
                </a:solidFill>
                <a:latin typeface="Yu Gothic UI"/>
                <a:ea typeface="Yu Gothic UI"/>
              </a:rPr>
              <a:t>  重要度: 高</a:t>
            </a:r>
          </a:p>
          <a:p>
            <a:pPr lvl="1">
              <a:spcBef>
                <a:spcPts val="300"/>
              </a:spcBef>
            </a:pPr>
            <a:r>
              <a:rPr sz="1400" b="0">
                <a:solidFill>
                  <a:srgbClr val="333333"/>
                </a:solidFill>
                <a:latin typeface="Yu Gothic UI"/>
                <a:ea typeface="Yu Gothic UI"/>
              </a:rPr>
              <a:t>Azure Batch はサポート終了となった OS のサポートを定期的に廃止しています</a:t>
            </a:r>
          </a:p>
          <a:p>
            <a:pPr lvl="1">
              <a:spcBef>
                <a:spcPts val="300"/>
              </a:spcBef>
            </a:pPr>
            <a:r>
              <a:rPr sz="1400" b="0">
                <a:solidFill>
                  <a:srgbClr val="333333"/>
                </a:solidFill>
                <a:latin typeface="Yu Gothic UI"/>
                <a:ea typeface="Yu Gothic UI"/>
              </a:rPr>
              <a:t>Windows Server 2016 のサポートは 2022年1月11日に終了し、延長サポートは 2027年1月12日に終了予定です</a:t>
            </a:r>
          </a:p>
          <a:p>
            <a:pPr lvl="1">
              <a:spcBef>
                <a:spcPts val="300"/>
              </a:spcBef>
            </a:pPr>
            <a:r>
              <a:rPr sz="1400" b="0">
                <a:solidFill>
                  <a:srgbClr val="333333"/>
                </a:solidFill>
                <a:latin typeface="Yu Gothic UI"/>
                <a:ea typeface="Yu Gothic UI"/>
              </a:rPr>
              <a:t>MicrosoftWindowsServer オファー配下の Windows Server 2016 Marketplace イメージ（2016-datacenter-gensecond、2016-datacenter、2016-datac…</a:t>
            </a:r>
          </a:p>
          <a:p>
            <a:pPr lvl="1">
              <a:spcBef>
                <a:spcPts val="300"/>
              </a:spcBef>
            </a:pPr>
            <a:r>
              <a:rPr sz="1400" b="0">
                <a:solidFill>
                  <a:srgbClr val="333333"/>
                </a:solidFill>
                <a:latin typeface="Yu Gothic UI"/>
                <a:ea typeface="Yu Gothic UI"/>
              </a:rPr>
              <a:t>該当イメージを使用している場合は 2027年1月12日までにサポート対象の Windows Server イメージへ移行してください</a:t>
            </a:r>
          </a:p>
          <a:p>
            <a:pPr lvl="1">
              <a:spcBef>
                <a:spcPts val="300"/>
              </a:spcBef>
            </a:pPr>
            <a:r>
              <a:rPr sz="1400" b="0">
                <a:solidFill>
                  <a:srgbClr val="333333"/>
                </a:solidFill>
                <a:latin typeface="Yu Gothic UI"/>
                <a:ea typeface="Yu Gothic UI"/>
              </a:rPr>
              <a:t>2027年1月12日以降も Windows Server 2016 が必要な場合は、適切なライセンスと Azure ESU を用いたカスタムイメージへの移行が可能な場合があります</a:t>
            </a:r>
          </a:p>
          <a:p>
            <a:pPr>
              <a:spcBef>
                <a:spcPts val="1400"/>
              </a:spcBef>
            </a:pPr>
            <a:r>
              <a:rPr sz="1300" b="1">
                <a:solidFill>
                  <a:srgbClr val="666666"/>
                </a:solidFill>
                <a:latin typeface="Yu Gothic UI"/>
                <a:ea typeface="Yu Gothic UI"/>
              </a:rPr>
              <a:t>対象製品: Batch</a:t>
            </a:r>
          </a:p>
          <a:p>
            <a:pPr>
              <a:spcBef>
                <a:spcPts val="200"/>
              </a:spcBef>
            </a:pPr>
            <a:r>
              <a:rPr sz="1300" b="0">
                <a:solidFill>
                  <a:srgbClr val="666666"/>
                </a:solidFill>
                <a:latin typeface="Yu Gothic UI"/>
                <a:ea typeface="Yu Gothic UI"/>
              </a:rPr>
              <a:t>作成日: 2026/03/16</a:t>
            </a:r>
          </a:p>
          <a:p>
            <a:pPr>
              <a:spcBef>
                <a:spcPts val="200"/>
              </a:spcBef>
            </a:pPr>
            <a:r>
              <a:rPr sz="1300" b="0">
                <a:solidFill>
                  <a:srgbClr val="666666"/>
                </a:solidFill>
                <a:latin typeface="Yu Gothic UI"/>
                <a:ea typeface="Yu Gothic UI"/>
              </a:rPr>
              <a:t>可用性: Retirement 2027/January</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https://azure.microsoft.com/updates/?id=549077</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000" b="1">
                <a:solidFill>
                  <a:srgbClr val="0078D4"/>
                </a:solidFill>
                <a:latin typeface="Yu Gothic UI"/>
                <a:ea typeface="Yu Gothic UI"/>
              </a:rPr>
              <a:t>廃止予定: Azure Batch プールにおける NVv3 および NVv4 シリーズ Azure 仮想マシンのサポート終了リマインダー</a:t>
            </a:r>
          </a:p>
        </p:txBody>
      </p:sp>
      <p:sp>
        <p:nvSpPr>
          <p:cNvPr id="3" name="Content Placeholder 2"/>
          <p:cNvSpPr>
            <a:spLocks noGrp="1"/>
          </p:cNvSpPr>
          <p:nvPr>
            <p:ph idx="10" sz="quarter"/>
          </p:nvPr>
        </p:nvSpPr>
        <p:spPr>
          <a:xfrm>
            <a:off x="457200" y="939983"/>
            <a:ext cx="10561638" cy="5460817"/>
          </a:xfrm>
        </p:spPr>
        <p:txBody>
          <a:bodyPr lIns="365760" rIns="365760" tIns="91440" bIns="91440" wrap="square"/>
          <a:lstStyle/>
          <a:p>
            <a:pPr>
              <a:spcAft>
                <a:spcPts val="800"/>
              </a:spcAft>
            </a:pPr>
            <a:r>
              <a:rPr sz="1600" b="1">
                <a:solidFill>
                  <a:srgbClr val="D13438"/>
                </a:solidFill>
                <a:latin typeface="Yu Gothic UI"/>
                <a:ea typeface="Yu Gothic UI"/>
              </a:rPr>
              <a:t>【廃止予定】</a:t>
            </a:r>
            <a:r>
              <a:rPr sz="1600" b="1">
                <a:solidFill>
                  <a:srgbClr val="333333"/>
                </a:solidFill>
                <a:latin typeface="Yu Gothic UI"/>
                <a:ea typeface="Yu Gothic UI"/>
              </a:rPr>
              <a:t>  重要度: 高</a:t>
            </a:r>
          </a:p>
          <a:p>
            <a:pPr lvl="1">
              <a:spcBef>
                <a:spcPts val="300"/>
              </a:spcBef>
            </a:pPr>
            <a:r>
              <a:rPr sz="1400" b="0">
                <a:solidFill>
                  <a:srgbClr val="333333"/>
                </a:solidFill>
                <a:latin typeface="Yu Gothic UI"/>
                <a:ea typeface="Yu Gothic UI"/>
              </a:rPr>
              <a:t>Microsoft Azure は NVv3 および NVv4 シリーズ VM のサポートを 2026年9月30日に廃止します</a:t>
            </a:r>
          </a:p>
          <a:p>
            <a:pPr lvl="1">
              <a:spcBef>
                <a:spcPts val="300"/>
              </a:spcBef>
            </a:pPr>
            <a:r>
              <a:rPr sz="1400" b="0">
                <a:solidFill>
                  <a:srgbClr val="333333"/>
                </a:solidFill>
                <a:latin typeface="Yu Gothic UI"/>
                <a:ea typeface="Yu Gothic UI"/>
              </a:rPr>
              <a:t>対象: NVv3 シリーズ (NVIDIA Tesla M60 GPU) - Standard_NV12s_v3、Standard_NV12hs_v3、Standard_NV24s_v3、Standard_NV24ms_v3、Standar…</a:t>
            </a:r>
          </a:p>
          <a:p>
            <a:pPr lvl="1">
              <a:spcBef>
                <a:spcPts val="300"/>
              </a:spcBef>
            </a:pPr>
            <a:r>
              <a:rPr sz="1400" b="0">
                <a:solidFill>
                  <a:srgbClr val="333333"/>
                </a:solidFill>
                <a:latin typeface="Yu Gothic UI"/>
                <a:ea typeface="Yu Gothic UI"/>
              </a:rPr>
              <a:t>NVv4 シリーズ (AMD Radeon Instinct MI25 GPU) - Standard_NV4as_v4、Standard_NV4ahs_v4、Standard_NV8as_v4、Standard_NV8ahs_v4、Sta…</a:t>
            </a:r>
          </a:p>
          <a:p>
            <a:pPr lvl="1">
              <a:spcBef>
                <a:spcPts val="300"/>
              </a:spcBef>
            </a:pPr>
            <a:r>
              <a:rPr sz="1400" b="0">
                <a:solidFill>
                  <a:srgbClr val="333333"/>
                </a:solidFill>
                <a:latin typeface="Yu Gothic UI"/>
                <a:ea typeface="Yu Gothic UI"/>
              </a:rPr>
              <a:t>Azure Batch も同日程でサポートを終了します</a:t>
            </a:r>
          </a:p>
          <a:p>
            <a:pPr lvl="1">
              <a:spcBef>
                <a:spcPts val="300"/>
              </a:spcBef>
            </a:pPr>
            <a:r>
              <a:rPr sz="1400" b="0">
                <a:solidFill>
                  <a:srgbClr val="333333"/>
                </a:solidFill>
                <a:latin typeface="Yu Gothic UI"/>
                <a:ea typeface="Yu Gothic UI"/>
              </a:rPr>
              <a:t>2026年9月30日までに同じ NC プロダクトラインの新しい VM シリーズ、または適切な別の Batch 対応 VM サイズへの移行が必要です</a:t>
            </a:r>
          </a:p>
          <a:p>
            <a:pPr>
              <a:spcBef>
                <a:spcPts val="1400"/>
              </a:spcBef>
            </a:pPr>
            <a:r>
              <a:rPr sz="1300" b="1">
                <a:solidFill>
                  <a:srgbClr val="666666"/>
                </a:solidFill>
                <a:latin typeface="Yu Gothic UI"/>
                <a:ea typeface="Yu Gothic UI"/>
              </a:rPr>
              <a:t>対象製品: Batch</a:t>
            </a:r>
          </a:p>
          <a:p>
            <a:pPr>
              <a:spcBef>
                <a:spcPts val="200"/>
              </a:spcBef>
            </a:pPr>
            <a:r>
              <a:rPr sz="1300" b="0">
                <a:solidFill>
                  <a:srgbClr val="666666"/>
                </a:solidFill>
                <a:latin typeface="Yu Gothic UI"/>
                <a:ea typeface="Yu Gothic UI"/>
              </a:rPr>
              <a:t>作成日: 2026/03/16</a:t>
            </a:r>
          </a:p>
          <a:p>
            <a:pPr>
              <a:spcBef>
                <a:spcPts val="200"/>
              </a:spcBef>
            </a:pPr>
            <a:r>
              <a:rPr sz="1300" b="0">
                <a:solidFill>
                  <a:srgbClr val="666666"/>
                </a:solidFill>
                <a:latin typeface="Yu Gothic UI"/>
                <a:ea typeface="Yu Gothic UI"/>
              </a:rPr>
              <a:t>可用性: Retirement 2026/September</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https://azure.microsoft.com/updates/?id=516070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廃止予定: AKS 向け Flatcar Container Linux（プレビュー）</a:t>
            </a:r>
          </a:p>
        </p:txBody>
      </p:sp>
      <p:sp>
        <p:nvSpPr>
          <p:cNvPr id="3" name="Content Placeholder 2"/>
          <p:cNvSpPr>
            <a:spLocks noGrp="1"/>
          </p:cNvSpPr>
          <p:nvPr>
            <p:ph idx="10" sz="quarter"/>
          </p:nvPr>
        </p:nvSpPr>
        <p:spPr>
          <a:xfrm>
            <a:off x="457200" y="939983"/>
            <a:ext cx="10561638" cy="5460817"/>
          </a:xfrm>
        </p:spPr>
        <p:txBody>
          <a:bodyPr lIns="365760" rIns="365760" tIns="91440" bIns="91440" wrap="square"/>
          <a:lstStyle/>
          <a:p>
            <a:pPr>
              <a:spcAft>
                <a:spcPts val="800"/>
              </a:spcAft>
            </a:pPr>
            <a:r>
              <a:rPr sz="1600" b="1">
                <a:solidFill>
                  <a:srgbClr val="D13438"/>
                </a:solidFill>
                <a:latin typeface="Yu Gothic UI"/>
                <a:ea typeface="Yu Gothic UI"/>
              </a:rPr>
              <a:t>【廃止予定】</a:t>
            </a:r>
            <a:r>
              <a:rPr sz="1600" b="1">
                <a:solidFill>
                  <a:srgbClr val="333333"/>
                </a:solidFill>
                <a:latin typeface="Yu Gothic UI"/>
                <a:ea typeface="Yu Gothic UI"/>
              </a:rPr>
              <a:t>  重要度: 高</a:t>
            </a:r>
          </a:p>
          <a:p>
            <a:pPr lvl="1">
              <a:spcBef>
                <a:spcPts val="300"/>
              </a:spcBef>
            </a:pPr>
            <a:r>
              <a:rPr sz="1400" b="0">
                <a:solidFill>
                  <a:srgbClr val="333333"/>
                </a:solidFill>
                <a:latin typeface="Yu Gothic UI"/>
                <a:ea typeface="Yu Gothic UI"/>
              </a:rPr>
              <a:t>Azure Kubernetes Service (AKS) における Flatcar Container Linux（プレビュー）のサポートが 2026年6月8日に廃止されます</a:t>
            </a:r>
          </a:p>
          <a:p>
            <a:pPr lvl="1">
              <a:spcBef>
                <a:spcPts val="300"/>
              </a:spcBef>
            </a:pPr>
            <a:r>
              <a:rPr sz="1400" b="0">
                <a:solidFill>
                  <a:srgbClr val="333333"/>
                </a:solidFill>
                <a:latin typeface="Yu Gothic UI"/>
                <a:ea typeface="Yu Gothic UI"/>
              </a:rPr>
              <a:t>それまでにサポート対象の代替 OS へ移行してください</a:t>
            </a:r>
          </a:p>
          <a:p>
            <a:pPr lvl="1">
              <a:spcBef>
                <a:spcPts val="300"/>
              </a:spcBef>
            </a:pPr>
            <a:r>
              <a:rPr sz="1400" b="0">
                <a:solidFill>
                  <a:srgbClr val="333333"/>
                </a:solidFill>
                <a:latin typeface="Yu Gothic UI"/>
                <a:ea typeface="Yu Gothic UI"/>
              </a:rPr>
              <a:t>2026年6月7日までは中断なく利用可能です</a:t>
            </a:r>
          </a:p>
          <a:p>
            <a:pPr lvl="1">
              <a:spcBef>
                <a:spcPts val="300"/>
              </a:spcBef>
            </a:pPr>
            <a:r>
              <a:rPr sz="1400" b="0">
                <a:solidFill>
                  <a:srgbClr val="333333"/>
                </a:solidFill>
                <a:latin typeface="Yu Gothic UI"/>
                <a:ea typeface="Yu Gothic UI"/>
              </a:rPr>
              <a:t>2026年6月8日以降、新しいノードプールの作成不可、新しいノードイメージの生成停止、既存ノードプールへのセキュリティパッチ提供停止となります</a:t>
            </a:r>
          </a:p>
          <a:p>
            <a:pPr lvl="1">
              <a:spcBef>
                <a:spcPts val="300"/>
              </a:spcBef>
            </a:pPr>
            <a:r>
              <a:rPr sz="1400" b="0">
                <a:solidFill>
                  <a:srgbClr val="333333"/>
                </a:solidFill>
                <a:latin typeface="Yu Gothic UI"/>
                <a:ea typeface="Yu Gothic UI"/>
              </a:rPr>
              <a:t>2026年9月8日にはノードイメージと既存コードが削除され、スケーリングおよび修復操作が失敗します</a:t>
            </a:r>
          </a:p>
          <a:p>
            <a:pPr>
              <a:spcBef>
                <a:spcPts val="1400"/>
              </a:spcBef>
            </a:pPr>
            <a:r>
              <a:rPr sz="1300" b="1">
                <a:solidFill>
                  <a:srgbClr val="666666"/>
                </a:solidFill>
                <a:latin typeface="Yu Gothic UI"/>
                <a:ea typeface="Yu Gothic UI"/>
              </a:rPr>
              <a:t>対象製品: Azure Kubernetes Service (AKS)</a:t>
            </a:r>
          </a:p>
          <a:p>
            <a:pPr>
              <a:spcBef>
                <a:spcPts val="200"/>
              </a:spcBef>
            </a:pPr>
            <a:r>
              <a:rPr sz="1300" b="0">
                <a:solidFill>
                  <a:srgbClr val="666666"/>
                </a:solidFill>
                <a:latin typeface="Yu Gothic UI"/>
                <a:ea typeface="Yu Gothic UI"/>
              </a:rPr>
              <a:t>作成日: 2026/03/16</a:t>
            </a:r>
          </a:p>
          <a:p>
            <a:pPr>
              <a:spcBef>
                <a:spcPts val="200"/>
              </a:spcBef>
            </a:pPr>
            <a:r>
              <a:rPr sz="1300" b="0">
                <a:solidFill>
                  <a:srgbClr val="666666"/>
                </a:solidFill>
                <a:latin typeface="Yu Gothic UI"/>
                <a:ea typeface="Yu Gothic UI"/>
              </a:rPr>
              <a:t>可用性: Retirement 2026/June</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https://azure.microsoft.com/updates/?id=557929</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一般提供開始: Azure Premium SSD v2 Disk が US Gov Arizona で利用可能に</a:t>
            </a:r>
          </a:p>
        </p:txBody>
      </p:sp>
      <p:sp>
        <p:nvSpPr>
          <p:cNvPr id="3" name="Content Placeholder 2"/>
          <p:cNvSpPr>
            <a:spLocks noGrp="1"/>
          </p:cNvSpPr>
          <p:nvPr>
            <p:ph idx="10" sz="quarter"/>
          </p:nvPr>
        </p:nvSpPr>
        <p:spPr>
          <a:xfrm>
            <a:off x="457200" y="939983"/>
            <a:ext cx="10561638" cy="5460817"/>
          </a:xfrm>
        </p:spPr>
        <p:txBody>
          <a:bodyPr lIns="365760" rIns="365760" tIns="91440" bIns="91440" wrap="square"/>
          <a:lstStyle/>
          <a:p>
            <a:pPr>
              <a:spcAft>
                <a:spcPts val="800"/>
              </a:spcAft>
            </a:pPr>
            <a:r>
              <a:rPr sz="1600" b="1">
                <a:solidFill>
                  <a:srgbClr val="107C10"/>
                </a:solidFill>
                <a:latin typeface="Yu Gothic UI"/>
                <a:ea typeface="Yu Gothic UI"/>
              </a:rPr>
              <a:t>【一般提供開始】</a:t>
            </a:r>
            <a:r>
              <a:rPr sz="1600" b="1">
                <a:solidFill>
                  <a:srgbClr val="333333"/>
                </a:solidFill>
                <a:latin typeface="Yu Gothic UI"/>
                <a:ea typeface="Yu Gothic UI"/>
              </a:rPr>
              <a:t>  重要度: 中</a:t>
            </a:r>
          </a:p>
          <a:p>
            <a:pPr lvl="1">
              <a:spcBef>
                <a:spcPts val="300"/>
              </a:spcBef>
            </a:pPr>
            <a:r>
              <a:rPr sz="1400" b="0">
                <a:solidFill>
                  <a:srgbClr val="333333"/>
                </a:solidFill>
                <a:latin typeface="Yu Gothic UI"/>
                <a:ea typeface="Yu Gothic UI"/>
              </a:rPr>
              <a:t>Azure Premium SSD v2 が US Gov Arizona（Availability Zone 非対応リージョン）で利用可能になりました</a:t>
            </a:r>
          </a:p>
          <a:p>
            <a:pPr lvl="1">
              <a:spcBef>
                <a:spcPts val="300"/>
              </a:spcBef>
            </a:pPr>
            <a:r>
              <a:rPr sz="1400" b="0">
                <a:solidFill>
                  <a:srgbClr val="333333"/>
                </a:solidFill>
                <a:latin typeface="Yu Gothic UI"/>
                <a:ea typeface="Yu Gothic UI"/>
              </a:rPr>
              <a:t>Azure Premium SSD v2 は Azure 仮想マシン向けの次世代汎用ブロックストレージで、サブミリ秒のレイテンシと優れたコストパフォーマンスを IO 集約型ワークロードに低コストで提供します</a:t>
            </a:r>
          </a:p>
          <a:p>
            <a:pPr lvl="1">
              <a:spcBef>
                <a:spcPts val="300"/>
              </a:spcBef>
            </a:pPr>
            <a:r>
              <a:rPr sz="1400" b="0">
                <a:solidFill>
                  <a:srgbClr val="333333"/>
                </a:solidFill>
                <a:latin typeface="Yu Gothic UI"/>
                <a:ea typeface="Yu Gothic UI"/>
              </a:rPr>
              <a:t>SQL Server、Oracle、MariaDB、SAP、Cassandra、MongoDB、ビッグデータ/アナリティクス、仮想マシンやステートフル コンテナー上のゲーミングなど、幅広いエンタープライズ本番シナリオに適しています</a:t>
            </a:r>
          </a:p>
          <a:p>
            <a:pPr>
              <a:spcBef>
                <a:spcPts val="1400"/>
              </a:spcBef>
            </a:pPr>
            <a:r>
              <a:rPr sz="1300" b="1">
                <a:solidFill>
                  <a:srgbClr val="666666"/>
                </a:solidFill>
                <a:latin typeface="Yu Gothic UI"/>
                <a:ea typeface="Yu Gothic UI"/>
              </a:rPr>
              <a:t>対象製品: Azure Disk Storage, Virtual Machines</a:t>
            </a:r>
          </a:p>
          <a:p>
            <a:pPr>
              <a:spcBef>
                <a:spcPts val="200"/>
              </a:spcBef>
            </a:pPr>
            <a:r>
              <a:rPr sz="1300" b="0">
                <a:solidFill>
                  <a:srgbClr val="666666"/>
                </a:solidFill>
                <a:latin typeface="Yu Gothic UI"/>
                <a:ea typeface="Yu Gothic UI"/>
              </a:rPr>
              <a:t>作成日: 2026/03/31</a:t>
            </a:r>
          </a:p>
          <a:p>
            <a:pPr>
              <a:spcBef>
                <a:spcPts val="200"/>
              </a:spcBef>
            </a:pPr>
            <a:r>
              <a:rPr sz="1300" b="0">
                <a:solidFill>
                  <a:srgbClr val="666666"/>
                </a:solidFill>
                <a:latin typeface="Yu Gothic UI"/>
                <a:ea typeface="Yu Gothic UI"/>
              </a:rPr>
              <a:t>可用性: General Availability 2026/March</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https://azure.microsoft.com/updates/?id=559677</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000" b="1">
                <a:solidFill>
                  <a:srgbClr val="0078D4"/>
                </a:solidFill>
                <a:latin typeface="Yu Gothic UI"/>
                <a:ea typeface="Yu Gothic UI"/>
              </a:rPr>
              <a:t>一般提供開始: Azure Red Hat OpenShift が Indonesia Central リージョンで利用可能に</a:t>
            </a:r>
          </a:p>
        </p:txBody>
      </p:sp>
      <p:sp>
        <p:nvSpPr>
          <p:cNvPr id="3" name="Content Placeholder 2"/>
          <p:cNvSpPr>
            <a:spLocks noGrp="1"/>
          </p:cNvSpPr>
          <p:nvPr>
            <p:ph idx="10" sz="quarter"/>
          </p:nvPr>
        </p:nvSpPr>
        <p:spPr>
          <a:xfrm>
            <a:off x="457200" y="939983"/>
            <a:ext cx="10561638" cy="5460817"/>
          </a:xfrm>
        </p:spPr>
        <p:txBody>
          <a:bodyPr lIns="365760" rIns="365760" tIns="91440" bIns="91440" wrap="square"/>
          <a:lstStyle/>
          <a:p>
            <a:pPr>
              <a:spcAft>
                <a:spcPts val="800"/>
              </a:spcAft>
            </a:pPr>
            <a:r>
              <a:rPr sz="1600" b="1">
                <a:solidFill>
                  <a:srgbClr val="107C10"/>
                </a:solidFill>
                <a:latin typeface="Yu Gothic UI"/>
                <a:ea typeface="Yu Gothic UI"/>
              </a:rPr>
              <a:t>【一般提供開始】</a:t>
            </a:r>
            <a:r>
              <a:rPr sz="1600" b="1">
                <a:solidFill>
                  <a:srgbClr val="333333"/>
                </a:solidFill>
                <a:latin typeface="Yu Gothic UI"/>
                <a:ea typeface="Yu Gothic UI"/>
              </a:rPr>
              <a:t>  重要度: 中</a:t>
            </a:r>
          </a:p>
          <a:p>
            <a:pPr lvl="1">
              <a:spcBef>
                <a:spcPts val="300"/>
              </a:spcBef>
            </a:pPr>
            <a:r>
              <a:rPr sz="1400" b="0">
                <a:solidFill>
                  <a:srgbClr val="333333"/>
                </a:solidFill>
                <a:latin typeface="Yu Gothic UI"/>
                <a:ea typeface="Yu Gothic UI"/>
              </a:rPr>
              <a:t>Azure Red Hat OpenShift (ARO) が Indonesia Central Azure リージョンで一般提供開始されました</a:t>
            </a:r>
          </a:p>
          <a:p>
            <a:pPr lvl="1">
              <a:spcBef>
                <a:spcPts val="300"/>
              </a:spcBef>
            </a:pPr>
            <a:r>
              <a:rPr sz="1400" b="0">
                <a:solidFill>
                  <a:srgbClr val="333333"/>
                </a:solidFill>
                <a:latin typeface="Yu Gothic UI"/>
                <a:ea typeface="Yu Gothic UI"/>
              </a:rPr>
              <a:t>インドネシアおよび東南アジア地域のお客様が、Azure のセキュリティ、ネットワーキング、運用と統合されたフルマネージドの Red Hat OpenShift クラスターを展開できます</a:t>
            </a:r>
          </a:p>
          <a:p>
            <a:pPr lvl="1">
              <a:spcBef>
                <a:spcPts val="300"/>
              </a:spcBef>
            </a:pPr>
            <a:r>
              <a:rPr sz="1400" b="0">
                <a:solidFill>
                  <a:srgbClr val="333333"/>
                </a:solidFill>
                <a:latin typeface="Yu Gothic UI"/>
                <a:ea typeface="Yu Gothic UI"/>
              </a:rPr>
              <a:t>ローカルデータ所在地要件への対応、エンドユーザーに近い場所でのレイテンシに敏感なワークロードの実行、アプリケーションの最新化が可能です</a:t>
            </a:r>
          </a:p>
          <a:p>
            <a:pPr lvl="1">
              <a:spcBef>
                <a:spcPts val="300"/>
              </a:spcBef>
            </a:pPr>
            <a:r>
              <a:rPr sz="1400" b="0">
                <a:solidFill>
                  <a:srgbClr val="333333"/>
                </a:solidFill>
                <a:latin typeface="Yu Gothic UI"/>
                <a:ea typeface="Yu Gothic UI"/>
              </a:rPr>
              <a:t>アップグレード、パッチ適用、クラスター管理などの Day-2 運用は Microsoft と Red Hat が担当します</a:t>
            </a:r>
          </a:p>
          <a:p>
            <a:pPr>
              <a:spcBef>
                <a:spcPts val="1400"/>
              </a:spcBef>
            </a:pPr>
            <a:r>
              <a:rPr sz="1300" b="1">
                <a:solidFill>
                  <a:srgbClr val="666666"/>
                </a:solidFill>
                <a:latin typeface="Yu Gothic UI"/>
                <a:ea typeface="Yu Gothic UI"/>
              </a:rPr>
              <a:t>対象製品: Azure Red Hat OpenShift</a:t>
            </a:r>
          </a:p>
          <a:p>
            <a:pPr>
              <a:spcBef>
                <a:spcPts val="200"/>
              </a:spcBef>
            </a:pPr>
            <a:r>
              <a:rPr sz="1300" b="0">
                <a:solidFill>
                  <a:srgbClr val="666666"/>
                </a:solidFill>
                <a:latin typeface="Yu Gothic UI"/>
                <a:ea typeface="Yu Gothic UI"/>
              </a:rPr>
              <a:t>作成日: 2026/03/30</a:t>
            </a:r>
          </a:p>
          <a:p>
            <a:pPr>
              <a:spcBef>
                <a:spcPts val="200"/>
              </a:spcBef>
            </a:pPr>
            <a:r>
              <a:rPr sz="1300" b="0">
                <a:solidFill>
                  <a:srgbClr val="666666"/>
                </a:solidFill>
                <a:latin typeface="Yu Gothic UI"/>
                <a:ea typeface="Yu Gothic UI"/>
              </a:rPr>
              <a:t>可用性: General Availability 2026/March</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https://azure.microsoft.com/updates/?id=559552</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一般提供開始: Azure Premium SSD v2 Disk が南インドリージョンで利用可能に</a:t>
            </a:r>
          </a:p>
        </p:txBody>
      </p:sp>
      <p:sp>
        <p:nvSpPr>
          <p:cNvPr id="3" name="Content Placeholder 2"/>
          <p:cNvSpPr>
            <a:spLocks noGrp="1"/>
          </p:cNvSpPr>
          <p:nvPr>
            <p:ph idx="10" sz="quarter"/>
          </p:nvPr>
        </p:nvSpPr>
        <p:spPr>
          <a:xfrm>
            <a:off x="457200" y="939983"/>
            <a:ext cx="10561638" cy="5460817"/>
          </a:xfrm>
        </p:spPr>
        <p:txBody>
          <a:bodyPr lIns="365760" rIns="365760" tIns="91440" bIns="91440" wrap="square"/>
          <a:lstStyle/>
          <a:p>
            <a:pPr>
              <a:spcAft>
                <a:spcPts val="800"/>
              </a:spcAft>
            </a:pPr>
            <a:r>
              <a:rPr sz="1600" b="1">
                <a:solidFill>
                  <a:srgbClr val="107C10"/>
                </a:solidFill>
                <a:latin typeface="Yu Gothic UI"/>
                <a:ea typeface="Yu Gothic UI"/>
              </a:rPr>
              <a:t>【一般提供開始】</a:t>
            </a:r>
            <a:r>
              <a:rPr sz="1600" b="1">
                <a:solidFill>
                  <a:srgbClr val="333333"/>
                </a:solidFill>
                <a:latin typeface="Yu Gothic UI"/>
                <a:ea typeface="Yu Gothic UI"/>
              </a:rPr>
              <a:t>  重要度: 中</a:t>
            </a:r>
          </a:p>
          <a:p>
            <a:pPr lvl="1">
              <a:spcBef>
                <a:spcPts val="300"/>
              </a:spcBef>
            </a:pPr>
            <a:r>
              <a:rPr sz="1400" b="0">
                <a:solidFill>
                  <a:srgbClr val="333333"/>
                </a:solidFill>
                <a:latin typeface="Yu Gothic UI"/>
                <a:ea typeface="Yu Gothic UI"/>
              </a:rPr>
              <a:t>Azure Premium SSD v2 が南インド（Availability Zone なしのリージョン）で利用可能になりました</a:t>
            </a:r>
          </a:p>
          <a:p>
            <a:pPr lvl="1">
              <a:spcBef>
                <a:spcPts val="300"/>
              </a:spcBef>
            </a:pPr>
            <a:r>
              <a:rPr sz="1400" b="0">
                <a:solidFill>
                  <a:srgbClr val="333333"/>
                </a:solidFill>
                <a:latin typeface="Yu Gothic UI"/>
                <a:ea typeface="Yu Gothic UI"/>
              </a:rPr>
              <a:t>Azure Premium SSD v2 Disk は Azure 仮想マシン向けの次世代汎用ブロックストレージで、サブミリ秒のレイテンシと優れたコストパフォーマンスを IO 集約型ワークロードに提供します</a:t>
            </a:r>
          </a:p>
          <a:p>
            <a:pPr lvl="1">
              <a:spcBef>
                <a:spcPts val="300"/>
              </a:spcBef>
            </a:pPr>
            <a:r>
              <a:rPr sz="1400" b="0">
                <a:solidFill>
                  <a:srgbClr val="333333"/>
                </a:solidFill>
                <a:latin typeface="Yu Gothic UI"/>
                <a:ea typeface="Yu Gothic UI"/>
              </a:rPr>
              <a:t>SQL Server、Oracle、MariaDB、SAP、Cassandra、MongoDB、ビッグデータ/分析、ゲームなど幅広いエンタープライズ本番シナリオに適しています</a:t>
            </a:r>
          </a:p>
          <a:p>
            <a:pPr>
              <a:spcBef>
                <a:spcPts val="1400"/>
              </a:spcBef>
            </a:pPr>
            <a:r>
              <a:rPr sz="1300" b="1">
                <a:solidFill>
                  <a:srgbClr val="666666"/>
                </a:solidFill>
                <a:latin typeface="Yu Gothic UI"/>
                <a:ea typeface="Yu Gothic UI"/>
              </a:rPr>
              <a:t>対象製品: Azure Disk Storage, Virtual Machines</a:t>
            </a:r>
          </a:p>
          <a:p>
            <a:pPr>
              <a:spcBef>
                <a:spcPts val="200"/>
              </a:spcBef>
            </a:pPr>
            <a:r>
              <a:rPr sz="1300" b="0">
                <a:solidFill>
                  <a:srgbClr val="666666"/>
                </a:solidFill>
                <a:latin typeface="Yu Gothic UI"/>
                <a:ea typeface="Yu Gothic UI"/>
              </a:rPr>
              <a:t>作成日: 2026/03/30</a:t>
            </a:r>
          </a:p>
          <a:p>
            <a:pPr>
              <a:spcBef>
                <a:spcPts val="200"/>
              </a:spcBef>
            </a:pPr>
            <a:r>
              <a:rPr sz="1300" b="0">
                <a:solidFill>
                  <a:srgbClr val="666666"/>
                </a:solidFill>
                <a:latin typeface="Yu Gothic UI"/>
                <a:ea typeface="Yu Gothic UI"/>
              </a:rPr>
              <a:t>可用性: General Availability 2026/March</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https://azure.microsoft.com/updates/?id=559526</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一般提供開始: AKS のコンテナーネットワークメトリクスフィルタリング</a:t>
            </a:r>
          </a:p>
        </p:txBody>
      </p:sp>
      <p:sp>
        <p:nvSpPr>
          <p:cNvPr id="3" name="Content Placeholder 2"/>
          <p:cNvSpPr>
            <a:spLocks noGrp="1"/>
          </p:cNvSpPr>
          <p:nvPr>
            <p:ph idx="10" sz="quarter"/>
          </p:nvPr>
        </p:nvSpPr>
        <p:spPr>
          <a:xfrm>
            <a:off x="457200" y="939983"/>
            <a:ext cx="10561638" cy="5460817"/>
          </a:xfrm>
        </p:spPr>
        <p:txBody>
          <a:bodyPr lIns="365760" rIns="365760" tIns="91440" bIns="91440" wrap="square"/>
          <a:lstStyle/>
          <a:p>
            <a:pPr>
              <a:spcAft>
                <a:spcPts val="800"/>
              </a:spcAft>
            </a:pPr>
            <a:r>
              <a:rPr sz="1600" b="1">
                <a:solidFill>
                  <a:srgbClr val="107C10"/>
                </a:solidFill>
                <a:latin typeface="Yu Gothic UI"/>
                <a:ea typeface="Yu Gothic UI"/>
              </a:rPr>
              <a:t>【一般提供開始】</a:t>
            </a:r>
            <a:r>
              <a:rPr sz="1600" b="1">
                <a:solidFill>
                  <a:srgbClr val="333333"/>
                </a:solidFill>
                <a:latin typeface="Yu Gothic UI"/>
                <a:ea typeface="Yu Gothic UI"/>
              </a:rPr>
              <a:t>  重要度: 中</a:t>
            </a:r>
          </a:p>
          <a:p>
            <a:pPr lvl="1">
              <a:spcBef>
                <a:spcPts val="300"/>
              </a:spcBef>
            </a:pPr>
            <a:r>
              <a:rPr sz="1400" b="0">
                <a:solidFill>
                  <a:srgbClr val="333333"/>
                </a:solidFill>
                <a:latin typeface="Yu Gothic UI"/>
                <a:ea typeface="Yu Gothic UI"/>
              </a:rPr>
              <a:t>ネットワーク可観測性は大量のメトリクスを生成し、運用上重要なデータへの集中を困難にします</a:t>
            </a:r>
          </a:p>
          <a:p>
            <a:pPr lvl="1">
              <a:spcBef>
                <a:spcPts val="300"/>
              </a:spcBef>
            </a:pPr>
            <a:r>
              <a:rPr sz="1400" b="0">
                <a:solidFill>
                  <a:srgbClr val="333333"/>
                </a:solidFill>
                <a:latin typeface="Yu Gothic UI"/>
                <a:ea typeface="Yu Gothic UI"/>
              </a:rPr>
              <a:t>Azure Container Networking Services (ACNS) のコンテナーネットワークメトリクスフィルタリングにより、Kubernetes カスタムリソースを使用して収集するコンテナーレベルのネットワークメトリクスを…</a:t>
            </a:r>
          </a:p>
          <a:p>
            <a:pPr lvl="1">
              <a:spcBef>
                <a:spcPts val="300"/>
              </a:spcBef>
            </a:pPr>
            <a:r>
              <a:rPr sz="1400" b="0">
                <a:solidFill>
                  <a:srgbClr val="333333"/>
                </a:solidFill>
                <a:latin typeface="Yu Gothic UI"/>
                <a:ea typeface="Yu Gothic UI"/>
              </a:rPr>
              <a:t>監視ノイズの削減、データ量の管理、ダッシュボードのアクショナブルなシグナルへの集中を支援します</a:t>
            </a:r>
          </a:p>
          <a:p>
            <a:pPr>
              <a:spcBef>
                <a:spcPts val="1400"/>
              </a:spcBef>
            </a:pPr>
            <a:r>
              <a:rPr sz="1300" b="1">
                <a:solidFill>
                  <a:srgbClr val="666666"/>
                </a:solidFill>
                <a:latin typeface="Yu Gothic UI"/>
                <a:ea typeface="Yu Gothic UI"/>
              </a:rPr>
              <a:t>対象製品: Azure Kubernetes Service (AKS)</a:t>
            </a:r>
          </a:p>
          <a:p>
            <a:pPr>
              <a:spcBef>
                <a:spcPts val="200"/>
              </a:spcBef>
            </a:pPr>
            <a:r>
              <a:rPr sz="1300" b="0">
                <a:solidFill>
                  <a:srgbClr val="666666"/>
                </a:solidFill>
                <a:latin typeface="Yu Gothic UI"/>
                <a:ea typeface="Yu Gothic UI"/>
              </a:rPr>
              <a:t>作成日: 2026/03/24</a:t>
            </a:r>
          </a:p>
          <a:p>
            <a:pPr>
              <a:spcBef>
                <a:spcPts val="200"/>
              </a:spcBef>
            </a:pPr>
            <a:r>
              <a:rPr sz="1300" b="0">
                <a:solidFill>
                  <a:srgbClr val="666666"/>
                </a:solidFill>
                <a:latin typeface="Yu Gothic UI"/>
                <a:ea typeface="Yu Gothic UI"/>
              </a:rPr>
              <a:t>可用性: General Availability 2026/March</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https://azure.microsoft.com/updates/?id=557902</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一般提供開始: AKS のコンテナーネットワークログ</a:t>
            </a:r>
          </a:p>
        </p:txBody>
      </p:sp>
      <p:sp>
        <p:nvSpPr>
          <p:cNvPr id="3" name="Content Placeholder 2"/>
          <p:cNvSpPr>
            <a:spLocks noGrp="1"/>
          </p:cNvSpPr>
          <p:nvPr>
            <p:ph idx="10" sz="quarter"/>
          </p:nvPr>
        </p:nvSpPr>
        <p:spPr>
          <a:xfrm>
            <a:off x="457200" y="939983"/>
            <a:ext cx="10561638" cy="5460817"/>
          </a:xfrm>
        </p:spPr>
        <p:txBody>
          <a:bodyPr lIns="365760" rIns="365760" tIns="91440" bIns="91440" wrap="square"/>
          <a:lstStyle/>
          <a:p>
            <a:pPr>
              <a:spcAft>
                <a:spcPts val="800"/>
              </a:spcAft>
            </a:pPr>
            <a:r>
              <a:rPr sz="1600" b="1">
                <a:solidFill>
                  <a:srgbClr val="107C10"/>
                </a:solidFill>
                <a:latin typeface="Yu Gothic UI"/>
                <a:ea typeface="Yu Gothic UI"/>
              </a:rPr>
              <a:t>【一般提供開始】</a:t>
            </a:r>
            <a:r>
              <a:rPr sz="1600" b="1">
                <a:solidFill>
                  <a:srgbClr val="333333"/>
                </a:solidFill>
                <a:latin typeface="Yu Gothic UI"/>
                <a:ea typeface="Yu Gothic UI"/>
              </a:rPr>
              <a:t>  重要度: 中</a:t>
            </a:r>
          </a:p>
          <a:p>
            <a:pPr lvl="1">
              <a:spcBef>
                <a:spcPts val="300"/>
              </a:spcBef>
            </a:pPr>
            <a:r>
              <a:rPr sz="1400" b="0">
                <a:solidFill>
                  <a:srgbClr val="333333"/>
                </a:solidFill>
                <a:latin typeface="Yu Gothic UI"/>
                <a:ea typeface="Yu Gothic UI"/>
              </a:rPr>
              <a:t>Kubernetes 環境のネットワーク問題は、トラフィックフローの可視性不足と障害のコンテキスト不足により診断が困難です</a:t>
            </a:r>
          </a:p>
          <a:p>
            <a:pPr lvl="1">
              <a:spcBef>
                <a:spcPts val="300"/>
              </a:spcBef>
            </a:pPr>
            <a:r>
              <a:rPr sz="1400" b="0">
                <a:solidFill>
                  <a:srgbClr val="333333"/>
                </a:solidFill>
                <a:latin typeface="Yu Gothic UI"/>
                <a:ea typeface="Yu Gothic UI"/>
              </a:rPr>
              <a:t>AKS のコンテナーネットワークログが一般提供開始され、IP、ポート、名前空間、Pod・サービス名、フロー方向、ポリシー判定など詳細なフローごとのメタデータを L3/L4 および HTTP、gRPC、Kafka などの L7 プロトコルで取…</a:t>
            </a:r>
          </a:p>
          <a:p>
            <a:pPr lvl="1">
              <a:spcBef>
                <a:spcPts val="300"/>
              </a:spcBef>
            </a:pPr>
            <a:r>
              <a:rPr sz="1400" b="0">
                <a:solidFill>
                  <a:srgbClr val="333333"/>
                </a:solidFill>
                <a:latin typeface="Yu Gothic UI"/>
                <a:ea typeface="Yu Gothic UI"/>
              </a:rPr>
              <a:t>継続的なフィルターベースの収集用ストアドログと、ターゲットスナップショット用のオンデマンドログの両方をサポートします</a:t>
            </a:r>
          </a:p>
          <a:p>
            <a:pPr>
              <a:spcBef>
                <a:spcPts val="1400"/>
              </a:spcBef>
            </a:pPr>
            <a:r>
              <a:rPr sz="1300" b="1">
                <a:solidFill>
                  <a:srgbClr val="666666"/>
                </a:solidFill>
                <a:latin typeface="Yu Gothic UI"/>
                <a:ea typeface="Yu Gothic UI"/>
              </a:rPr>
              <a:t>対象製品: Azure Kubernetes Service (AKS)</a:t>
            </a:r>
          </a:p>
          <a:p>
            <a:pPr>
              <a:spcBef>
                <a:spcPts val="200"/>
              </a:spcBef>
            </a:pPr>
            <a:r>
              <a:rPr sz="1300" b="0">
                <a:solidFill>
                  <a:srgbClr val="666666"/>
                </a:solidFill>
                <a:latin typeface="Yu Gothic UI"/>
                <a:ea typeface="Yu Gothic UI"/>
              </a:rPr>
              <a:t>作成日: 2026/03/24</a:t>
            </a:r>
          </a:p>
          <a:p>
            <a:pPr>
              <a:spcBef>
                <a:spcPts val="200"/>
              </a:spcBef>
            </a:pPr>
            <a:r>
              <a:rPr sz="1300" b="0">
                <a:solidFill>
                  <a:srgbClr val="666666"/>
                </a:solidFill>
                <a:latin typeface="Yu Gothic UI"/>
                <a:ea typeface="Yu Gothic UI"/>
              </a:rPr>
              <a:t>可用性: General Availability 2026/March</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https://azure.microsoft.com/updates/?id=557892</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000" b="1">
                <a:solidFill>
                  <a:srgbClr val="0078D4"/>
                </a:solidFill>
                <a:latin typeface="Yu Gothic UI"/>
                <a:ea typeface="Yu Gothic UI"/>
              </a:rPr>
              <a:t>一般提供開始: Azure Container Storage v2.1.0 で Elastic SAN 統合とオンデマンドインストールに対応</a:t>
            </a:r>
          </a:p>
        </p:txBody>
      </p:sp>
      <p:sp>
        <p:nvSpPr>
          <p:cNvPr id="3" name="Content Placeholder 2"/>
          <p:cNvSpPr>
            <a:spLocks noGrp="1"/>
          </p:cNvSpPr>
          <p:nvPr>
            <p:ph idx="10" sz="quarter"/>
          </p:nvPr>
        </p:nvSpPr>
        <p:spPr>
          <a:xfrm>
            <a:off x="457200" y="939983"/>
            <a:ext cx="10561638" cy="5460817"/>
          </a:xfrm>
        </p:spPr>
        <p:txBody>
          <a:bodyPr lIns="365760" rIns="365760" tIns="91440" bIns="91440" wrap="square"/>
          <a:lstStyle/>
          <a:p>
            <a:pPr>
              <a:spcAft>
                <a:spcPts val="800"/>
              </a:spcAft>
            </a:pPr>
            <a:r>
              <a:rPr sz="1600" b="1">
                <a:solidFill>
                  <a:srgbClr val="107C10"/>
                </a:solidFill>
                <a:latin typeface="Yu Gothic UI"/>
                <a:ea typeface="Yu Gothic UI"/>
              </a:rPr>
              <a:t>【一般提供開始】</a:t>
            </a:r>
            <a:r>
              <a:rPr sz="1600" b="1">
                <a:solidFill>
                  <a:srgbClr val="333333"/>
                </a:solidFill>
                <a:latin typeface="Yu Gothic UI"/>
                <a:ea typeface="Yu Gothic UI"/>
              </a:rPr>
              <a:t>  重要度: 中</a:t>
            </a:r>
          </a:p>
          <a:p>
            <a:pPr lvl="1">
              <a:spcBef>
                <a:spcPts val="300"/>
              </a:spcBef>
            </a:pPr>
            <a:r>
              <a:rPr sz="1400" b="0">
                <a:solidFill>
                  <a:srgbClr val="333333"/>
                </a:solidFill>
                <a:latin typeface="Yu Gothic UI"/>
                <a:ea typeface="Yu Gothic UI"/>
              </a:rPr>
              <a:t>コンテナー化されたワークロードは、多数の個別ディスクを管理せずにより高く安定したストレージパフォーマンスを必要とします</a:t>
            </a:r>
          </a:p>
          <a:p>
            <a:pPr lvl="1">
              <a:spcBef>
                <a:spcPts val="300"/>
              </a:spcBef>
            </a:pPr>
            <a:r>
              <a:rPr sz="1400" b="0">
                <a:solidFill>
                  <a:srgbClr val="333333"/>
                </a:solidFill>
                <a:latin typeface="Yu Gothic UI"/>
                <a:ea typeface="Yu Gothic UI"/>
              </a:rPr>
              <a:t>Azure Container Storage と Elastic SAN の統合により、Kubernetes クラスターが共有プールからストレージ容量とパフォーマンスを使用できます</a:t>
            </a:r>
          </a:p>
          <a:p>
            <a:pPr lvl="1">
              <a:spcBef>
                <a:spcPts val="300"/>
              </a:spcBef>
            </a:pPr>
            <a:r>
              <a:rPr sz="1400" b="0">
                <a:solidFill>
                  <a:srgbClr val="333333"/>
                </a:solidFill>
                <a:latin typeface="Yu Gothic UI"/>
                <a:ea typeface="Yu Gothic UI"/>
              </a:rPr>
              <a:t>プロビジョニングが簡素化され、使用率が向上し、一元管理されたストレージモデルで可変ストレージ需要のワークロードをサポートします</a:t>
            </a:r>
          </a:p>
          <a:p>
            <a:pPr>
              <a:spcBef>
                <a:spcPts val="1400"/>
              </a:spcBef>
            </a:pPr>
            <a:r>
              <a:rPr sz="1300" b="1">
                <a:solidFill>
                  <a:srgbClr val="666666"/>
                </a:solidFill>
                <a:latin typeface="Yu Gothic UI"/>
                <a:ea typeface="Yu Gothic UI"/>
              </a:rPr>
              <a:t>対象製品: Azure Container Storage, Azure Kubernetes Service (AKS)</a:t>
            </a:r>
          </a:p>
          <a:p>
            <a:pPr>
              <a:spcBef>
                <a:spcPts val="200"/>
              </a:spcBef>
            </a:pPr>
            <a:r>
              <a:rPr sz="1300" b="0">
                <a:solidFill>
                  <a:srgbClr val="666666"/>
                </a:solidFill>
                <a:latin typeface="Yu Gothic UI"/>
                <a:ea typeface="Yu Gothic UI"/>
              </a:rPr>
              <a:t>作成日: 2026/03/24</a:t>
            </a:r>
          </a:p>
          <a:p>
            <a:pPr>
              <a:spcBef>
                <a:spcPts val="200"/>
              </a:spcBef>
            </a:pPr>
            <a:r>
              <a:rPr sz="1300" b="0">
                <a:solidFill>
                  <a:srgbClr val="666666"/>
                </a:solidFill>
                <a:latin typeface="Yu Gothic UI"/>
                <a:ea typeface="Yu Gothic UI"/>
              </a:rPr>
              <a:t>可用性: General Availability 2026/March</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https://azure.microsoft.com/updates/?id=557912</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000" b="1">
                <a:solidFill>
                  <a:srgbClr val="0078D4"/>
                </a:solidFill>
                <a:latin typeface="Yu Gothic UI"/>
                <a:ea typeface="Yu Gothic UI"/>
              </a:rPr>
              <a:t>一般提供開始: Azure Red Hat OpenShift の Managed Identity と Workload Identity</a:t>
            </a:r>
          </a:p>
        </p:txBody>
      </p:sp>
      <p:sp>
        <p:nvSpPr>
          <p:cNvPr id="3" name="Content Placeholder 2"/>
          <p:cNvSpPr>
            <a:spLocks noGrp="1"/>
          </p:cNvSpPr>
          <p:nvPr>
            <p:ph idx="10" sz="quarter"/>
          </p:nvPr>
        </p:nvSpPr>
        <p:spPr>
          <a:xfrm>
            <a:off x="457200" y="939983"/>
            <a:ext cx="10561638" cy="5460817"/>
          </a:xfrm>
        </p:spPr>
        <p:txBody>
          <a:bodyPr lIns="365760" rIns="365760" tIns="91440" bIns="91440" wrap="square"/>
          <a:lstStyle/>
          <a:p>
            <a:pPr>
              <a:spcAft>
                <a:spcPts val="800"/>
              </a:spcAft>
            </a:pPr>
            <a:r>
              <a:rPr sz="1600" b="1">
                <a:solidFill>
                  <a:srgbClr val="107C10"/>
                </a:solidFill>
                <a:latin typeface="Yu Gothic UI"/>
                <a:ea typeface="Yu Gothic UI"/>
              </a:rPr>
              <a:t>【一般提供開始】</a:t>
            </a:r>
            <a:r>
              <a:rPr sz="1600" b="1">
                <a:solidFill>
                  <a:srgbClr val="333333"/>
                </a:solidFill>
                <a:latin typeface="Yu Gothic UI"/>
                <a:ea typeface="Yu Gothic UI"/>
              </a:rPr>
              <a:t>  重要度: 中</a:t>
            </a:r>
          </a:p>
          <a:p>
            <a:pPr lvl="1">
              <a:spcBef>
                <a:spcPts val="300"/>
              </a:spcBef>
            </a:pPr>
            <a:r>
              <a:rPr sz="1400" b="0">
                <a:solidFill>
                  <a:srgbClr val="333333"/>
                </a:solidFill>
                <a:latin typeface="Yu Gothic UI"/>
                <a:ea typeface="Yu Gothic UI"/>
              </a:rPr>
              <a:t>Azure Red Hat OpenShift でマネージド ID とワークロード ID が一般提供開始</a:t>
            </a:r>
          </a:p>
          <a:p>
            <a:pPr lvl="1">
              <a:spcBef>
                <a:spcPts val="300"/>
              </a:spcBef>
            </a:pPr>
            <a:r>
              <a:rPr sz="1400" b="0">
                <a:solidFill>
                  <a:srgbClr val="333333"/>
                </a:solidFill>
                <a:latin typeface="Yu Gothic UI"/>
                <a:ea typeface="Yu Gothic UI"/>
              </a:rPr>
              <a:t>長期間有効なサービスプリンシパル資格情報なしで OpenShift クラスターとアプリケーションを Azure 上で実行可能に</a:t>
            </a:r>
          </a:p>
          <a:p>
            <a:pPr lvl="1">
              <a:spcBef>
                <a:spcPts val="300"/>
              </a:spcBef>
            </a:pPr>
            <a:r>
              <a:rPr sz="1400" b="0">
                <a:solidFill>
                  <a:srgbClr val="333333"/>
                </a:solidFill>
                <a:latin typeface="Yu Gothic UI"/>
                <a:ea typeface="Yu Gothic UI"/>
              </a:rPr>
              <a:t>Azure 全体で使用される短期トークンおよび最小特権 ID パターンに準拠し、既存の Azure ID、アクセス、ガバナンスモデルとの統合を維持</a:t>
            </a:r>
          </a:p>
          <a:p>
            <a:pPr>
              <a:spcBef>
                <a:spcPts val="1400"/>
              </a:spcBef>
            </a:pPr>
            <a:r>
              <a:rPr sz="1300" b="1">
                <a:solidFill>
                  <a:srgbClr val="666666"/>
                </a:solidFill>
                <a:latin typeface="Yu Gothic UI"/>
                <a:ea typeface="Yu Gothic UI"/>
              </a:rPr>
              <a:t>対象製品: Azure Red Hat OpenShift</a:t>
            </a:r>
          </a:p>
          <a:p>
            <a:pPr>
              <a:spcBef>
                <a:spcPts val="200"/>
              </a:spcBef>
            </a:pPr>
            <a:r>
              <a:rPr sz="1300" b="0">
                <a:solidFill>
                  <a:srgbClr val="666666"/>
                </a:solidFill>
                <a:latin typeface="Yu Gothic UI"/>
                <a:ea typeface="Yu Gothic UI"/>
              </a:rPr>
              <a:t>作成日: 2026/03/18</a:t>
            </a:r>
          </a:p>
          <a:p>
            <a:pPr>
              <a:spcBef>
                <a:spcPts val="200"/>
              </a:spcBef>
            </a:pPr>
            <a:r>
              <a:rPr sz="1300" b="0">
                <a:solidFill>
                  <a:srgbClr val="666666"/>
                </a:solidFill>
                <a:latin typeface="Yu Gothic UI"/>
                <a:ea typeface="Yu Gothic UI"/>
              </a:rPr>
              <a:t>可用性: General Availability 2026/March</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https://azure.microsoft.com/updates/?id=557917</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パブリックプレビュー: VM/VMSS 向けフルキャッシュ対応エフェメラル OS ディスク</a:t>
            </a:r>
          </a:p>
        </p:txBody>
      </p:sp>
      <p:sp>
        <p:nvSpPr>
          <p:cNvPr id="3" name="Content Placeholder 2"/>
          <p:cNvSpPr>
            <a:spLocks noGrp="1"/>
          </p:cNvSpPr>
          <p:nvPr>
            <p:ph idx="10" sz="quarter"/>
          </p:nvPr>
        </p:nvSpPr>
        <p:spPr>
          <a:xfrm>
            <a:off x="457200" y="939983"/>
            <a:ext cx="10561638" cy="5460817"/>
          </a:xfrm>
        </p:spPr>
        <p:txBody>
          <a:bodyPr lIns="365760" rIns="365760" tIns="91440" bIns="91440" wrap="square"/>
          <a:lstStyle/>
          <a:p>
            <a:pPr>
              <a:spcAft>
                <a:spcPts val="800"/>
              </a:spcAft>
            </a:pPr>
            <a:r>
              <a:rPr sz="1600" b="1">
                <a:solidFill>
                  <a:srgbClr val="CA5010"/>
                </a:solidFill>
                <a:latin typeface="Yu Gothic UI"/>
                <a:ea typeface="Yu Gothic UI"/>
              </a:rPr>
              <a:t>【パブリックプレビュー】</a:t>
            </a:r>
            <a:r>
              <a:rPr sz="1600" b="1">
                <a:solidFill>
                  <a:srgbClr val="333333"/>
                </a:solidFill>
                <a:latin typeface="Yu Gothic UI"/>
                <a:ea typeface="Yu Gothic UI"/>
              </a:rPr>
              <a:t>  重要度: 低</a:t>
            </a:r>
          </a:p>
          <a:p>
            <a:pPr lvl="1">
              <a:spcBef>
                <a:spcPts val="300"/>
              </a:spcBef>
            </a:pPr>
            <a:r>
              <a:rPr sz="1400" b="0">
                <a:solidFill>
                  <a:srgbClr val="333333"/>
                </a:solidFill>
                <a:latin typeface="Yu Gothic UI"/>
                <a:ea typeface="Yu Gothic UI"/>
              </a:rPr>
              <a:t>フルキャッシュ対応のエフェメラル OS ディスクが Azure VM/VMSS のパブリックプレビューとして利用可能になりました</a:t>
            </a:r>
          </a:p>
          <a:p>
            <a:pPr lvl="1">
              <a:spcBef>
                <a:spcPts val="300"/>
              </a:spcBef>
            </a:pPr>
            <a:r>
              <a:rPr sz="1400" b="0">
                <a:solidFill>
                  <a:srgbClr val="333333"/>
                </a:solidFill>
                <a:latin typeface="Yu Gothic UI"/>
                <a:ea typeface="Yu Gothic UI"/>
              </a:rPr>
              <a:t>OS ディスクイメージ全体をローカル VM ストレージ（キャッシュディスク、リソースディスク、NVMe ディスク）にキャッシュすることで、IO パフォーマンスの向上と一貫した低レイテンシを実現し、リモートストレージの障害時にも高い回復力を提…</a:t>
            </a:r>
          </a:p>
          <a:p>
            <a:pPr lvl="1">
              <a:spcBef>
                <a:spcPts val="300"/>
              </a:spcBef>
            </a:pPr>
            <a:r>
              <a:rPr sz="1400" b="0">
                <a:solidFill>
                  <a:srgbClr val="333333"/>
                </a:solidFill>
                <a:latin typeface="Yu Gothic UI"/>
                <a:ea typeface="Yu Gothic UI"/>
              </a:rPr>
              <a:t>AI ワークロード、クォーラムベースのデータベース、データ分析、General Purpose VM ファミリーの大規模ステートレスサービスなど、ステートレスかつ IO に敏感なワークロードに有用です</a:t>
            </a:r>
          </a:p>
          <a:p>
            <a:pPr lvl="1">
              <a:spcBef>
                <a:spcPts val="300"/>
              </a:spcBef>
            </a:pPr>
            <a:r>
              <a:rPr sz="1400" b="0">
                <a:solidFill>
                  <a:srgbClr val="333333"/>
                </a:solidFill>
                <a:latin typeface="Yu Gothic UI"/>
                <a:ea typeface="Yu Gothic UI"/>
              </a:rPr>
              <a:t>Central US のほとんどの General Purpose VM SKU（2 コアおよび 4 コア VM を除く）で利用開始可能です</a:t>
            </a:r>
          </a:p>
          <a:p>
            <a:pPr>
              <a:spcBef>
                <a:spcPts val="1400"/>
              </a:spcBef>
            </a:pPr>
            <a:r>
              <a:rPr sz="1300" b="1">
                <a:solidFill>
                  <a:srgbClr val="666666"/>
                </a:solidFill>
                <a:latin typeface="Yu Gothic UI"/>
                <a:ea typeface="Yu Gothic UI"/>
              </a:rPr>
              <a:t>対象製品: Virtual Machine Scale Sets, Virtual Machines</a:t>
            </a:r>
          </a:p>
          <a:p>
            <a:pPr>
              <a:spcBef>
                <a:spcPts val="200"/>
              </a:spcBef>
            </a:pPr>
            <a:r>
              <a:rPr sz="1300" b="0">
                <a:solidFill>
                  <a:srgbClr val="666666"/>
                </a:solidFill>
                <a:latin typeface="Yu Gothic UI"/>
                <a:ea typeface="Yu Gothic UI"/>
              </a:rPr>
              <a:t>作成日: 2026/03/30</a:t>
            </a:r>
          </a:p>
          <a:p>
            <a:pPr>
              <a:spcBef>
                <a:spcPts val="200"/>
              </a:spcBef>
            </a:pPr>
            <a:r>
              <a:rPr sz="1300" b="0">
                <a:solidFill>
                  <a:srgbClr val="666666"/>
                </a:solidFill>
                <a:latin typeface="Yu Gothic UI"/>
                <a:ea typeface="Yu Gothic UI"/>
              </a:rPr>
              <a:t>可用性: Preview 2026/March</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https://azure.microsoft.com/updates/?id=559322</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パブリックプレビュー: AKS におけるブルーグリーン エージェントプール アップグレード</a:t>
            </a:r>
          </a:p>
        </p:txBody>
      </p:sp>
      <p:sp>
        <p:nvSpPr>
          <p:cNvPr id="3" name="Content Placeholder 2"/>
          <p:cNvSpPr>
            <a:spLocks noGrp="1"/>
          </p:cNvSpPr>
          <p:nvPr>
            <p:ph idx="10" sz="quarter"/>
          </p:nvPr>
        </p:nvSpPr>
        <p:spPr>
          <a:xfrm>
            <a:off x="457200" y="939983"/>
            <a:ext cx="10561638" cy="5460817"/>
          </a:xfrm>
        </p:spPr>
        <p:txBody>
          <a:bodyPr lIns="365760" rIns="365760" tIns="91440" bIns="91440" wrap="square"/>
          <a:lstStyle/>
          <a:p>
            <a:pPr>
              <a:spcAft>
                <a:spcPts val="800"/>
              </a:spcAft>
            </a:pPr>
            <a:r>
              <a:rPr sz="1600" b="1">
                <a:solidFill>
                  <a:srgbClr val="CA5010"/>
                </a:solidFill>
                <a:latin typeface="Yu Gothic UI"/>
                <a:ea typeface="Yu Gothic UI"/>
              </a:rPr>
              <a:t>【パブリックプレビュー】</a:t>
            </a:r>
            <a:r>
              <a:rPr sz="1600" b="1">
                <a:solidFill>
                  <a:srgbClr val="333333"/>
                </a:solidFill>
                <a:latin typeface="Yu Gothic UI"/>
                <a:ea typeface="Yu Gothic UI"/>
              </a:rPr>
              <a:t>  重要度: 低</a:t>
            </a:r>
          </a:p>
          <a:p>
            <a:pPr lvl="1">
              <a:spcBef>
                <a:spcPts val="300"/>
              </a:spcBef>
            </a:pPr>
            <a:r>
              <a:rPr sz="1400" b="0">
                <a:solidFill>
                  <a:srgbClr val="333333"/>
                </a:solidFill>
                <a:latin typeface="Yu Gothic UI"/>
                <a:ea typeface="Yu Gothic UI"/>
              </a:rPr>
              <a:t>インプレースのノードプールアップグレードは、稼働中の環境に直接変更を適用するリスクがあります</a:t>
            </a:r>
          </a:p>
          <a:p>
            <a:pPr lvl="1">
              <a:spcBef>
                <a:spcPts val="300"/>
              </a:spcBef>
            </a:pPr>
            <a:r>
              <a:rPr sz="1400" b="0">
                <a:solidFill>
                  <a:srgbClr val="333333"/>
                </a:solidFill>
                <a:latin typeface="Yu Gothic UI"/>
                <a:ea typeface="Yu Gothic UI"/>
              </a:rPr>
              <a:t>ブルーグリーン エージェントプール アップグレードは、新しい構成で並列ノードプールを作成し、ワークロードの切り替え前に検証を行い、明確なロールバックパスを提供します</a:t>
            </a:r>
          </a:p>
          <a:p>
            <a:pPr lvl="1">
              <a:spcBef>
                <a:spcPts val="300"/>
              </a:spcBef>
            </a:pPr>
            <a:r>
              <a:rPr sz="1400" b="0">
                <a:solidFill>
                  <a:srgbClr val="333333"/>
                </a:solidFill>
                <a:latin typeface="Yu Gothic UI"/>
                <a:ea typeface="Yu Gothic UI"/>
              </a:rPr>
              <a:t>これによりアップグレードリスクを軽減し、より制御されたクラスターライフサイクル管理を実現します</a:t>
            </a:r>
          </a:p>
          <a:p>
            <a:pPr>
              <a:spcBef>
                <a:spcPts val="1400"/>
              </a:spcBef>
            </a:pPr>
            <a:r>
              <a:rPr sz="1300" b="1">
                <a:solidFill>
                  <a:srgbClr val="666666"/>
                </a:solidFill>
                <a:latin typeface="Yu Gothic UI"/>
                <a:ea typeface="Yu Gothic UI"/>
              </a:rPr>
              <a:t>対象製品: Azure Kubernetes Service (AKS)</a:t>
            </a:r>
          </a:p>
          <a:p>
            <a:pPr>
              <a:spcBef>
                <a:spcPts val="200"/>
              </a:spcBef>
            </a:pPr>
            <a:r>
              <a:rPr sz="1300" b="0">
                <a:solidFill>
                  <a:srgbClr val="666666"/>
                </a:solidFill>
                <a:latin typeface="Yu Gothic UI"/>
                <a:ea typeface="Yu Gothic UI"/>
              </a:rPr>
              <a:t>作成日: 2026/03/25</a:t>
            </a:r>
          </a:p>
          <a:p>
            <a:pPr>
              <a:spcBef>
                <a:spcPts val="200"/>
              </a:spcBef>
            </a:pPr>
            <a:r>
              <a:rPr sz="1300" b="0">
                <a:solidFill>
                  <a:srgbClr val="666666"/>
                </a:solidFill>
                <a:latin typeface="Yu Gothic UI"/>
                <a:ea typeface="Yu Gothic UI"/>
              </a:rPr>
              <a:t>可用性: Preview 2026/March</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https://azure.microsoft.com/updates/?id=557862</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パブリックプレビュー: コンテナーネットワーキングトラブルシューティング用 AI エージェント</a:t>
            </a:r>
          </a:p>
        </p:txBody>
      </p:sp>
      <p:sp>
        <p:nvSpPr>
          <p:cNvPr id="3" name="Content Placeholder 2"/>
          <p:cNvSpPr>
            <a:spLocks noGrp="1"/>
          </p:cNvSpPr>
          <p:nvPr>
            <p:ph idx="10" sz="quarter"/>
          </p:nvPr>
        </p:nvSpPr>
        <p:spPr>
          <a:xfrm>
            <a:off x="457200" y="939983"/>
            <a:ext cx="10561638" cy="5460817"/>
          </a:xfrm>
        </p:spPr>
        <p:txBody>
          <a:bodyPr lIns="365760" rIns="365760" tIns="91440" bIns="91440" wrap="square"/>
          <a:lstStyle/>
          <a:p>
            <a:pPr>
              <a:spcAft>
                <a:spcPts val="800"/>
              </a:spcAft>
            </a:pPr>
            <a:r>
              <a:rPr sz="1600" b="1">
                <a:solidFill>
                  <a:srgbClr val="CA5010"/>
                </a:solidFill>
                <a:latin typeface="Yu Gothic UI"/>
                <a:ea typeface="Yu Gothic UI"/>
              </a:rPr>
              <a:t>【パブリックプレビュー】</a:t>
            </a:r>
            <a:r>
              <a:rPr sz="1600" b="1">
                <a:solidFill>
                  <a:srgbClr val="333333"/>
                </a:solidFill>
                <a:latin typeface="Yu Gothic UI"/>
                <a:ea typeface="Yu Gothic UI"/>
              </a:rPr>
              <a:t>  重要度: 低</a:t>
            </a:r>
          </a:p>
          <a:p>
            <a:pPr lvl="1">
              <a:spcBef>
                <a:spcPts val="300"/>
              </a:spcBef>
            </a:pPr>
            <a:r>
              <a:rPr sz="1400" b="0">
                <a:solidFill>
                  <a:srgbClr val="333333"/>
                </a:solidFill>
                <a:latin typeface="Yu Gothic UI"/>
                <a:ea typeface="Yu Gothic UI"/>
              </a:rPr>
              <a:t>Kubernetes ネットワーキングの問題のトラブルシューティングは、複数ツールに分散したログやメトリクスの手動相関が必要で時間がかかります</a:t>
            </a:r>
          </a:p>
          <a:p>
            <a:pPr lvl="1">
              <a:spcBef>
                <a:spcPts val="300"/>
              </a:spcBef>
            </a:pPr>
            <a:r>
              <a:rPr sz="1400" b="0">
                <a:solidFill>
                  <a:srgbClr val="333333"/>
                </a:solidFill>
                <a:latin typeface="Yu Gothic UI"/>
                <a:ea typeface="Yu Gothic UI"/>
              </a:rPr>
              <a:t>コンテナーネットワーキングエージェントは、自然言語での問題記述をライブクラスターテレメトリを使用した読み取り専用の診断に変換する軽量な Web ベースインターフェースを提供します</a:t>
            </a:r>
          </a:p>
          <a:p>
            <a:pPr lvl="1">
              <a:spcBef>
                <a:spcPts val="300"/>
              </a:spcBef>
            </a:pPr>
            <a:r>
              <a:rPr sz="1400" b="0">
                <a:solidFill>
                  <a:srgbClr val="333333"/>
                </a:solidFill>
                <a:latin typeface="Yu Gothic UI"/>
                <a:ea typeface="Yu Gothic UI"/>
              </a:rPr>
              <a:t>ネットワーキングのインサイトを統合し、構造化された修復ガイダンスで調査時間を短縮し、構成変更なしにトラブルシューティングの一貫性を向上させます</a:t>
            </a:r>
          </a:p>
          <a:p>
            <a:pPr>
              <a:spcBef>
                <a:spcPts val="1400"/>
              </a:spcBef>
            </a:pPr>
            <a:r>
              <a:rPr sz="1300" b="1">
                <a:solidFill>
                  <a:srgbClr val="666666"/>
                </a:solidFill>
                <a:latin typeface="Yu Gothic UI"/>
                <a:ea typeface="Yu Gothic UI"/>
              </a:rPr>
              <a:t>対象製品: Azure Kubernetes Service (AKS)</a:t>
            </a:r>
          </a:p>
          <a:p>
            <a:pPr>
              <a:spcBef>
                <a:spcPts val="200"/>
              </a:spcBef>
            </a:pPr>
            <a:r>
              <a:rPr sz="1300" b="0">
                <a:solidFill>
                  <a:srgbClr val="666666"/>
                </a:solidFill>
                <a:latin typeface="Yu Gothic UI"/>
                <a:ea typeface="Yu Gothic UI"/>
              </a:rPr>
              <a:t>作成日: 2026/03/24</a:t>
            </a:r>
          </a:p>
          <a:p>
            <a:pPr>
              <a:spcBef>
                <a:spcPts val="200"/>
              </a:spcBef>
            </a:pPr>
            <a:r>
              <a:rPr sz="1300" b="0">
                <a:solidFill>
                  <a:srgbClr val="666666"/>
                </a:solidFill>
                <a:latin typeface="Yu Gothic UI"/>
                <a:ea typeface="Yu Gothic UI"/>
              </a:rPr>
              <a:t>可用性: Preview 2026/March</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https://azure.microsoft.com/updates/?id=557887</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パブリックプレビュー: Azure Kubernetes Fleet Manager のクロスクラスターネットワーキング</a:t>
            </a:r>
          </a:p>
        </p:txBody>
      </p:sp>
      <p:sp>
        <p:nvSpPr>
          <p:cNvPr id="3" name="Content Placeholder 2"/>
          <p:cNvSpPr>
            <a:spLocks noGrp="1"/>
          </p:cNvSpPr>
          <p:nvPr>
            <p:ph idx="10" sz="quarter"/>
          </p:nvPr>
        </p:nvSpPr>
        <p:spPr>
          <a:xfrm>
            <a:off x="457200" y="939983"/>
            <a:ext cx="10561638" cy="5460817"/>
          </a:xfrm>
        </p:spPr>
        <p:txBody>
          <a:bodyPr lIns="365760" rIns="365760" tIns="91440" bIns="91440" wrap="square"/>
          <a:lstStyle/>
          <a:p>
            <a:pPr>
              <a:spcAft>
                <a:spcPts val="800"/>
              </a:spcAft>
            </a:pPr>
            <a:r>
              <a:rPr sz="1600" b="1">
                <a:solidFill>
                  <a:srgbClr val="CA5010"/>
                </a:solidFill>
                <a:latin typeface="Yu Gothic UI"/>
                <a:ea typeface="Yu Gothic UI"/>
              </a:rPr>
              <a:t>【パブリックプレビュー】</a:t>
            </a:r>
            <a:r>
              <a:rPr sz="1600" b="1">
                <a:solidFill>
                  <a:srgbClr val="333333"/>
                </a:solidFill>
                <a:latin typeface="Yu Gothic UI"/>
                <a:ea typeface="Yu Gothic UI"/>
              </a:rPr>
              <a:t>  重要度: 低</a:t>
            </a:r>
          </a:p>
          <a:p>
            <a:pPr lvl="1">
              <a:spcBef>
                <a:spcPts val="300"/>
              </a:spcBef>
            </a:pPr>
            <a:r>
              <a:rPr sz="1400" b="0">
                <a:solidFill>
                  <a:srgbClr val="333333"/>
                </a:solidFill>
                <a:latin typeface="Yu Gothic UI"/>
                <a:ea typeface="Yu Gothic UI"/>
              </a:rPr>
              <a:t>複数の Kubernetes クラスターでアプリケーションを実行する組織は、分散マイクロサービス環境の複雑さからパフォーマンス、グローバルサービスディスカバリー、可観測性の課題に直面します</a:t>
            </a:r>
          </a:p>
          <a:p>
            <a:pPr lvl="1">
              <a:spcBef>
                <a:spcPts val="300"/>
              </a:spcBef>
            </a:pPr>
            <a:r>
              <a:rPr sz="1400" b="0">
                <a:solidFill>
                  <a:srgbClr val="333333"/>
                </a:solidFill>
                <a:latin typeface="Yu Gothic UI"/>
                <a:ea typeface="Yu Gothic UI"/>
              </a:rPr>
              <a:t>Azure Kubernetes Fleet Manager がクロスクラスターネットワーキングを提供し、マネージド Cilium クラスターメッシュによりマルチクラスターネットワーキングの構成と管理を一元化します</a:t>
            </a:r>
          </a:p>
          <a:p>
            <a:pPr lvl="1">
              <a:spcBef>
                <a:spcPts val="300"/>
              </a:spcBef>
            </a:pPr>
            <a:r>
              <a:rPr sz="1400" b="0">
                <a:solidFill>
                  <a:srgbClr val="333333"/>
                </a:solidFill>
                <a:latin typeface="Yu Gothic UI"/>
                <a:ea typeface="Yu Gothic UI"/>
              </a:rPr>
              <a:t>AKS クラスター間の統合接続、グローバルサービスレジストリによるクロスクラスターサービスディスカバリー、インテリジェントルーティングを実現します</a:t>
            </a:r>
          </a:p>
          <a:p>
            <a:pPr>
              <a:spcBef>
                <a:spcPts val="1400"/>
              </a:spcBef>
            </a:pPr>
            <a:r>
              <a:rPr sz="1300" b="1">
                <a:solidFill>
                  <a:srgbClr val="666666"/>
                </a:solidFill>
                <a:latin typeface="Yu Gothic UI"/>
                <a:ea typeface="Yu Gothic UI"/>
              </a:rPr>
              <a:t>対象製品: Azure Kubernetes Fleet Manager, Azure Kubernetes Service (AKS)</a:t>
            </a:r>
          </a:p>
          <a:p>
            <a:pPr>
              <a:spcBef>
                <a:spcPts val="200"/>
              </a:spcBef>
            </a:pPr>
            <a:r>
              <a:rPr sz="1300" b="0">
                <a:solidFill>
                  <a:srgbClr val="666666"/>
                </a:solidFill>
                <a:latin typeface="Yu Gothic UI"/>
                <a:ea typeface="Yu Gothic UI"/>
              </a:rPr>
              <a:t>作成日: 2026/03/24</a:t>
            </a:r>
          </a:p>
          <a:p>
            <a:pPr>
              <a:spcBef>
                <a:spcPts val="200"/>
              </a:spcBef>
            </a:pPr>
            <a:r>
              <a:rPr sz="1300" b="0">
                <a:solidFill>
                  <a:srgbClr val="666666"/>
                </a:solidFill>
                <a:latin typeface="Yu Gothic UI"/>
                <a:ea typeface="Yu Gothic UI"/>
              </a:rPr>
              <a:t>可用性: Preview 2026/March</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https://azure.microsoft.com/updates/?id=557877</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パブリックプレビュー: Azure Monitor での AKS マネージド GPU メトリクス</a:t>
            </a:r>
          </a:p>
        </p:txBody>
      </p:sp>
      <p:sp>
        <p:nvSpPr>
          <p:cNvPr id="3" name="Content Placeholder 2"/>
          <p:cNvSpPr>
            <a:spLocks noGrp="1"/>
          </p:cNvSpPr>
          <p:nvPr>
            <p:ph idx="10" sz="quarter"/>
          </p:nvPr>
        </p:nvSpPr>
        <p:spPr>
          <a:xfrm>
            <a:off x="457200" y="939983"/>
            <a:ext cx="10561638" cy="5460817"/>
          </a:xfrm>
        </p:spPr>
        <p:txBody>
          <a:bodyPr lIns="365760" rIns="365760" tIns="91440" bIns="91440" wrap="square"/>
          <a:lstStyle/>
          <a:p>
            <a:pPr>
              <a:spcAft>
                <a:spcPts val="800"/>
              </a:spcAft>
            </a:pPr>
            <a:r>
              <a:rPr sz="1600" b="1">
                <a:solidFill>
                  <a:srgbClr val="CA5010"/>
                </a:solidFill>
                <a:latin typeface="Yu Gothic UI"/>
                <a:ea typeface="Yu Gothic UI"/>
              </a:rPr>
              <a:t>【パブリックプレビュー】</a:t>
            </a:r>
            <a:r>
              <a:rPr sz="1600" b="1">
                <a:solidFill>
                  <a:srgbClr val="333333"/>
                </a:solidFill>
                <a:latin typeface="Yu Gothic UI"/>
                <a:ea typeface="Yu Gothic UI"/>
              </a:rPr>
              <a:t>  重要度: 低</a:t>
            </a:r>
          </a:p>
          <a:p>
            <a:pPr lvl="1">
              <a:spcBef>
                <a:spcPts val="300"/>
              </a:spcBef>
            </a:pPr>
            <a:r>
              <a:rPr sz="1400" b="0">
                <a:solidFill>
                  <a:srgbClr val="333333"/>
                </a:solidFill>
                <a:latin typeface="Yu Gothic UI"/>
                <a:ea typeface="Yu Gothic UI"/>
              </a:rPr>
              <a:t>GPU ワークロードを実行するチームは、Kubernetes メトリクスと並行した GPU 使用率の統合的な可視性が不足しがちです</a:t>
            </a:r>
          </a:p>
          <a:p>
            <a:pPr lvl="1">
              <a:spcBef>
                <a:spcPts val="300"/>
              </a:spcBef>
            </a:pPr>
            <a:r>
              <a:rPr sz="1400" b="0">
                <a:solidFill>
                  <a:srgbClr val="333333"/>
                </a:solidFill>
                <a:latin typeface="Yu Gothic UI"/>
                <a:ea typeface="Yu Gothic UI"/>
              </a:rPr>
              <a:t>AKS マネージド GPU メトリクスは、NVIDIA GPU 対応ノードプールのパフォーマンスと使用率データをマネージド Prometheus および Grafana 環境に自動的に公開します</a:t>
            </a:r>
          </a:p>
          <a:p>
            <a:pPr lvl="1">
              <a:spcBef>
                <a:spcPts val="300"/>
              </a:spcBef>
            </a:pPr>
            <a:r>
              <a:rPr sz="1400" b="0">
                <a:solidFill>
                  <a:srgbClr val="333333"/>
                </a:solidFill>
                <a:latin typeface="Yu Gothic UI"/>
                <a:ea typeface="Yu Gothic UI"/>
              </a:rPr>
              <a:t>手動でエクスポーターを設定せずに、GPU テレメトリをクラスターメトリクスと同じ可観測性スタックに統合し、キャパシティプランニングと運用監視を支援します</a:t>
            </a:r>
          </a:p>
          <a:p>
            <a:pPr>
              <a:spcBef>
                <a:spcPts val="1400"/>
              </a:spcBef>
            </a:pPr>
            <a:r>
              <a:rPr sz="1300" b="1">
                <a:solidFill>
                  <a:srgbClr val="666666"/>
                </a:solidFill>
                <a:latin typeface="Yu Gothic UI"/>
                <a:ea typeface="Yu Gothic UI"/>
              </a:rPr>
              <a:t>対象製品: Azure Kubernetes Service (AKS)</a:t>
            </a:r>
          </a:p>
          <a:p>
            <a:pPr>
              <a:spcBef>
                <a:spcPts val="200"/>
              </a:spcBef>
            </a:pPr>
            <a:r>
              <a:rPr sz="1300" b="0">
                <a:solidFill>
                  <a:srgbClr val="666666"/>
                </a:solidFill>
                <a:latin typeface="Yu Gothic UI"/>
                <a:ea typeface="Yu Gothic UI"/>
              </a:rPr>
              <a:t>作成日: 2026/03/24</a:t>
            </a:r>
          </a:p>
          <a:p>
            <a:pPr>
              <a:spcBef>
                <a:spcPts val="200"/>
              </a:spcBef>
            </a:pPr>
            <a:r>
              <a:rPr sz="1300" b="0">
                <a:solidFill>
                  <a:srgbClr val="666666"/>
                </a:solidFill>
                <a:latin typeface="Yu Gothic UI"/>
                <a:ea typeface="Yu Gothic UI"/>
              </a:rPr>
              <a:t>可用性: Preview 2026/March</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https://azure.microsoft.com/updates/?id=557882</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パブリックプレビュー: AKS でのメッシュレス Istio によるアプリケーションルーティング</a:t>
            </a:r>
          </a:p>
        </p:txBody>
      </p:sp>
      <p:sp>
        <p:nvSpPr>
          <p:cNvPr id="3" name="Content Placeholder 2"/>
          <p:cNvSpPr>
            <a:spLocks noGrp="1"/>
          </p:cNvSpPr>
          <p:nvPr>
            <p:ph idx="10" sz="quarter"/>
          </p:nvPr>
        </p:nvSpPr>
        <p:spPr>
          <a:xfrm>
            <a:off x="457200" y="939983"/>
            <a:ext cx="10561638" cy="5460817"/>
          </a:xfrm>
        </p:spPr>
        <p:txBody>
          <a:bodyPr lIns="365760" rIns="365760" tIns="91440" bIns="91440" wrap="square"/>
          <a:lstStyle/>
          <a:p>
            <a:pPr>
              <a:spcAft>
                <a:spcPts val="800"/>
              </a:spcAft>
            </a:pPr>
            <a:r>
              <a:rPr sz="1600" b="1">
                <a:solidFill>
                  <a:srgbClr val="CA5010"/>
                </a:solidFill>
                <a:latin typeface="Yu Gothic UI"/>
                <a:ea typeface="Yu Gothic UI"/>
              </a:rPr>
              <a:t>【パブリックプレビュー】</a:t>
            </a:r>
            <a:r>
              <a:rPr sz="1600" b="1">
                <a:solidFill>
                  <a:srgbClr val="333333"/>
                </a:solidFill>
                <a:latin typeface="Yu Gothic UI"/>
                <a:ea typeface="Yu Gothic UI"/>
              </a:rPr>
              <a:t>  重要度: 低</a:t>
            </a:r>
          </a:p>
          <a:p>
            <a:pPr lvl="1">
              <a:spcBef>
                <a:spcPts val="300"/>
              </a:spcBef>
            </a:pPr>
            <a:r>
              <a:rPr sz="1400" b="0">
                <a:solidFill>
                  <a:srgbClr val="333333"/>
                </a:solidFill>
                <a:latin typeface="Yu Gothic UI"/>
                <a:ea typeface="Yu Gothic UI"/>
              </a:rPr>
              <a:t>ingress-nginx の廃止に伴い、Kubernetes オペレーターはフルサービスメッシュの複雑さなしに、サポートされた標準準拠のイングレス移行パスを必要としています</a:t>
            </a:r>
          </a:p>
          <a:p>
            <a:pPr lvl="1">
              <a:spcBef>
                <a:spcPts val="300"/>
              </a:spcBef>
            </a:pPr>
            <a:r>
              <a:rPr sz="1400" b="0">
                <a:solidFill>
                  <a:srgbClr val="333333"/>
                </a:solidFill>
                <a:latin typeface="Yu Gothic UI"/>
                <a:ea typeface="Yu Gothic UI"/>
              </a:rPr>
              <a:t>メッシュレス Istio によるアプリケーションルーティングは、サイドカーベースのアーキテクチャを回避しつつ Kubernetes Gateway API によるイングレス管理の採用を可能にします</a:t>
            </a:r>
          </a:p>
          <a:p>
            <a:pPr lvl="1">
              <a:spcBef>
                <a:spcPts val="300"/>
              </a:spcBef>
            </a:pPr>
            <a:r>
              <a:rPr sz="1400" b="0">
                <a:solidFill>
                  <a:srgbClr val="333333"/>
                </a:solidFill>
                <a:latin typeface="Yu Gothic UI"/>
                <a:ea typeface="Yu Gothic UI"/>
              </a:rPr>
              <a:t>Microsoft は既存の ingress-nginx ベース Application Routing のサポートを延長しつつ、オープンソースの ingress2gateway プロジェクトに貢献しています</a:t>
            </a:r>
          </a:p>
          <a:p>
            <a:pPr lvl="1">
              <a:spcBef>
                <a:spcPts val="300"/>
              </a:spcBef>
            </a:pPr>
            <a:r>
              <a:rPr sz="1400" b="0">
                <a:solidFill>
                  <a:srgbClr val="333333"/>
                </a:solidFill>
                <a:latin typeface="Yu Gothic UI"/>
                <a:ea typeface="Yu Gothic UI"/>
              </a:rPr>
              <a:t>イングレス構成の段階的な近代化と運用継続性を維持できます</a:t>
            </a:r>
          </a:p>
          <a:p>
            <a:pPr>
              <a:spcBef>
                <a:spcPts val="1400"/>
              </a:spcBef>
            </a:pPr>
            <a:r>
              <a:rPr sz="1300" b="1">
                <a:solidFill>
                  <a:srgbClr val="666666"/>
                </a:solidFill>
                <a:latin typeface="Yu Gothic UI"/>
                <a:ea typeface="Yu Gothic UI"/>
              </a:rPr>
              <a:t>対象製品: Azure Kubernetes Service (AKS)</a:t>
            </a:r>
          </a:p>
          <a:p>
            <a:pPr>
              <a:spcBef>
                <a:spcPts val="200"/>
              </a:spcBef>
            </a:pPr>
            <a:r>
              <a:rPr sz="1300" b="0">
                <a:solidFill>
                  <a:srgbClr val="666666"/>
                </a:solidFill>
                <a:latin typeface="Yu Gothic UI"/>
                <a:ea typeface="Yu Gothic UI"/>
              </a:rPr>
              <a:t>作成日: 2026/03/24</a:t>
            </a:r>
          </a:p>
          <a:p>
            <a:pPr>
              <a:spcBef>
                <a:spcPts val="200"/>
              </a:spcBef>
            </a:pPr>
            <a:r>
              <a:rPr sz="1300" b="0">
                <a:solidFill>
                  <a:srgbClr val="666666"/>
                </a:solidFill>
                <a:latin typeface="Yu Gothic UI"/>
                <a:ea typeface="Yu Gothic UI"/>
              </a:rPr>
              <a:t>可用性: Preview 2026/March</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https://azure.microsoft.com/updates/?id=557927</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600" b="1">
                <a:solidFill>
                  <a:srgbClr val="FFFFFF"/>
                </a:solidFill>
                <a:latin typeface="Yu Gothic UI"/>
                <a:ea typeface="Yu Gothic UI"/>
              </a:rPr>
              <a:t>データ &amp; AI（22件）</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廃止予定: Azure ストレージ アカウントの AzureDnsZone エンドポイントが 2027 年 3 月に廃止</a:t>
            </a:r>
          </a:p>
        </p:txBody>
      </p:sp>
      <p:sp>
        <p:nvSpPr>
          <p:cNvPr id="3" name="Content Placeholder 2"/>
          <p:cNvSpPr>
            <a:spLocks noGrp="1"/>
          </p:cNvSpPr>
          <p:nvPr>
            <p:ph idx="10" sz="quarter"/>
          </p:nvPr>
        </p:nvSpPr>
        <p:spPr>
          <a:xfrm>
            <a:off x="457200" y="939983"/>
            <a:ext cx="10561638" cy="5460817"/>
          </a:xfrm>
        </p:spPr>
        <p:txBody>
          <a:bodyPr lIns="365760" rIns="365760" tIns="91440" bIns="91440" wrap="square"/>
          <a:lstStyle/>
          <a:p>
            <a:pPr>
              <a:spcAft>
                <a:spcPts val="800"/>
              </a:spcAft>
            </a:pPr>
            <a:r>
              <a:rPr sz="1600" b="1">
                <a:solidFill>
                  <a:srgbClr val="D13438"/>
                </a:solidFill>
                <a:latin typeface="Yu Gothic UI"/>
                <a:ea typeface="Yu Gothic UI"/>
              </a:rPr>
              <a:t>【廃止予定】</a:t>
            </a:r>
            <a:r>
              <a:rPr sz="1600" b="1">
                <a:solidFill>
                  <a:srgbClr val="333333"/>
                </a:solidFill>
                <a:latin typeface="Yu Gothic UI"/>
                <a:ea typeface="Yu Gothic UI"/>
              </a:rPr>
              <a:t>  重要度: 高</a:t>
            </a:r>
          </a:p>
          <a:p>
            <a:pPr lvl="1">
              <a:spcBef>
                <a:spcPts val="300"/>
              </a:spcBef>
            </a:pPr>
            <a:r>
              <a:rPr sz="1400" b="0">
                <a:solidFill>
                  <a:srgbClr val="333333"/>
                </a:solidFill>
                <a:latin typeface="Yu Gothic UI"/>
                <a:ea typeface="Yu Gothic UI"/>
              </a:rPr>
              <a:t>Azure Blob ストレージ アカウントの AzureDnsZone エンドポイント（プレビュー）は 2027 年 3 月に廃止されます</a:t>
            </a:r>
          </a:p>
          <a:p>
            <a:pPr lvl="1">
              <a:spcBef>
                <a:spcPts val="300"/>
              </a:spcBef>
            </a:pPr>
            <a:r>
              <a:rPr sz="1400" b="0">
                <a:solidFill>
                  <a:srgbClr val="333333"/>
                </a:solidFill>
                <a:latin typeface="Yu Gothic UI"/>
                <a:ea typeface="Yu Gothic UI"/>
              </a:rPr>
              <a:t>AzureDnsZone エンドポイントを使用しているお客様は、2027 年 4 月 1 日までにすべての新規および既存の Blob ストレージ アカウントを Standard エンドポイントに移行してください</a:t>
            </a:r>
          </a:p>
          <a:p>
            <a:pPr lvl="1">
              <a:spcBef>
                <a:spcPts val="300"/>
              </a:spcBef>
            </a:pPr>
            <a:r>
              <a:rPr sz="1400" b="0">
                <a:solidFill>
                  <a:srgbClr val="333333"/>
                </a:solidFill>
                <a:latin typeface="Yu Gothic UI"/>
                <a:ea typeface="Yu Gothic UI"/>
              </a:rPr>
              <a:t>Standard エンドポイントは一般提供されており、本番ワークロードで完全にサポートされています</a:t>
            </a:r>
          </a:p>
          <a:p>
            <a:pPr lvl="1">
              <a:spcBef>
                <a:spcPts val="300"/>
              </a:spcBef>
            </a:pPr>
            <a:r>
              <a:rPr sz="1400" b="0">
                <a:solidFill>
                  <a:srgbClr val="333333"/>
                </a:solidFill>
                <a:latin typeface="Yu Gothic UI"/>
                <a:ea typeface="Yu Gothic UI"/>
              </a:rPr>
              <a:t>既存のストレージ アカウントは影響を受けず削除されません</a:t>
            </a:r>
          </a:p>
          <a:p>
            <a:pPr lvl="1">
              <a:spcBef>
                <a:spcPts val="300"/>
              </a:spcBef>
            </a:pPr>
            <a:r>
              <a:rPr sz="1400" b="0">
                <a:solidFill>
                  <a:srgbClr val="333333"/>
                </a:solidFill>
                <a:latin typeface="Yu Gothic UI"/>
                <a:ea typeface="Yu Gothic UI"/>
              </a:rPr>
              <a:t>今後数か月で、AzureDnsZone エンドポイントでの新しいストレージ アカウント作成機能が削除されます</a:t>
            </a:r>
          </a:p>
          <a:p>
            <a:pPr>
              <a:spcBef>
                <a:spcPts val="1400"/>
              </a:spcBef>
            </a:pPr>
            <a:r>
              <a:rPr sz="1300" b="1">
                <a:solidFill>
                  <a:srgbClr val="666666"/>
                </a:solidFill>
                <a:latin typeface="Yu Gothic UI"/>
                <a:ea typeface="Yu Gothic UI"/>
              </a:rPr>
              <a:t>対象製品: Azure Blob Storage</a:t>
            </a:r>
          </a:p>
          <a:p>
            <a:pPr>
              <a:spcBef>
                <a:spcPts val="200"/>
              </a:spcBef>
            </a:pPr>
            <a:r>
              <a:rPr sz="1300" b="0">
                <a:solidFill>
                  <a:srgbClr val="666666"/>
                </a:solidFill>
                <a:latin typeface="Yu Gothic UI"/>
                <a:ea typeface="Yu Gothic UI"/>
              </a:rPr>
              <a:t>作成日: 2026/04/02</a:t>
            </a:r>
          </a:p>
          <a:p>
            <a:pPr>
              <a:spcBef>
                <a:spcPts val="200"/>
              </a:spcBef>
            </a:pPr>
            <a:r>
              <a:rPr sz="1300" b="0">
                <a:solidFill>
                  <a:srgbClr val="666666"/>
                </a:solidFill>
                <a:latin typeface="Yu Gothic UI"/>
                <a:ea typeface="Yu Gothic UI"/>
              </a:rPr>
              <a:t>可用性: Retirement 2027/March</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https://azure.microsoft.com/updates/?id=558276</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廃止予定: Azure AI Language の一部機能の廃止</a:t>
            </a:r>
          </a:p>
        </p:txBody>
      </p:sp>
      <p:sp>
        <p:nvSpPr>
          <p:cNvPr id="3" name="Content Placeholder 2"/>
          <p:cNvSpPr>
            <a:spLocks noGrp="1"/>
          </p:cNvSpPr>
          <p:nvPr>
            <p:ph idx="10" sz="quarter"/>
          </p:nvPr>
        </p:nvSpPr>
        <p:spPr>
          <a:xfrm>
            <a:off x="457200" y="939983"/>
            <a:ext cx="10561638" cy="5460817"/>
          </a:xfrm>
        </p:spPr>
        <p:txBody>
          <a:bodyPr lIns="365760" rIns="365760" tIns="91440" bIns="91440" wrap="square"/>
          <a:lstStyle/>
          <a:p>
            <a:pPr>
              <a:spcAft>
                <a:spcPts val="800"/>
              </a:spcAft>
            </a:pPr>
            <a:r>
              <a:rPr sz="1600" b="1">
                <a:solidFill>
                  <a:srgbClr val="D13438"/>
                </a:solidFill>
                <a:latin typeface="Yu Gothic UI"/>
                <a:ea typeface="Yu Gothic UI"/>
              </a:rPr>
              <a:t>【廃止予定】</a:t>
            </a:r>
            <a:r>
              <a:rPr sz="1600" b="1">
                <a:solidFill>
                  <a:srgbClr val="333333"/>
                </a:solidFill>
                <a:latin typeface="Yu Gothic UI"/>
                <a:ea typeface="Yu Gothic UI"/>
              </a:rPr>
              <a:t>  重要度: 高</a:t>
            </a:r>
          </a:p>
          <a:p>
            <a:pPr lvl="1">
              <a:spcBef>
                <a:spcPts val="300"/>
              </a:spcBef>
            </a:pPr>
            <a:r>
              <a:rPr sz="1400" b="0">
                <a:solidFill>
                  <a:srgbClr val="333333"/>
                </a:solidFill>
                <a:latin typeface="Yu Gothic UI"/>
                <a:ea typeface="Yu Gothic UI"/>
              </a:rPr>
              <a:t>2029 年 3 月 20 日に、Microsoft は以下の 8 つの Azure AI Language 機能を廃止します: キーフレーズ抽出、センチメント分析とオピニオンマイニング、カスタムテキスト分類、Conversational …</a:t>
            </a:r>
          </a:p>
          <a:p>
            <a:pPr lvl="1">
              <a:spcBef>
                <a:spcPts val="300"/>
              </a:spcBef>
            </a:pPr>
            <a:r>
              <a:rPr sz="1400" b="0">
                <a:solidFill>
                  <a:srgbClr val="333333"/>
                </a:solidFill>
                <a:latin typeface="Yu Gothic UI"/>
                <a:ea typeface="Yu Gothic UI"/>
              </a:rPr>
              <a:t>この日以降、これらの機能へのリクエストはエラーを返します</a:t>
            </a:r>
          </a:p>
          <a:p>
            <a:pPr lvl="1">
              <a:spcBef>
                <a:spcPts val="300"/>
              </a:spcBef>
            </a:pPr>
            <a:r>
              <a:rPr sz="1400" b="0">
                <a:solidFill>
                  <a:srgbClr val="333333"/>
                </a:solidFill>
                <a:latin typeface="Yu Gothic UI"/>
                <a:ea typeface="Yu Gothic UI"/>
              </a:rPr>
              <a:t>Language Studio、Microsoft Foundry、REST API 経由の関連するオーサリングおよびランタイム機能は利用できなくなります</a:t>
            </a:r>
          </a:p>
          <a:p>
            <a:pPr lvl="1">
              <a:spcBef>
                <a:spcPts val="300"/>
              </a:spcBef>
            </a:pPr>
            <a:r>
              <a:rPr sz="1400" b="0">
                <a:solidFill>
                  <a:srgbClr val="333333"/>
                </a:solidFill>
                <a:latin typeface="Yu Gothic UI"/>
                <a:ea typeface="Yu Gothic UI"/>
              </a:rPr>
              <a:t>お客様は Microsoft Foundry のサポート対象代替機能への移行計画を早期に開始することを推奨します</a:t>
            </a:r>
          </a:p>
          <a:p>
            <a:pPr lvl="1">
              <a:spcBef>
                <a:spcPts val="300"/>
              </a:spcBef>
            </a:pPr>
            <a:r>
              <a:rPr sz="1400" b="0">
                <a:solidFill>
                  <a:srgbClr val="333333"/>
                </a:solidFill>
                <a:latin typeface="Yu Gothic UI"/>
                <a:ea typeface="Yu Gothic UI"/>
              </a:rPr>
              <a:t>Language Detection、PII Detection、Text Analytics for Health、Prebuilt NER、Custom NER などの他の機能は引き続きサポートされます</a:t>
            </a:r>
          </a:p>
          <a:p>
            <a:pPr>
              <a:spcBef>
                <a:spcPts val="1400"/>
              </a:spcBef>
            </a:pPr>
            <a:r>
              <a:rPr sz="1300" b="1">
                <a:solidFill>
                  <a:srgbClr val="666666"/>
                </a:solidFill>
                <a:latin typeface="Yu Gothic UI"/>
                <a:ea typeface="Yu Gothic UI"/>
              </a:rPr>
              <a:t>対象製品: Azure AI Language</a:t>
            </a:r>
          </a:p>
          <a:p>
            <a:pPr>
              <a:spcBef>
                <a:spcPts val="200"/>
              </a:spcBef>
            </a:pPr>
            <a:r>
              <a:rPr sz="1300" b="0">
                <a:solidFill>
                  <a:srgbClr val="666666"/>
                </a:solidFill>
                <a:latin typeface="Yu Gothic UI"/>
                <a:ea typeface="Yu Gothic UI"/>
              </a:rPr>
              <a:t>作成日: 2026/04/01</a:t>
            </a:r>
          </a:p>
          <a:p>
            <a:pPr>
              <a:spcBef>
                <a:spcPts val="200"/>
              </a:spcBef>
            </a:pPr>
            <a:r>
              <a:rPr sz="1300" b="0">
                <a:solidFill>
                  <a:srgbClr val="666666"/>
                </a:solidFill>
                <a:latin typeface="Yu Gothic UI"/>
                <a:ea typeface="Yu Gothic UI"/>
              </a:rPr>
              <a:t>可用性: Retirement 2029/March</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https://azure.microsoft.com/updates/?id=557394</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000" b="1">
                <a:solidFill>
                  <a:srgbClr val="0078D4"/>
                </a:solidFill>
                <a:latin typeface="Yu Gothic UI"/>
                <a:ea typeface="Yu Gothic UI"/>
              </a:rPr>
              <a:t>廃止予定: Azure Machine Learning の外部データインポートおよびデータ接続が 2026 年 9 月 30 日に廃止</a:t>
            </a:r>
          </a:p>
        </p:txBody>
      </p:sp>
      <p:sp>
        <p:nvSpPr>
          <p:cNvPr id="3" name="Content Placeholder 2"/>
          <p:cNvSpPr>
            <a:spLocks noGrp="1"/>
          </p:cNvSpPr>
          <p:nvPr>
            <p:ph idx="10" sz="quarter"/>
          </p:nvPr>
        </p:nvSpPr>
        <p:spPr>
          <a:xfrm>
            <a:off x="457200" y="939983"/>
            <a:ext cx="10561638" cy="5460817"/>
          </a:xfrm>
        </p:spPr>
        <p:txBody>
          <a:bodyPr lIns="365760" rIns="365760" tIns="91440" bIns="91440" wrap="square"/>
          <a:lstStyle/>
          <a:p>
            <a:pPr>
              <a:spcAft>
                <a:spcPts val="800"/>
              </a:spcAft>
            </a:pPr>
            <a:r>
              <a:rPr sz="1600" b="1">
                <a:solidFill>
                  <a:srgbClr val="D13438"/>
                </a:solidFill>
                <a:latin typeface="Yu Gothic UI"/>
                <a:ea typeface="Yu Gothic UI"/>
              </a:rPr>
              <a:t>【廃止予定】</a:t>
            </a:r>
            <a:r>
              <a:rPr sz="1600" b="1">
                <a:solidFill>
                  <a:srgbClr val="333333"/>
                </a:solidFill>
                <a:latin typeface="Yu Gothic UI"/>
                <a:ea typeface="Yu Gothic UI"/>
              </a:rPr>
              <a:t>  重要度: 高</a:t>
            </a:r>
          </a:p>
          <a:p>
            <a:pPr lvl="1">
              <a:spcBef>
                <a:spcPts val="300"/>
              </a:spcBef>
            </a:pPr>
            <a:r>
              <a:rPr sz="1400" b="0">
                <a:solidFill>
                  <a:srgbClr val="333333"/>
                </a:solidFill>
                <a:latin typeface="Yu Gothic UI"/>
                <a:ea typeface="Yu Gothic UI"/>
              </a:rPr>
              <a:t>Azure Machine Learning の外部ソースからのデータインポート機能（プレビュー）- S3、Snowflake、Azure SQL DB - および外部データ接続（プレビュー）が 2026 年 9 月 30 日以降に廃止され…</a:t>
            </a:r>
          </a:p>
          <a:p>
            <a:pPr lvl="1">
              <a:spcBef>
                <a:spcPts val="300"/>
              </a:spcBef>
            </a:pPr>
            <a:r>
              <a:rPr sz="1400" b="0">
                <a:solidFill>
                  <a:srgbClr val="333333"/>
                </a:solidFill>
                <a:latin typeface="Yu Gothic UI"/>
                <a:ea typeface="Yu Gothic UI"/>
              </a:rPr>
              <a:t>既存の外部データ接続は利用できなくなり、新しいデータインポートや外部データ接続の追加もできなくなります</a:t>
            </a:r>
          </a:p>
          <a:p>
            <a:pPr lvl="1">
              <a:spcBef>
                <a:spcPts val="300"/>
              </a:spcBef>
            </a:pPr>
            <a:r>
              <a:rPr sz="1400" b="0">
                <a:solidFill>
                  <a:srgbClr val="333333"/>
                </a:solidFill>
                <a:latin typeface="Yu Gothic UI"/>
                <a:ea typeface="Yu Gothic UI"/>
              </a:rPr>
              <a:t>既存のインポート済みアセットは引き続き利用可能ですが、スケジュールされた更新は動作しなくなります</a:t>
            </a:r>
          </a:p>
          <a:p>
            <a:pPr lvl="1">
              <a:spcBef>
                <a:spcPts val="300"/>
              </a:spcBef>
            </a:pPr>
            <a:r>
              <a:rPr sz="1400" b="0">
                <a:solidFill>
                  <a:srgbClr val="333333"/>
                </a:solidFill>
                <a:latin typeface="Yu Gothic UI"/>
                <a:ea typeface="Yu Gothic UI"/>
              </a:rPr>
              <a:t>ML パイプラインの中断を避けるため、外部データインポートを Microsoft Fabric に移行し、AzureML データストアを使用してデータを AzureML で利用可能にすることを推奨します</a:t>
            </a:r>
          </a:p>
          <a:p>
            <a:pPr>
              <a:spcBef>
                <a:spcPts val="1400"/>
              </a:spcBef>
            </a:pPr>
            <a:r>
              <a:rPr sz="1300" b="1">
                <a:solidFill>
                  <a:srgbClr val="666666"/>
                </a:solidFill>
                <a:latin typeface="Yu Gothic UI"/>
                <a:ea typeface="Yu Gothic UI"/>
              </a:rPr>
              <a:t>対象製品: Azure Machine Learning</a:t>
            </a:r>
          </a:p>
          <a:p>
            <a:pPr>
              <a:spcBef>
                <a:spcPts val="200"/>
              </a:spcBef>
            </a:pPr>
            <a:r>
              <a:rPr sz="1300" b="0">
                <a:solidFill>
                  <a:srgbClr val="666666"/>
                </a:solidFill>
                <a:latin typeface="Yu Gothic UI"/>
                <a:ea typeface="Yu Gothic UI"/>
              </a:rPr>
              <a:t>作成日: 2026/03/31</a:t>
            </a:r>
          </a:p>
          <a:p>
            <a:pPr>
              <a:spcBef>
                <a:spcPts val="200"/>
              </a:spcBef>
            </a:pPr>
            <a:r>
              <a:rPr sz="1300" b="0">
                <a:solidFill>
                  <a:srgbClr val="666666"/>
                </a:solidFill>
                <a:latin typeface="Yu Gothic UI"/>
                <a:ea typeface="Yu Gothic UI"/>
              </a:rPr>
              <a:t>可用性: Retirement 2026/September</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https://azure.microsoft.com/updates/?id=557406</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廃止予定: Azure Cosmos DB for PostgreSQL は2029年3月31日に廃止されます</a:t>
            </a:r>
          </a:p>
        </p:txBody>
      </p:sp>
      <p:sp>
        <p:nvSpPr>
          <p:cNvPr id="3" name="Content Placeholder 2"/>
          <p:cNvSpPr>
            <a:spLocks noGrp="1"/>
          </p:cNvSpPr>
          <p:nvPr>
            <p:ph idx="10" sz="quarter"/>
          </p:nvPr>
        </p:nvSpPr>
        <p:spPr>
          <a:xfrm>
            <a:off x="457200" y="939983"/>
            <a:ext cx="10561638" cy="5460817"/>
          </a:xfrm>
        </p:spPr>
        <p:txBody>
          <a:bodyPr lIns="365760" rIns="365760" tIns="91440" bIns="91440" wrap="square"/>
          <a:lstStyle/>
          <a:p>
            <a:pPr>
              <a:spcAft>
                <a:spcPts val="800"/>
              </a:spcAft>
            </a:pPr>
            <a:r>
              <a:rPr sz="1600" b="1">
                <a:solidFill>
                  <a:srgbClr val="D13438"/>
                </a:solidFill>
                <a:latin typeface="Yu Gothic UI"/>
                <a:ea typeface="Yu Gothic UI"/>
              </a:rPr>
              <a:t>【廃止予定】</a:t>
            </a:r>
            <a:r>
              <a:rPr sz="1600" b="1">
                <a:solidFill>
                  <a:srgbClr val="333333"/>
                </a:solidFill>
                <a:latin typeface="Yu Gothic UI"/>
                <a:ea typeface="Yu Gothic UI"/>
              </a:rPr>
              <a:t>  重要度: 高</a:t>
            </a:r>
          </a:p>
          <a:p>
            <a:pPr lvl="1">
              <a:spcBef>
                <a:spcPts val="300"/>
              </a:spcBef>
            </a:pPr>
            <a:r>
              <a:rPr sz="1400" b="0">
                <a:solidFill>
                  <a:srgbClr val="333333"/>
                </a:solidFill>
                <a:latin typeface="Yu Gothic UI"/>
                <a:ea typeface="Yu Gothic UI"/>
              </a:rPr>
              <a:t>2029年3月31日に Azure Cosmos DB for PostgreSQL が廃止されるため、それまでに Azure Database for PostgreSQL Elastic Cluster への移行が必要です</a:t>
            </a:r>
          </a:p>
          <a:p>
            <a:pPr lvl="1">
              <a:spcBef>
                <a:spcPts val="300"/>
              </a:spcBef>
            </a:pPr>
            <a:r>
              <a:rPr sz="1400" b="0">
                <a:solidFill>
                  <a:srgbClr val="333333"/>
                </a:solidFill>
                <a:latin typeface="Yu Gothic UI"/>
                <a:ea typeface="Yu Gothic UI"/>
              </a:rPr>
              <a:t>Elastic Cluster は Citus 拡張機能をベースに、Azure Cosmos DB for PostgreSQL と同等の分散 PostgreSQL 機能を提供し、よりシンプルで透明性の高い価格モデル、幅広いコンピューティン…</a:t>
            </a:r>
          </a:p>
          <a:p>
            <a:pPr lvl="1">
              <a:spcBef>
                <a:spcPts val="300"/>
              </a:spcBef>
            </a:pPr>
            <a:r>
              <a:rPr sz="1400" b="0">
                <a:solidFill>
                  <a:srgbClr val="333333"/>
                </a:solidFill>
                <a:latin typeface="Yu Gothic UI"/>
                <a:ea typeface="Yu Gothic UI"/>
              </a:rPr>
              <a:t>組み込みの高可用性、自動バックアップ、ポイントインタイムリストア、ディザスターリカバリーも備えています</a:t>
            </a:r>
          </a:p>
          <a:p>
            <a:pPr lvl="1">
              <a:spcBef>
                <a:spcPts val="300"/>
              </a:spcBef>
            </a:pPr>
            <a:r>
              <a:rPr sz="1400" b="0">
                <a:solidFill>
                  <a:srgbClr val="333333"/>
                </a:solidFill>
                <a:latin typeface="Yu Gothic UI"/>
                <a:ea typeface="Yu Gothic UI"/>
              </a:rPr>
              <a:t>必要なアクション: 既存の Azure Cosmos DB for PostgreSQL データベースを Azure Database for PostgreSQL Elastic Cluster に移行してください</a:t>
            </a:r>
          </a:p>
          <a:p>
            <a:pPr lvl="1">
              <a:spcBef>
                <a:spcPts val="300"/>
              </a:spcBef>
            </a:pPr>
            <a:r>
              <a:rPr sz="1400" b="0">
                <a:solidFill>
                  <a:srgbClr val="333333"/>
                </a:solidFill>
                <a:latin typeface="Yu Gothic UI"/>
                <a:ea typeface="Yu Gothic UI"/>
              </a:rPr>
              <a:t>現在のクラスター、バージョン、必要な拡張機能を確認し、移行先環境をプロビジョニングし、提供される移行ツールでスキーマとデータを移行・検証してください</a:t>
            </a:r>
          </a:p>
          <a:p>
            <a:pPr>
              <a:spcBef>
                <a:spcPts val="200"/>
              </a:spcBef>
            </a:pPr>
            <a:r>
              <a:rPr sz="1300" b="0">
                <a:solidFill>
                  <a:srgbClr val="666666"/>
                </a:solidFill>
                <a:latin typeface="Yu Gothic UI"/>
                <a:ea typeface="Yu Gothic UI"/>
              </a:rPr>
              <a:t>作成日: 2026/03/30</a:t>
            </a:r>
          </a:p>
          <a:p>
            <a:pPr>
              <a:spcBef>
                <a:spcPts val="200"/>
              </a:spcBef>
            </a:pPr>
            <a:r>
              <a:rPr sz="1300" b="0">
                <a:solidFill>
                  <a:srgbClr val="666666"/>
                </a:solidFill>
                <a:latin typeface="Yu Gothic UI"/>
                <a:ea typeface="Yu Gothic UI"/>
              </a:rPr>
              <a:t>可用性: Retirement 2029/March</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https://azure.microsoft.com/updates/?id=556085</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廃止予定: Azure SQL Elastic Query - Shard_Map_Manager モード</a:t>
            </a:r>
          </a:p>
        </p:txBody>
      </p:sp>
      <p:sp>
        <p:nvSpPr>
          <p:cNvPr id="3" name="Content Placeholder 2"/>
          <p:cNvSpPr>
            <a:spLocks noGrp="1"/>
          </p:cNvSpPr>
          <p:nvPr>
            <p:ph idx="10" sz="quarter"/>
          </p:nvPr>
        </p:nvSpPr>
        <p:spPr>
          <a:xfrm>
            <a:off x="457200" y="939983"/>
            <a:ext cx="10561638" cy="5460817"/>
          </a:xfrm>
        </p:spPr>
        <p:txBody>
          <a:bodyPr lIns="365760" rIns="365760" tIns="91440" bIns="91440" wrap="square"/>
          <a:lstStyle/>
          <a:p>
            <a:pPr>
              <a:spcAft>
                <a:spcPts val="800"/>
              </a:spcAft>
            </a:pPr>
            <a:r>
              <a:rPr sz="1600" b="1">
                <a:solidFill>
                  <a:srgbClr val="D13438"/>
                </a:solidFill>
                <a:latin typeface="Yu Gothic UI"/>
                <a:ea typeface="Yu Gothic UI"/>
              </a:rPr>
              <a:t>【廃止予定】</a:t>
            </a:r>
            <a:r>
              <a:rPr sz="1600" b="1">
                <a:solidFill>
                  <a:srgbClr val="333333"/>
                </a:solidFill>
                <a:latin typeface="Yu Gothic UI"/>
                <a:ea typeface="Yu Gothic UI"/>
              </a:rPr>
              <a:t>  重要度: 高</a:t>
            </a:r>
          </a:p>
          <a:p>
            <a:pPr lvl="1">
              <a:spcBef>
                <a:spcPts val="300"/>
              </a:spcBef>
            </a:pPr>
            <a:r>
              <a:rPr sz="1400" b="0">
                <a:solidFill>
                  <a:srgbClr val="333333"/>
                </a:solidFill>
                <a:latin typeface="Yu Gothic UI"/>
                <a:ea typeface="Yu Gothic UI"/>
              </a:rPr>
              <a:t>2027年3月31日より、Shard_Map_Manager 外部データソースタイプを使用した Elastic Query のサポートが終了する</a:t>
            </a:r>
          </a:p>
          <a:p>
            <a:pPr lvl="1">
              <a:spcBef>
                <a:spcPts val="300"/>
              </a:spcBef>
            </a:pPr>
            <a:r>
              <a:rPr sz="1400" b="0">
                <a:solidFill>
                  <a:srgbClr val="333333"/>
                </a:solidFill>
                <a:latin typeface="Yu Gothic UI"/>
                <a:ea typeface="Yu Gothic UI"/>
              </a:rPr>
              <a:t>既存ワークロードは引き続き実行可能だが、Microsoft からの更新やサポートは提供されなくなる</a:t>
            </a:r>
          </a:p>
          <a:p>
            <a:pPr>
              <a:spcBef>
                <a:spcPts val="1400"/>
              </a:spcBef>
            </a:pPr>
            <a:r>
              <a:rPr sz="1300" b="1">
                <a:solidFill>
                  <a:srgbClr val="666666"/>
                </a:solidFill>
                <a:latin typeface="Yu Gothic UI"/>
                <a:ea typeface="Yu Gothic UI"/>
              </a:rPr>
              <a:t>対象製品: Azure SQL Database</a:t>
            </a:r>
          </a:p>
          <a:p>
            <a:pPr>
              <a:spcBef>
                <a:spcPts val="200"/>
              </a:spcBef>
            </a:pPr>
            <a:r>
              <a:rPr sz="1300" b="0">
                <a:solidFill>
                  <a:srgbClr val="666666"/>
                </a:solidFill>
                <a:latin typeface="Yu Gothic UI"/>
                <a:ea typeface="Yu Gothic UI"/>
              </a:rPr>
              <a:t>作成日: 2026/03/20</a:t>
            </a:r>
          </a:p>
          <a:p>
            <a:pPr>
              <a:spcBef>
                <a:spcPts val="200"/>
              </a:spcBef>
            </a:pPr>
            <a:r>
              <a:rPr sz="1300" b="0">
                <a:solidFill>
                  <a:srgbClr val="666666"/>
                </a:solidFill>
                <a:latin typeface="Yu Gothic UI"/>
                <a:ea typeface="Yu Gothic UI"/>
              </a:rPr>
              <a:t>可用性: Retirement 2027/March</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https://azure.microsoft.com/updates/?id=558086</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一般提供開始: Azure Data Box が Azure Files Provisioned v2 をサポート</a:t>
            </a:r>
          </a:p>
        </p:txBody>
      </p:sp>
      <p:sp>
        <p:nvSpPr>
          <p:cNvPr id="3" name="Content Placeholder 2"/>
          <p:cNvSpPr>
            <a:spLocks noGrp="1"/>
          </p:cNvSpPr>
          <p:nvPr>
            <p:ph idx="10" sz="quarter"/>
          </p:nvPr>
        </p:nvSpPr>
        <p:spPr>
          <a:xfrm>
            <a:off x="457200" y="939983"/>
            <a:ext cx="10561638" cy="5460817"/>
          </a:xfrm>
        </p:spPr>
        <p:txBody>
          <a:bodyPr lIns="365760" rIns="365760" tIns="91440" bIns="91440" wrap="square"/>
          <a:lstStyle/>
          <a:p>
            <a:pPr>
              <a:spcAft>
                <a:spcPts val="800"/>
              </a:spcAft>
            </a:pPr>
            <a:r>
              <a:rPr sz="1600" b="1">
                <a:solidFill>
                  <a:srgbClr val="107C10"/>
                </a:solidFill>
                <a:latin typeface="Yu Gothic UI"/>
                <a:ea typeface="Yu Gothic UI"/>
              </a:rPr>
              <a:t>【一般提供開始】</a:t>
            </a:r>
            <a:r>
              <a:rPr sz="1600" b="1">
                <a:solidFill>
                  <a:srgbClr val="333333"/>
                </a:solidFill>
                <a:latin typeface="Yu Gothic UI"/>
                <a:ea typeface="Yu Gothic UI"/>
              </a:rPr>
              <a:t>  重要度: 中</a:t>
            </a:r>
          </a:p>
          <a:p>
            <a:pPr lvl="1">
              <a:spcBef>
                <a:spcPts val="300"/>
              </a:spcBef>
            </a:pPr>
            <a:r>
              <a:rPr sz="1400" b="0">
                <a:solidFill>
                  <a:srgbClr val="333333"/>
                </a:solidFill>
                <a:latin typeface="Yu Gothic UI"/>
                <a:ea typeface="Yu Gothic UI"/>
              </a:rPr>
              <a:t>Azure Data Box が Azure Files Provisioned v2 ストレージ アカウントへのデータ取り込みをサポートするようになりました</a:t>
            </a:r>
          </a:p>
          <a:p>
            <a:pPr lvl="1">
              <a:spcBef>
                <a:spcPts val="300"/>
              </a:spcBef>
            </a:pPr>
            <a:r>
              <a:rPr sz="1400" b="0">
                <a:solidFill>
                  <a:srgbClr val="333333"/>
                </a:solidFill>
                <a:latin typeface="Yu Gothic UI"/>
                <a:ea typeface="Yu Gothic UI"/>
              </a:rPr>
              <a:t>Azure Files Provisioned v2 は、容量・IOPS・スループットの値をプロビジョニングして支払う課金モデルで、ファイル共有ワークロードに対して柔軟性とコスト管理を提供します</a:t>
            </a:r>
          </a:p>
          <a:p>
            <a:pPr lvl="1">
              <a:spcBef>
                <a:spcPts val="300"/>
              </a:spcBef>
            </a:pPr>
            <a:r>
              <a:rPr sz="1400" b="0">
                <a:solidFill>
                  <a:srgbClr val="333333"/>
                </a:solidFill>
                <a:latin typeface="Yu Gothic UI"/>
                <a:ea typeface="Yu Gothic UI"/>
              </a:rPr>
              <a:t>このアップデートにより、ほとんどのパブリック リージョンで Azure Data Box を使用して Azure Files Provisioned v2 ストレージ アカウントにデータを直接転送できます</a:t>
            </a:r>
          </a:p>
          <a:p>
            <a:pPr>
              <a:spcBef>
                <a:spcPts val="1400"/>
              </a:spcBef>
            </a:pPr>
            <a:r>
              <a:rPr sz="1300" b="1">
                <a:solidFill>
                  <a:srgbClr val="666666"/>
                </a:solidFill>
                <a:latin typeface="Yu Gothic UI"/>
                <a:ea typeface="Yu Gothic UI"/>
              </a:rPr>
              <a:t>対象製品: Azure Data Box</a:t>
            </a:r>
          </a:p>
          <a:p>
            <a:pPr>
              <a:spcBef>
                <a:spcPts val="200"/>
              </a:spcBef>
            </a:pPr>
            <a:r>
              <a:rPr sz="1300" b="0">
                <a:solidFill>
                  <a:srgbClr val="666666"/>
                </a:solidFill>
                <a:latin typeface="Yu Gothic UI"/>
                <a:ea typeface="Yu Gothic UI"/>
              </a:rPr>
              <a:t>作成日: 2026/04/01</a:t>
            </a:r>
          </a:p>
          <a:p>
            <a:pPr>
              <a:spcBef>
                <a:spcPts val="200"/>
              </a:spcBef>
            </a:pPr>
            <a:r>
              <a:rPr sz="1300" b="0">
                <a:solidFill>
                  <a:srgbClr val="666666"/>
                </a:solidFill>
                <a:latin typeface="Yu Gothic UI"/>
                <a:ea typeface="Yu Gothic UI"/>
              </a:rPr>
              <a:t>可用性: General Availability 2026/April</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https://azure.microsoft.com/updates/?id=559767</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一般提供開始: Azure SQL の2026年3月下旬アップデート</a:t>
            </a:r>
          </a:p>
        </p:txBody>
      </p:sp>
      <p:sp>
        <p:nvSpPr>
          <p:cNvPr id="3" name="Content Placeholder 2"/>
          <p:cNvSpPr>
            <a:spLocks noGrp="1"/>
          </p:cNvSpPr>
          <p:nvPr>
            <p:ph idx="10" sz="quarter"/>
          </p:nvPr>
        </p:nvSpPr>
        <p:spPr>
          <a:xfrm>
            <a:off x="457200" y="939983"/>
            <a:ext cx="10561638" cy="5460817"/>
          </a:xfrm>
        </p:spPr>
        <p:txBody>
          <a:bodyPr lIns="365760" rIns="365760" tIns="91440" bIns="91440" wrap="square"/>
          <a:lstStyle/>
          <a:p>
            <a:pPr>
              <a:spcAft>
                <a:spcPts val="800"/>
              </a:spcAft>
            </a:pPr>
            <a:r>
              <a:rPr sz="1600" b="1">
                <a:solidFill>
                  <a:srgbClr val="107C10"/>
                </a:solidFill>
                <a:latin typeface="Yu Gothic UI"/>
                <a:ea typeface="Yu Gothic UI"/>
              </a:rPr>
              <a:t>【一般提供開始】</a:t>
            </a:r>
            <a:r>
              <a:rPr sz="1600" b="1">
                <a:solidFill>
                  <a:srgbClr val="333333"/>
                </a:solidFill>
                <a:latin typeface="Yu Gothic UI"/>
                <a:ea typeface="Yu Gothic UI"/>
              </a:rPr>
              <a:t>  重要度: 中</a:t>
            </a:r>
          </a:p>
          <a:p>
            <a:pPr lvl="1">
              <a:spcBef>
                <a:spcPts val="300"/>
              </a:spcBef>
            </a:pPr>
            <a:r>
              <a:rPr sz="1400" b="0">
                <a:solidFill>
                  <a:srgbClr val="333333"/>
                </a:solidFill>
                <a:latin typeface="Yu Gothic UI"/>
                <a:ea typeface="Yu Gothic UI"/>
              </a:rPr>
              <a:t>2026年3月下旬に Azure SQL に以下の更新と機能強化が行われました</a:t>
            </a:r>
          </a:p>
          <a:p>
            <a:pPr lvl="1">
              <a:spcBef>
                <a:spcPts val="300"/>
              </a:spcBef>
            </a:pPr>
            <a:r>
              <a:rPr sz="1400" b="0">
                <a:solidFill>
                  <a:srgbClr val="333333"/>
                </a:solidFill>
                <a:latin typeface="Yu Gothic UI"/>
                <a:ea typeface="Yu Gothic UI"/>
              </a:rPr>
              <a:t>プロジェクト XML を編集せずに組み込み SQL コード分析ルールと重大度設定を構成可能に</a:t>
            </a:r>
          </a:p>
          <a:p>
            <a:pPr lvl="1">
              <a:spcBef>
                <a:spcPts val="300"/>
              </a:spcBef>
            </a:pPr>
            <a:r>
              <a:rPr sz="1400" b="0">
                <a:solidFill>
                  <a:srgbClr val="333333"/>
                </a:solidFill>
                <a:latin typeface="Yu Gothic UI"/>
                <a:ea typeface="Yu Gothic UI"/>
              </a:rPr>
              <a:t>MSSQL 拡張機能から Fabric ワークスペースおよびデータベースへの接続と新規データベース作成が可能に</a:t>
            </a:r>
          </a:p>
          <a:p>
            <a:pPr lvl="1">
              <a:spcBef>
                <a:spcPts val="300"/>
              </a:spcBef>
            </a:pPr>
            <a:r>
              <a:rPr sz="1400" b="0">
                <a:solidFill>
                  <a:srgbClr val="333333"/>
                </a:solidFill>
                <a:latin typeface="Yu Gothic UI"/>
                <a:ea typeface="Yu Gothic UI"/>
              </a:rPr>
              <a:t>MSSQL 拡張機能のデータ層アプリケーションで .dacpac および .bacpac ファイルのインポート/エクスポートが可能に</a:t>
            </a:r>
          </a:p>
          <a:p>
            <a:pPr>
              <a:spcBef>
                <a:spcPts val="1400"/>
              </a:spcBef>
            </a:pPr>
            <a:r>
              <a:rPr sz="1300" b="1">
                <a:solidFill>
                  <a:srgbClr val="666666"/>
                </a:solidFill>
                <a:latin typeface="Yu Gothic UI"/>
                <a:ea typeface="Yu Gothic UI"/>
              </a:rPr>
              <a:t>対象製品: Azure SQL Database</a:t>
            </a:r>
          </a:p>
          <a:p>
            <a:pPr>
              <a:spcBef>
                <a:spcPts val="200"/>
              </a:spcBef>
            </a:pPr>
            <a:r>
              <a:rPr sz="1300" b="0">
                <a:solidFill>
                  <a:srgbClr val="666666"/>
                </a:solidFill>
                <a:latin typeface="Yu Gothic UI"/>
                <a:ea typeface="Yu Gothic UI"/>
              </a:rPr>
              <a:t>作成日: 2026/03/26</a:t>
            </a:r>
          </a:p>
          <a:p>
            <a:pPr>
              <a:spcBef>
                <a:spcPts val="200"/>
              </a:spcBef>
            </a:pPr>
            <a:r>
              <a:rPr sz="1300" b="0">
                <a:solidFill>
                  <a:srgbClr val="666666"/>
                </a:solidFill>
                <a:latin typeface="Yu Gothic UI"/>
                <a:ea typeface="Yu Gothic UI"/>
              </a:rPr>
              <a:t>可用性: General Availability 2026/March</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https://azure.microsoft.com/updates/?id=558879</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000" b="1">
                <a:solidFill>
                  <a:srgbClr val="0078D4"/>
                </a:solidFill>
                <a:latin typeface="Yu Gothic UI"/>
                <a:ea typeface="Yu Gothic UI"/>
              </a:rPr>
              <a:t>一般提供開始: Microsoft Fabric における Cosmos DB ミラーリングのプライベートエンドポイント対応</a:t>
            </a:r>
          </a:p>
        </p:txBody>
      </p:sp>
      <p:sp>
        <p:nvSpPr>
          <p:cNvPr id="3" name="Content Placeholder 2"/>
          <p:cNvSpPr>
            <a:spLocks noGrp="1"/>
          </p:cNvSpPr>
          <p:nvPr>
            <p:ph idx="10" sz="quarter"/>
          </p:nvPr>
        </p:nvSpPr>
        <p:spPr>
          <a:xfrm>
            <a:off x="457200" y="939983"/>
            <a:ext cx="10561638" cy="5460817"/>
          </a:xfrm>
        </p:spPr>
        <p:txBody>
          <a:bodyPr lIns="365760" rIns="365760" tIns="91440" bIns="91440" wrap="square"/>
          <a:lstStyle/>
          <a:p>
            <a:pPr>
              <a:spcAft>
                <a:spcPts val="800"/>
              </a:spcAft>
            </a:pPr>
            <a:r>
              <a:rPr sz="1600" b="1">
                <a:solidFill>
                  <a:srgbClr val="107C10"/>
                </a:solidFill>
                <a:latin typeface="Yu Gothic UI"/>
                <a:ea typeface="Yu Gothic UI"/>
              </a:rPr>
              <a:t>【一般提供開始】</a:t>
            </a:r>
            <a:r>
              <a:rPr sz="1600" b="1">
                <a:solidFill>
                  <a:srgbClr val="333333"/>
                </a:solidFill>
                <a:latin typeface="Yu Gothic UI"/>
                <a:ea typeface="Yu Gothic UI"/>
              </a:rPr>
              <a:t>  重要度: 中</a:t>
            </a:r>
          </a:p>
          <a:p>
            <a:pPr lvl="1">
              <a:spcBef>
                <a:spcPts val="300"/>
              </a:spcBef>
            </a:pPr>
            <a:r>
              <a:rPr sz="1400" b="0">
                <a:solidFill>
                  <a:srgbClr val="333333"/>
                </a:solidFill>
                <a:latin typeface="Yu Gothic UI"/>
                <a:ea typeface="Yu Gothic UI"/>
              </a:rPr>
              <a:t>Microsoft Fabric における Azure Cosmos DB ミラーリングのプライベートエンドポイントサポートが一般提供開始されました</a:t>
            </a:r>
          </a:p>
          <a:p>
            <a:pPr lvl="1">
              <a:spcBef>
                <a:spcPts val="300"/>
              </a:spcBef>
            </a:pPr>
            <a:r>
              <a:rPr sz="1400" b="0">
                <a:solidFill>
                  <a:srgbClr val="333333"/>
                </a:solidFill>
                <a:latin typeface="Yu Gothic UI"/>
                <a:ea typeface="Yu Gothic UI"/>
              </a:rPr>
              <a:t>強化されたネットワークセキュリティを維持しながら、運用データに対する強力な分析機能を利用できます</a:t>
            </a:r>
          </a:p>
          <a:p>
            <a:pPr lvl="1">
              <a:spcBef>
                <a:spcPts val="300"/>
              </a:spcBef>
            </a:pPr>
            <a:r>
              <a:rPr sz="1400" b="0">
                <a:solidFill>
                  <a:srgbClr val="333333"/>
                </a:solidFill>
                <a:latin typeface="Yu Gothic UI"/>
                <a:ea typeface="Yu Gothic UI"/>
              </a:rPr>
              <a:t>仮想ネットワーク制限の構成、プライベートエンドポイントの設定により、データが Fabric ワークスペースにレプリケートされる際にプライベートネットワーク境界内で保護されます</a:t>
            </a:r>
          </a:p>
          <a:p>
            <a:pPr lvl="1">
              <a:spcBef>
                <a:spcPts val="300"/>
              </a:spcBef>
            </a:pPr>
            <a:r>
              <a:rPr sz="1400" b="0">
                <a:solidFill>
                  <a:srgbClr val="333333"/>
                </a:solidFill>
                <a:latin typeface="Yu Gothic UI"/>
                <a:ea typeface="Yu Gothic UI"/>
              </a:rPr>
              <a:t>Azure Cosmos DB のネットワークアクセス制御リストで特定の Fabric ワークスペース ID を承認できます</a:t>
            </a:r>
          </a:p>
          <a:p>
            <a:pPr>
              <a:spcBef>
                <a:spcPts val="1400"/>
              </a:spcBef>
            </a:pPr>
            <a:r>
              <a:rPr sz="1300" b="1">
                <a:solidFill>
                  <a:srgbClr val="666666"/>
                </a:solidFill>
                <a:latin typeface="Yu Gothic UI"/>
                <a:ea typeface="Yu Gothic UI"/>
              </a:rPr>
              <a:t>対象製品: Azure Cosmos DB</a:t>
            </a:r>
          </a:p>
          <a:p>
            <a:pPr>
              <a:spcBef>
                <a:spcPts val="200"/>
              </a:spcBef>
            </a:pPr>
            <a:r>
              <a:rPr sz="1300" b="0">
                <a:solidFill>
                  <a:srgbClr val="666666"/>
                </a:solidFill>
                <a:latin typeface="Yu Gothic UI"/>
                <a:ea typeface="Yu Gothic UI"/>
              </a:rPr>
              <a:t>作成日: 2026/03/25</a:t>
            </a:r>
          </a:p>
          <a:p>
            <a:pPr>
              <a:spcBef>
                <a:spcPts val="200"/>
              </a:spcBef>
            </a:pPr>
            <a:r>
              <a:rPr sz="1300" b="0">
                <a:solidFill>
                  <a:srgbClr val="666666"/>
                </a:solidFill>
                <a:latin typeface="Yu Gothic UI"/>
                <a:ea typeface="Yu Gothic UI"/>
              </a:rPr>
              <a:t>可用性: General Availability 2026/March</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https://azure.microsoft.com/updates/?id=558836</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一般提供開始: オンライン移行で pgoutput プラグインを使用可能に</a:t>
            </a:r>
          </a:p>
        </p:txBody>
      </p:sp>
      <p:sp>
        <p:nvSpPr>
          <p:cNvPr id="3" name="Content Placeholder 2"/>
          <p:cNvSpPr>
            <a:spLocks noGrp="1"/>
          </p:cNvSpPr>
          <p:nvPr>
            <p:ph idx="10" sz="quarter"/>
          </p:nvPr>
        </p:nvSpPr>
        <p:spPr>
          <a:xfrm>
            <a:off x="457200" y="939983"/>
            <a:ext cx="10561638" cy="5460817"/>
          </a:xfrm>
        </p:spPr>
        <p:txBody>
          <a:bodyPr lIns="365760" rIns="365760" tIns="91440" bIns="91440" wrap="square"/>
          <a:lstStyle/>
          <a:p>
            <a:pPr>
              <a:spcAft>
                <a:spcPts val="800"/>
              </a:spcAft>
            </a:pPr>
            <a:r>
              <a:rPr sz="1600" b="1">
                <a:solidFill>
                  <a:srgbClr val="107C10"/>
                </a:solidFill>
                <a:latin typeface="Yu Gothic UI"/>
                <a:ea typeface="Yu Gothic UI"/>
              </a:rPr>
              <a:t>【一般提供開始】</a:t>
            </a:r>
            <a:r>
              <a:rPr sz="1600" b="1">
                <a:solidFill>
                  <a:srgbClr val="333333"/>
                </a:solidFill>
                <a:latin typeface="Yu Gothic UI"/>
                <a:ea typeface="Yu Gothic UI"/>
              </a:rPr>
              <a:t>  重要度: 中</a:t>
            </a:r>
          </a:p>
          <a:p>
            <a:pPr lvl="1">
              <a:spcBef>
                <a:spcPts val="300"/>
              </a:spcBef>
            </a:pPr>
            <a:r>
              <a:rPr sz="1400" b="0">
                <a:solidFill>
                  <a:srgbClr val="333333"/>
                </a:solidFill>
                <a:latin typeface="Yu Gothic UI"/>
                <a:ea typeface="Yu Gothic UI"/>
              </a:rPr>
              <a:t>オンライン（最小ダウンタイム）移行で pgoutput を活用し、信頼性とパフォーマンスが向上しました</a:t>
            </a:r>
          </a:p>
          <a:p>
            <a:pPr lvl="1">
              <a:spcBef>
                <a:spcPts val="300"/>
              </a:spcBef>
            </a:pPr>
            <a:r>
              <a:rPr sz="1400" b="0">
                <a:solidFill>
                  <a:srgbClr val="333333"/>
                </a:solidFill>
                <a:latin typeface="Yu Gothic UI"/>
                <a:ea typeface="Yu Gothic UI"/>
              </a:rPr>
              <a:t>PostgreSQL のネイティブ論理レプリケーションフレームワークに準拠することで、最新の PostgreSQL デプロイメントとのエコシステム互換性が向上し、レガシーデコードメカニズムへの依存が軽減されます</a:t>
            </a:r>
          </a:p>
          <a:p>
            <a:pPr>
              <a:spcBef>
                <a:spcPts val="1400"/>
              </a:spcBef>
            </a:pPr>
            <a:r>
              <a:rPr sz="1300" b="1">
                <a:solidFill>
                  <a:srgbClr val="666666"/>
                </a:solidFill>
                <a:latin typeface="Yu Gothic UI"/>
                <a:ea typeface="Yu Gothic UI"/>
              </a:rPr>
              <a:t>対象製品: Azure Database for PostgreSQL</a:t>
            </a:r>
          </a:p>
          <a:p>
            <a:pPr>
              <a:spcBef>
                <a:spcPts val="200"/>
              </a:spcBef>
            </a:pPr>
            <a:r>
              <a:rPr sz="1300" b="0">
                <a:solidFill>
                  <a:srgbClr val="666666"/>
                </a:solidFill>
                <a:latin typeface="Yu Gothic UI"/>
                <a:ea typeface="Yu Gothic UI"/>
              </a:rPr>
              <a:t>作成日: 2026/03/25</a:t>
            </a:r>
          </a:p>
          <a:p>
            <a:pPr>
              <a:spcBef>
                <a:spcPts val="200"/>
              </a:spcBef>
            </a:pPr>
            <a:r>
              <a:rPr sz="1300" b="0">
                <a:solidFill>
                  <a:srgbClr val="666666"/>
                </a:solidFill>
                <a:latin typeface="Yu Gothic UI"/>
                <a:ea typeface="Yu Gothic UI"/>
              </a:rPr>
              <a:t>可用性: General Availability 2026/March</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https://azure.microsoft.com/updates/?id=558846</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000" b="1">
                <a:solidFill>
                  <a:srgbClr val="0078D4"/>
                </a:solidFill>
                <a:latin typeface="Yu Gothic UI"/>
                <a:ea typeface="Yu Gothic UI"/>
              </a:rPr>
              <a:t>一般提供開始: PostgreSQL 移行サービスが Google AlloyDB から Azure Database for PostgreSQL への移行をサポート</a:t>
            </a:r>
          </a:p>
        </p:txBody>
      </p:sp>
      <p:sp>
        <p:nvSpPr>
          <p:cNvPr id="3" name="Content Placeholder 2"/>
          <p:cNvSpPr>
            <a:spLocks noGrp="1"/>
          </p:cNvSpPr>
          <p:nvPr>
            <p:ph idx="10" sz="quarter"/>
          </p:nvPr>
        </p:nvSpPr>
        <p:spPr>
          <a:xfrm>
            <a:off x="457200" y="939983"/>
            <a:ext cx="10561638" cy="5460817"/>
          </a:xfrm>
        </p:spPr>
        <p:txBody>
          <a:bodyPr lIns="365760" rIns="365760" tIns="91440" bIns="91440" wrap="square"/>
          <a:lstStyle/>
          <a:p>
            <a:pPr>
              <a:spcAft>
                <a:spcPts val="800"/>
              </a:spcAft>
            </a:pPr>
            <a:r>
              <a:rPr sz="1600" b="1">
                <a:solidFill>
                  <a:srgbClr val="107C10"/>
                </a:solidFill>
                <a:latin typeface="Yu Gothic UI"/>
                <a:ea typeface="Yu Gothic UI"/>
              </a:rPr>
              <a:t>【一般提供開始】</a:t>
            </a:r>
            <a:r>
              <a:rPr sz="1600" b="1">
                <a:solidFill>
                  <a:srgbClr val="333333"/>
                </a:solidFill>
                <a:latin typeface="Yu Gothic UI"/>
                <a:ea typeface="Yu Gothic UI"/>
              </a:rPr>
              <a:t>  重要度: 中</a:t>
            </a:r>
          </a:p>
          <a:p>
            <a:pPr lvl="1">
              <a:spcBef>
                <a:spcPts val="300"/>
              </a:spcBef>
            </a:pPr>
            <a:r>
              <a:rPr sz="1400" b="0">
                <a:solidFill>
                  <a:srgbClr val="333333"/>
                </a:solidFill>
                <a:latin typeface="Yu Gothic UI"/>
                <a:ea typeface="Yu Gothic UI"/>
              </a:rPr>
              <a:t>Google AlloyDB が Azure Database for PostgreSQL への移行ソースとしてサポートされました</a:t>
            </a:r>
          </a:p>
          <a:p>
            <a:pPr lvl="1">
              <a:spcBef>
                <a:spcPts val="300"/>
              </a:spcBef>
            </a:pPr>
            <a:r>
              <a:rPr sz="1400" b="0">
                <a:solidFill>
                  <a:srgbClr val="333333"/>
                </a:solidFill>
                <a:latin typeface="Yu Gothic UI"/>
                <a:ea typeface="Yu Gothic UI"/>
              </a:rPr>
              <a:t>最小ダウンタイムを実現するセキュアで信頼性の高いワークフローを使用して、Google AlloyDB から Azure に PostgreSQL 環境を移行・統合でき、ネイティブ PostgreSQL 互換性をエンドツーエンドで維持します</a:t>
            </a:r>
          </a:p>
          <a:p>
            <a:pPr>
              <a:spcBef>
                <a:spcPts val="1400"/>
              </a:spcBef>
            </a:pPr>
            <a:r>
              <a:rPr sz="1300" b="1">
                <a:solidFill>
                  <a:srgbClr val="666666"/>
                </a:solidFill>
                <a:latin typeface="Yu Gothic UI"/>
                <a:ea typeface="Yu Gothic UI"/>
              </a:rPr>
              <a:t>対象製品: Azure Database for PostgreSQL</a:t>
            </a:r>
          </a:p>
          <a:p>
            <a:pPr>
              <a:spcBef>
                <a:spcPts val="200"/>
              </a:spcBef>
            </a:pPr>
            <a:r>
              <a:rPr sz="1300" b="0">
                <a:solidFill>
                  <a:srgbClr val="666666"/>
                </a:solidFill>
                <a:latin typeface="Yu Gothic UI"/>
                <a:ea typeface="Yu Gothic UI"/>
              </a:rPr>
              <a:t>作成日: 2026/03/25</a:t>
            </a:r>
          </a:p>
          <a:p>
            <a:pPr>
              <a:spcBef>
                <a:spcPts val="200"/>
              </a:spcBef>
            </a:pPr>
            <a:r>
              <a:rPr sz="1300" b="0">
                <a:solidFill>
                  <a:srgbClr val="666666"/>
                </a:solidFill>
                <a:latin typeface="Yu Gothic UI"/>
                <a:ea typeface="Yu Gothic UI"/>
              </a:rPr>
              <a:t>可用性: General Availability 2026/March</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https://azure.microsoft.com/updates/?id=558851</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000" b="1">
                <a:solidFill>
                  <a:srgbClr val="0078D4"/>
                </a:solidFill>
                <a:latin typeface="Yu Gothic UI"/>
                <a:ea typeface="Yu Gothic UI"/>
              </a:rPr>
              <a:t>一般提供開始: PostgreSQL 移行サービスが EDB 互換ワークロードから Azure Database for PostgreSQL への移行をサポート</a:t>
            </a:r>
          </a:p>
        </p:txBody>
      </p:sp>
      <p:sp>
        <p:nvSpPr>
          <p:cNvPr id="3" name="Content Placeholder 2"/>
          <p:cNvSpPr>
            <a:spLocks noGrp="1"/>
          </p:cNvSpPr>
          <p:nvPr>
            <p:ph idx="10" sz="quarter"/>
          </p:nvPr>
        </p:nvSpPr>
        <p:spPr>
          <a:xfrm>
            <a:off x="457200" y="939983"/>
            <a:ext cx="10561638" cy="5460817"/>
          </a:xfrm>
        </p:spPr>
        <p:txBody>
          <a:bodyPr lIns="365760" rIns="365760" tIns="91440" bIns="91440" wrap="square"/>
          <a:lstStyle/>
          <a:p>
            <a:pPr>
              <a:spcAft>
                <a:spcPts val="800"/>
              </a:spcAft>
            </a:pPr>
            <a:r>
              <a:rPr sz="1600" b="1">
                <a:solidFill>
                  <a:srgbClr val="107C10"/>
                </a:solidFill>
                <a:latin typeface="Yu Gothic UI"/>
                <a:ea typeface="Yu Gothic UI"/>
              </a:rPr>
              <a:t>【一般提供開始】</a:t>
            </a:r>
            <a:r>
              <a:rPr sz="1600" b="1">
                <a:solidFill>
                  <a:srgbClr val="333333"/>
                </a:solidFill>
                <a:latin typeface="Yu Gothic UI"/>
                <a:ea typeface="Yu Gothic UI"/>
              </a:rPr>
              <a:t>  重要度: 中</a:t>
            </a:r>
          </a:p>
          <a:p>
            <a:pPr lvl="1">
              <a:spcBef>
                <a:spcPts val="300"/>
              </a:spcBef>
            </a:pPr>
            <a:r>
              <a:rPr sz="1400" b="0">
                <a:solidFill>
                  <a:srgbClr val="333333"/>
                </a:solidFill>
                <a:latin typeface="Yu Gothic UI"/>
                <a:ea typeface="Yu Gothic UI"/>
              </a:rPr>
              <a:t>EDB PostgreSQL が Azure Database for PostgreSQL への移行ソースとしてサポートされました</a:t>
            </a:r>
          </a:p>
          <a:p>
            <a:pPr lvl="1">
              <a:spcBef>
                <a:spcPts val="300"/>
              </a:spcBef>
            </a:pPr>
            <a:r>
              <a:rPr sz="1400" b="0">
                <a:solidFill>
                  <a:srgbClr val="333333"/>
                </a:solidFill>
                <a:latin typeface="Yu Gothic UI"/>
                <a:ea typeface="Yu Gothic UI"/>
              </a:rPr>
              <a:t>最小ダウンタイムを実現するセキュアで信頼性の高いワークフローを使用して、EDB Postgres Extended Server から Azure に PostgreSQL 環境を移行・統合でき、ネイティブ PostgreSQL 互換性をエ…</a:t>
            </a:r>
          </a:p>
          <a:p>
            <a:pPr>
              <a:spcBef>
                <a:spcPts val="1400"/>
              </a:spcBef>
            </a:pPr>
            <a:r>
              <a:rPr sz="1300" b="1">
                <a:solidFill>
                  <a:srgbClr val="666666"/>
                </a:solidFill>
                <a:latin typeface="Yu Gothic UI"/>
                <a:ea typeface="Yu Gothic UI"/>
              </a:rPr>
              <a:t>対象製品: Azure Database for PostgreSQL</a:t>
            </a:r>
          </a:p>
          <a:p>
            <a:pPr>
              <a:spcBef>
                <a:spcPts val="200"/>
              </a:spcBef>
            </a:pPr>
            <a:r>
              <a:rPr sz="1300" b="0">
                <a:solidFill>
                  <a:srgbClr val="666666"/>
                </a:solidFill>
                <a:latin typeface="Yu Gothic UI"/>
                <a:ea typeface="Yu Gothic UI"/>
              </a:rPr>
              <a:t>作成日: 2026/03/25</a:t>
            </a:r>
          </a:p>
          <a:p>
            <a:pPr>
              <a:spcBef>
                <a:spcPts val="200"/>
              </a:spcBef>
            </a:pPr>
            <a:r>
              <a:rPr sz="1300" b="0">
                <a:solidFill>
                  <a:srgbClr val="666666"/>
                </a:solidFill>
                <a:latin typeface="Yu Gothic UI"/>
                <a:ea typeface="Yu Gothic UI"/>
              </a:rPr>
              <a:t>可用性: General Availability 2026/March</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https://azure.microsoft.com/updates/?id=558865</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000" b="1">
                <a:solidFill>
                  <a:srgbClr val="0078D4"/>
                </a:solidFill>
                <a:latin typeface="Yu Gothic UI"/>
                <a:ea typeface="Yu Gothic UI"/>
              </a:rPr>
              <a:t>一般提供開始: Azure Database for PostgreSQL で pg_cron のカスタムタイムゾーン設定（cron.timezone）をサポート</a:t>
            </a:r>
          </a:p>
        </p:txBody>
      </p:sp>
      <p:sp>
        <p:nvSpPr>
          <p:cNvPr id="3" name="Content Placeholder 2"/>
          <p:cNvSpPr>
            <a:spLocks noGrp="1"/>
          </p:cNvSpPr>
          <p:nvPr>
            <p:ph idx="10" sz="quarter"/>
          </p:nvPr>
        </p:nvSpPr>
        <p:spPr>
          <a:xfrm>
            <a:off x="457200" y="939983"/>
            <a:ext cx="10561638" cy="5460817"/>
          </a:xfrm>
        </p:spPr>
        <p:txBody>
          <a:bodyPr lIns="365760" rIns="365760" tIns="91440" bIns="91440" wrap="square"/>
          <a:lstStyle/>
          <a:p>
            <a:pPr>
              <a:spcAft>
                <a:spcPts val="800"/>
              </a:spcAft>
            </a:pPr>
            <a:r>
              <a:rPr sz="1600" b="1">
                <a:solidFill>
                  <a:srgbClr val="107C10"/>
                </a:solidFill>
                <a:latin typeface="Yu Gothic UI"/>
                <a:ea typeface="Yu Gothic UI"/>
              </a:rPr>
              <a:t>【一般提供開始】</a:t>
            </a:r>
            <a:r>
              <a:rPr sz="1600" b="1">
                <a:solidFill>
                  <a:srgbClr val="333333"/>
                </a:solidFill>
                <a:latin typeface="Yu Gothic UI"/>
                <a:ea typeface="Yu Gothic UI"/>
              </a:rPr>
              <a:t>  重要度: 中</a:t>
            </a:r>
          </a:p>
          <a:p>
            <a:pPr lvl="1">
              <a:spcBef>
                <a:spcPts val="300"/>
              </a:spcBef>
            </a:pPr>
            <a:r>
              <a:rPr sz="1400" b="0">
                <a:solidFill>
                  <a:srgbClr val="333333"/>
                </a:solidFill>
                <a:latin typeface="Yu Gothic UI"/>
                <a:ea typeface="Yu Gothic UI"/>
              </a:rPr>
              <a:t>Azure Database for PostgreSQL で cron.timezone サーバーパラメーターの変更が可能になりました</a:t>
            </a:r>
          </a:p>
          <a:p>
            <a:pPr lvl="1">
              <a:spcBef>
                <a:spcPts val="300"/>
              </a:spcBef>
            </a:pPr>
            <a:r>
              <a:rPr sz="1400" b="0">
                <a:solidFill>
                  <a:srgbClr val="333333"/>
                </a:solidFill>
                <a:latin typeface="Yu Gothic UI"/>
                <a:ea typeface="Yu Gothic UI"/>
              </a:rPr>
              <a:t>このパラメーターは pg_cron がスケジュールジョブを評価する際に使用するタイムゾーンを制御します</a:t>
            </a:r>
          </a:p>
          <a:p>
            <a:pPr lvl="1">
              <a:spcBef>
                <a:spcPts val="300"/>
              </a:spcBef>
            </a:pPr>
            <a:r>
              <a:rPr sz="1400" b="0">
                <a:solidFill>
                  <a:srgbClr val="333333"/>
                </a:solidFill>
                <a:latin typeface="Yu Gothic UI"/>
                <a:ea typeface="Yu Gothic UI"/>
              </a:rPr>
              <a:t>cron.timezone を設定することで、サーバーのデフォルト設定に依存せず、任意のタイムゾーンでスケジュールジョブを実行できます</a:t>
            </a:r>
          </a:p>
          <a:p>
            <a:pPr lvl="1">
              <a:spcBef>
                <a:spcPts val="300"/>
              </a:spcBef>
            </a:pPr>
            <a:r>
              <a:rPr sz="1400" b="0">
                <a:solidFill>
                  <a:srgbClr val="333333"/>
                </a:solidFill>
                <a:latin typeface="Yu Gothic UI"/>
                <a:ea typeface="Yu Gothic UI"/>
              </a:rPr>
              <a:t>Azure portal、Azure CLI、Azure Resource Manager、REST API から設定を更新でき、新しくスケジュールされた pg_cron ジョブに適用されます</a:t>
            </a:r>
          </a:p>
          <a:p>
            <a:pPr>
              <a:spcBef>
                <a:spcPts val="1400"/>
              </a:spcBef>
            </a:pPr>
            <a:r>
              <a:rPr sz="1300" b="1">
                <a:solidFill>
                  <a:srgbClr val="666666"/>
                </a:solidFill>
                <a:latin typeface="Yu Gothic UI"/>
                <a:ea typeface="Yu Gothic UI"/>
              </a:rPr>
              <a:t>対象製品: Azure Database for PostgreSQL</a:t>
            </a:r>
          </a:p>
          <a:p>
            <a:pPr>
              <a:spcBef>
                <a:spcPts val="200"/>
              </a:spcBef>
            </a:pPr>
            <a:r>
              <a:rPr sz="1300" b="0">
                <a:solidFill>
                  <a:srgbClr val="666666"/>
                </a:solidFill>
                <a:latin typeface="Yu Gothic UI"/>
                <a:ea typeface="Yu Gothic UI"/>
              </a:rPr>
              <a:t>作成日: 2026/03/25</a:t>
            </a:r>
          </a:p>
          <a:p>
            <a:pPr>
              <a:spcBef>
                <a:spcPts val="200"/>
              </a:spcBef>
            </a:pPr>
            <a:r>
              <a:rPr sz="1300" b="0">
                <a:solidFill>
                  <a:srgbClr val="666666"/>
                </a:solidFill>
                <a:latin typeface="Yu Gothic UI"/>
                <a:ea typeface="Yu Gothic UI"/>
              </a:rPr>
              <a:t>可用性: General Availability 2026/March</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https://azure.microsoft.com/updates/?id=558870</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一般提供開始: 2026年3月中旬の Azure SQL アップデート</a:t>
            </a:r>
          </a:p>
        </p:txBody>
      </p:sp>
      <p:sp>
        <p:nvSpPr>
          <p:cNvPr id="3" name="Content Placeholder 2"/>
          <p:cNvSpPr>
            <a:spLocks noGrp="1"/>
          </p:cNvSpPr>
          <p:nvPr>
            <p:ph idx="10" sz="quarter"/>
          </p:nvPr>
        </p:nvSpPr>
        <p:spPr>
          <a:xfrm>
            <a:off x="457200" y="939983"/>
            <a:ext cx="10561638" cy="5460817"/>
          </a:xfrm>
        </p:spPr>
        <p:txBody>
          <a:bodyPr lIns="365760" rIns="365760" tIns="91440" bIns="91440" wrap="square"/>
          <a:lstStyle/>
          <a:p>
            <a:pPr>
              <a:spcAft>
                <a:spcPts val="800"/>
              </a:spcAft>
            </a:pPr>
            <a:r>
              <a:rPr sz="1600" b="1">
                <a:solidFill>
                  <a:srgbClr val="107C10"/>
                </a:solidFill>
                <a:latin typeface="Yu Gothic UI"/>
                <a:ea typeface="Yu Gothic UI"/>
              </a:rPr>
              <a:t>【一般提供開始】</a:t>
            </a:r>
            <a:r>
              <a:rPr sz="1600" b="1">
                <a:solidFill>
                  <a:srgbClr val="333333"/>
                </a:solidFill>
                <a:latin typeface="Yu Gothic UI"/>
                <a:ea typeface="Yu Gothic UI"/>
              </a:rPr>
              <a:t>  重要度: 中</a:t>
            </a:r>
          </a:p>
          <a:p>
            <a:pPr lvl="1">
              <a:spcBef>
                <a:spcPts val="300"/>
              </a:spcBef>
            </a:pPr>
            <a:r>
              <a:rPr sz="1400" b="0">
                <a:solidFill>
                  <a:srgbClr val="333333"/>
                </a:solidFill>
                <a:latin typeface="Yu Gothic UI"/>
                <a:ea typeface="Yu Gothic UI"/>
              </a:rPr>
              <a:t>2026年3月中旬の Azure SQL の一般提供アップデート</a:t>
            </a:r>
          </a:p>
          <a:p>
            <a:pPr lvl="1">
              <a:spcBef>
                <a:spcPts val="300"/>
              </a:spcBef>
            </a:pPr>
            <a:r>
              <a:rPr sz="1400" b="0">
                <a:solidFill>
                  <a:srgbClr val="333333"/>
                </a:solidFill>
                <a:latin typeface="Yu Gothic UI"/>
                <a:ea typeface="Yu Gothic UI"/>
              </a:rPr>
              <a:t>Visual Studio Code から SQL データベースプロジェクトを直接発行しデプロイワークフローを効率化</a:t>
            </a:r>
          </a:p>
          <a:p>
            <a:pPr lvl="1">
              <a:spcBef>
                <a:spcPts val="300"/>
              </a:spcBef>
            </a:pPr>
            <a:r>
              <a:rPr sz="1400" b="0">
                <a:solidFill>
                  <a:srgbClr val="333333"/>
                </a:solidFill>
                <a:latin typeface="Yu Gothic UI"/>
                <a:ea typeface="Yu Gothic UI"/>
              </a:rPr>
              <a:t>MSSQL 拡張機能でインタラクティブグリッドを使用して SQL テーブルデータを直接表示・編集可能に</a:t>
            </a:r>
          </a:p>
          <a:p>
            <a:pPr lvl="1">
              <a:spcBef>
                <a:spcPts val="300"/>
              </a:spcBef>
            </a:pPr>
            <a:r>
              <a:rPr sz="1400" b="0">
                <a:solidFill>
                  <a:srgbClr val="333333"/>
                </a:solidFill>
                <a:latin typeface="Yu Gothic UI"/>
                <a:ea typeface="Yu Gothic UI"/>
              </a:rPr>
              <a:t>Azure SQL Database で透過的データ暗号化 (TDE) 用のバージョンレスキーをサポートし、顧客管理キーの管理を簡素化</a:t>
            </a:r>
          </a:p>
          <a:p>
            <a:pPr>
              <a:spcBef>
                <a:spcPts val="1400"/>
              </a:spcBef>
            </a:pPr>
            <a:r>
              <a:rPr sz="1300" b="1">
                <a:solidFill>
                  <a:srgbClr val="666666"/>
                </a:solidFill>
                <a:latin typeface="Yu Gothic UI"/>
                <a:ea typeface="Yu Gothic UI"/>
              </a:rPr>
              <a:t>対象製品: Azure SQL Database</a:t>
            </a:r>
          </a:p>
          <a:p>
            <a:pPr>
              <a:spcBef>
                <a:spcPts val="200"/>
              </a:spcBef>
            </a:pPr>
            <a:r>
              <a:rPr sz="1300" b="0">
                <a:solidFill>
                  <a:srgbClr val="666666"/>
                </a:solidFill>
                <a:latin typeface="Yu Gothic UI"/>
                <a:ea typeface="Yu Gothic UI"/>
              </a:rPr>
              <a:t>作成日: 2026/03/18</a:t>
            </a:r>
          </a:p>
          <a:p>
            <a:pPr>
              <a:spcBef>
                <a:spcPts val="200"/>
              </a:spcBef>
            </a:pPr>
            <a:r>
              <a:rPr sz="1300" b="0">
                <a:solidFill>
                  <a:srgbClr val="666666"/>
                </a:solidFill>
                <a:latin typeface="Yu Gothic UI"/>
                <a:ea typeface="Yu Gothic UI"/>
              </a:rPr>
              <a:t>可用性: General Availability 2026/March</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https://azure.microsoft.com/updates/?id=558121</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一般提供開始: Azure Databricks で Lakeflow Connect Free Tier が利用可能に</a:t>
            </a:r>
          </a:p>
        </p:txBody>
      </p:sp>
      <p:sp>
        <p:nvSpPr>
          <p:cNvPr id="3" name="Content Placeholder 2"/>
          <p:cNvSpPr>
            <a:spLocks noGrp="1"/>
          </p:cNvSpPr>
          <p:nvPr>
            <p:ph idx="10" sz="quarter"/>
          </p:nvPr>
        </p:nvSpPr>
        <p:spPr>
          <a:xfrm>
            <a:off x="457200" y="939983"/>
            <a:ext cx="10561638" cy="5460817"/>
          </a:xfrm>
        </p:spPr>
        <p:txBody>
          <a:bodyPr lIns="365760" rIns="365760" tIns="91440" bIns="91440" wrap="square"/>
          <a:lstStyle/>
          <a:p>
            <a:pPr>
              <a:spcAft>
                <a:spcPts val="800"/>
              </a:spcAft>
            </a:pPr>
            <a:r>
              <a:rPr sz="1600" b="1">
                <a:solidFill>
                  <a:srgbClr val="107C10"/>
                </a:solidFill>
                <a:latin typeface="Yu Gothic UI"/>
                <a:ea typeface="Yu Gothic UI"/>
              </a:rPr>
              <a:t>【一般提供開始】</a:t>
            </a:r>
            <a:r>
              <a:rPr sz="1600" b="1">
                <a:solidFill>
                  <a:srgbClr val="333333"/>
                </a:solidFill>
                <a:latin typeface="Yu Gothic UI"/>
                <a:ea typeface="Yu Gothic UI"/>
              </a:rPr>
              <a:t>  重要度: 中</a:t>
            </a:r>
          </a:p>
          <a:p>
            <a:pPr lvl="1">
              <a:spcBef>
                <a:spcPts val="300"/>
              </a:spcBef>
            </a:pPr>
            <a:r>
              <a:rPr sz="1400" b="0">
                <a:solidFill>
                  <a:srgbClr val="333333"/>
                </a:solidFill>
                <a:latin typeface="Yu Gothic UI"/>
                <a:ea typeface="Yu Gothic UI"/>
              </a:rPr>
              <a:t>Azure Databricks で Lakeflow Connect Free Tier が一般提供開始</a:t>
            </a:r>
          </a:p>
          <a:p>
            <a:pPr lvl="1">
              <a:spcBef>
                <a:spcPts val="300"/>
              </a:spcBef>
            </a:pPr>
            <a:r>
              <a:rPr sz="1400" b="0">
                <a:solidFill>
                  <a:srgbClr val="333333"/>
                </a:solidFill>
                <a:latin typeface="Yu Gothic UI"/>
                <a:ea typeface="Yu Gothic UI"/>
              </a:rPr>
              <a:t>各ワークスペースに1日あたり 100 無料 DBU が提供され、SaaS アプリケーションやデータベースからのデータ取り込みに利用可能</a:t>
            </a:r>
          </a:p>
          <a:p>
            <a:pPr lvl="1">
              <a:spcBef>
                <a:spcPts val="300"/>
              </a:spcBef>
            </a:pPr>
            <a:r>
              <a:rPr sz="1400" b="0">
                <a:solidFill>
                  <a:srgbClr val="333333"/>
                </a:solidFill>
                <a:latin typeface="Yu Gothic UI"/>
                <a:ea typeface="Yu Gothic UI"/>
              </a:rPr>
              <a:t>1ワークスペースあたり1日約1億件のレコードを無料で Lakehouse に取り込める</a:t>
            </a:r>
          </a:p>
          <a:p>
            <a:pPr lvl="1">
              <a:spcBef>
                <a:spcPts val="300"/>
              </a:spcBef>
            </a:pPr>
            <a:r>
              <a:rPr sz="1400" b="0">
                <a:solidFill>
                  <a:srgbClr val="333333"/>
                </a:solidFill>
                <a:latin typeface="Yu Gothic UI"/>
                <a:ea typeface="Yu Gothic UI"/>
              </a:rPr>
              <a:t>Unity Catalog によるガバナンスと Genie 等の分析・AI アプリケーションを活用可能</a:t>
            </a:r>
          </a:p>
          <a:p>
            <a:pPr>
              <a:spcBef>
                <a:spcPts val="1400"/>
              </a:spcBef>
            </a:pPr>
            <a:r>
              <a:rPr sz="1300" b="1">
                <a:solidFill>
                  <a:srgbClr val="666666"/>
                </a:solidFill>
                <a:latin typeface="Yu Gothic UI"/>
                <a:ea typeface="Yu Gothic UI"/>
              </a:rPr>
              <a:t>対象製品: Azure Databricks</a:t>
            </a:r>
          </a:p>
          <a:p>
            <a:pPr>
              <a:spcBef>
                <a:spcPts val="200"/>
              </a:spcBef>
            </a:pPr>
            <a:r>
              <a:rPr sz="1300" b="0">
                <a:solidFill>
                  <a:srgbClr val="666666"/>
                </a:solidFill>
                <a:latin typeface="Yu Gothic UI"/>
                <a:ea typeface="Yu Gothic UI"/>
              </a:rPr>
              <a:t>作成日: 2026/03/18</a:t>
            </a:r>
          </a:p>
          <a:p>
            <a:pPr>
              <a:spcBef>
                <a:spcPts val="200"/>
              </a:spcBef>
            </a:pPr>
            <a:r>
              <a:rPr sz="1300" b="0">
                <a:solidFill>
                  <a:srgbClr val="666666"/>
                </a:solidFill>
                <a:latin typeface="Yu Gothic UI"/>
                <a:ea typeface="Yu Gothic UI"/>
              </a:rPr>
              <a:t>可用性: General Availability 2026/March</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https://azure.microsoft.com/updates/?id=558810</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一般提供開始: Foundry Agent Service</a:t>
            </a:r>
          </a:p>
        </p:txBody>
      </p:sp>
      <p:sp>
        <p:nvSpPr>
          <p:cNvPr id="3" name="Content Placeholder 2"/>
          <p:cNvSpPr>
            <a:spLocks noGrp="1"/>
          </p:cNvSpPr>
          <p:nvPr>
            <p:ph idx="10" sz="quarter"/>
          </p:nvPr>
        </p:nvSpPr>
        <p:spPr>
          <a:xfrm>
            <a:off x="457200" y="939983"/>
            <a:ext cx="10561638" cy="5460817"/>
          </a:xfrm>
        </p:spPr>
        <p:txBody>
          <a:bodyPr lIns="365760" rIns="365760" tIns="91440" bIns="91440" wrap="square"/>
          <a:lstStyle/>
          <a:p>
            <a:pPr>
              <a:spcAft>
                <a:spcPts val="800"/>
              </a:spcAft>
            </a:pPr>
            <a:r>
              <a:rPr sz="1600" b="1">
                <a:solidFill>
                  <a:srgbClr val="107C10"/>
                </a:solidFill>
                <a:latin typeface="Yu Gothic UI"/>
                <a:ea typeface="Yu Gothic UI"/>
              </a:rPr>
              <a:t>【一般提供開始】</a:t>
            </a:r>
            <a:r>
              <a:rPr sz="1600" b="1">
                <a:solidFill>
                  <a:srgbClr val="333333"/>
                </a:solidFill>
                <a:latin typeface="Yu Gothic UI"/>
                <a:ea typeface="Yu Gothic UI"/>
              </a:rPr>
              <a:t>  重要度: 中</a:t>
            </a:r>
          </a:p>
          <a:p>
            <a:pPr lvl="1">
              <a:spcBef>
                <a:spcPts val="300"/>
              </a:spcBef>
            </a:pPr>
            <a:r>
              <a:rPr sz="1400" b="0">
                <a:solidFill>
                  <a:srgbClr val="333333"/>
                </a:solidFill>
                <a:latin typeface="Yu Gothic UI"/>
                <a:ea typeface="Yu Gothic UI"/>
              </a:rPr>
              <a:t>次世代 Foundry Agent Service が一般提供開始</a:t>
            </a:r>
          </a:p>
          <a:p>
            <a:pPr lvl="1">
              <a:spcBef>
                <a:spcPts val="300"/>
              </a:spcBef>
            </a:pPr>
            <a:r>
              <a:rPr sz="1400" b="0">
                <a:solidFill>
                  <a:srgbClr val="333333"/>
                </a:solidFill>
                <a:latin typeface="Yu Gothic UI"/>
                <a:ea typeface="Yu Gothic UI"/>
              </a:rPr>
              <a:t>再設計された API フォーマットとランタイム体験により、プロトタイプから本番環境への移行を自信を持って実行可能に</a:t>
            </a:r>
          </a:p>
          <a:p>
            <a:pPr lvl="1">
              <a:spcBef>
                <a:spcPts val="300"/>
              </a:spcBef>
            </a:pPr>
            <a:r>
              <a:rPr sz="1400" b="0">
                <a:solidFill>
                  <a:srgbClr val="333333"/>
                </a:solidFill>
                <a:latin typeface="Yu Gothic UI"/>
                <a:ea typeface="Yu Gothic UI"/>
              </a:rPr>
              <a:t>エンタープライズグレードの AI エージェントを、セキュアバイデザイン、デフォルトでオブザーバブルな形で提供</a:t>
            </a:r>
          </a:p>
          <a:p>
            <a:pPr>
              <a:spcBef>
                <a:spcPts val="1400"/>
              </a:spcBef>
            </a:pPr>
            <a:r>
              <a:rPr sz="1300" b="1">
                <a:solidFill>
                  <a:srgbClr val="666666"/>
                </a:solidFill>
                <a:latin typeface="Yu Gothic UI"/>
                <a:ea typeface="Yu Gothic UI"/>
              </a:rPr>
              <a:t>対象製品: Microsoft Foundry</a:t>
            </a:r>
          </a:p>
          <a:p>
            <a:pPr>
              <a:spcBef>
                <a:spcPts val="200"/>
              </a:spcBef>
            </a:pPr>
            <a:r>
              <a:rPr sz="1300" b="0">
                <a:solidFill>
                  <a:srgbClr val="666666"/>
                </a:solidFill>
                <a:latin typeface="Yu Gothic UI"/>
                <a:ea typeface="Yu Gothic UI"/>
              </a:rPr>
              <a:t>作成日: 2026/03/17</a:t>
            </a:r>
          </a:p>
          <a:p>
            <a:pPr>
              <a:spcBef>
                <a:spcPts val="200"/>
              </a:spcBef>
            </a:pPr>
            <a:r>
              <a:rPr sz="1300" b="0">
                <a:solidFill>
                  <a:srgbClr val="666666"/>
                </a:solidFill>
                <a:latin typeface="Yu Gothic UI"/>
                <a:ea typeface="Yu Gothic UI"/>
              </a:rPr>
              <a:t>可用性: General Availability 2026/March</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https://azure.microsoft.com/updates/?id=557141</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一般提供開始: Azure Database for PostgreSQL の Grafana ダッシュボード</a:t>
            </a:r>
          </a:p>
        </p:txBody>
      </p:sp>
      <p:sp>
        <p:nvSpPr>
          <p:cNvPr id="3" name="Content Placeholder 2"/>
          <p:cNvSpPr>
            <a:spLocks noGrp="1"/>
          </p:cNvSpPr>
          <p:nvPr>
            <p:ph idx="10" sz="quarter"/>
          </p:nvPr>
        </p:nvSpPr>
        <p:spPr>
          <a:xfrm>
            <a:off x="457200" y="939983"/>
            <a:ext cx="10561638" cy="5460817"/>
          </a:xfrm>
        </p:spPr>
        <p:txBody>
          <a:bodyPr lIns="365760" rIns="365760" tIns="91440" bIns="91440" wrap="square"/>
          <a:lstStyle/>
          <a:p>
            <a:pPr>
              <a:spcAft>
                <a:spcPts val="800"/>
              </a:spcAft>
            </a:pPr>
            <a:r>
              <a:rPr sz="1600" b="1">
                <a:solidFill>
                  <a:srgbClr val="107C10"/>
                </a:solidFill>
                <a:latin typeface="Yu Gothic UI"/>
                <a:ea typeface="Yu Gothic UI"/>
              </a:rPr>
              <a:t>【一般提供開始】</a:t>
            </a:r>
            <a:r>
              <a:rPr sz="1600" b="1">
                <a:solidFill>
                  <a:srgbClr val="333333"/>
                </a:solidFill>
                <a:latin typeface="Yu Gothic UI"/>
                <a:ea typeface="Yu Gothic UI"/>
              </a:rPr>
              <a:t>  重要度: 中</a:t>
            </a:r>
          </a:p>
          <a:p>
            <a:pPr lvl="1">
              <a:spcBef>
                <a:spcPts val="300"/>
              </a:spcBef>
            </a:pPr>
            <a:r>
              <a:rPr sz="1400" b="0">
                <a:solidFill>
                  <a:srgbClr val="333333"/>
                </a:solidFill>
                <a:latin typeface="Yu Gothic UI"/>
                <a:ea typeface="Yu Gothic UI"/>
              </a:rPr>
              <a:t>Azure Database for PostgreSQL のリッチな組み込み Grafana ダッシュボードが Azure ポータルから直接利用可能になりました</a:t>
            </a:r>
          </a:p>
          <a:p>
            <a:pPr lvl="1">
              <a:spcBef>
                <a:spcPts val="300"/>
              </a:spcBef>
            </a:pPr>
            <a:r>
              <a:rPr sz="1400" b="0">
                <a:solidFill>
                  <a:srgbClr val="333333"/>
                </a:solidFill>
                <a:latin typeface="Yu Gothic UI"/>
                <a:ea typeface="Yu Gothic UI"/>
              </a:rPr>
              <a:t>Azure Monitor とのネイティブ統合により、別途 Grafana インスタンスをセットアップ・管理することなくデータベースパフォーマンスの詳細な可視化が可能です</a:t>
            </a:r>
          </a:p>
          <a:p>
            <a:pPr lvl="1">
              <a:spcBef>
                <a:spcPts val="300"/>
              </a:spcBef>
            </a:pPr>
            <a:r>
              <a:rPr sz="1400" b="0">
                <a:solidFill>
                  <a:srgbClr val="333333"/>
                </a:solidFill>
                <a:latin typeface="Yu Gothic UI"/>
                <a:ea typeface="Yu Gothic UI"/>
              </a:rPr>
              <a:t>CPU 使用率、ストレージ、アクティブ接続数、クエリスループット等のリアルタイムメトリクスを表示する構築済みダッシュボードを数クリックで確認でき、メトリクスと PostgreSQL ログを関連付けてスロークエリやスパイクのトラブルシューティ…</a:t>
            </a:r>
          </a:p>
          <a:p>
            <a:pPr lvl="1">
              <a:spcBef>
                <a:spcPts val="300"/>
              </a:spcBef>
            </a:pPr>
            <a:r>
              <a:rPr sz="1400" b="0">
                <a:solidFill>
                  <a:srgbClr val="333333"/>
                </a:solidFill>
                <a:latin typeface="Yu Gothic UI"/>
                <a:ea typeface="Yu Gothic UI"/>
              </a:rPr>
              <a:t>Grafana Explore も利用可能です</a:t>
            </a:r>
          </a:p>
          <a:p>
            <a:pPr lvl="1">
              <a:spcBef>
                <a:spcPts val="300"/>
              </a:spcBef>
            </a:pPr>
            <a:r>
              <a:rPr sz="1400" b="0">
                <a:solidFill>
                  <a:srgbClr val="333333"/>
                </a:solidFill>
                <a:latin typeface="Yu Gothic UI"/>
                <a:ea typeface="Yu Gothic UI"/>
              </a:rPr>
              <a:t>ダッシュボードのカスタマイズ、サブスクリプションへの保存、チーム間共有が可能です</a:t>
            </a:r>
          </a:p>
          <a:p>
            <a:pPr>
              <a:spcBef>
                <a:spcPts val="1400"/>
              </a:spcBef>
            </a:pPr>
            <a:r>
              <a:rPr sz="1300" b="1">
                <a:solidFill>
                  <a:srgbClr val="666666"/>
                </a:solidFill>
                <a:latin typeface="Yu Gothic UI"/>
                <a:ea typeface="Yu Gothic UI"/>
              </a:rPr>
              <a:t>対象製品: Azure Database for PostgreSQL</a:t>
            </a:r>
          </a:p>
          <a:p>
            <a:pPr>
              <a:spcBef>
                <a:spcPts val="200"/>
              </a:spcBef>
            </a:pPr>
            <a:r>
              <a:rPr sz="1300" b="0">
                <a:solidFill>
                  <a:srgbClr val="666666"/>
                </a:solidFill>
                <a:latin typeface="Yu Gothic UI"/>
                <a:ea typeface="Yu Gothic UI"/>
              </a:rPr>
              <a:t>作成日: 2026/03/11</a:t>
            </a:r>
          </a:p>
          <a:p>
            <a:pPr>
              <a:spcBef>
                <a:spcPts val="200"/>
              </a:spcBef>
            </a:pPr>
            <a:r>
              <a:rPr sz="1300" b="0">
                <a:solidFill>
                  <a:srgbClr val="666666"/>
                </a:solidFill>
                <a:latin typeface="Yu Gothic UI"/>
                <a:ea typeface="Yu Gothic UI"/>
              </a:rPr>
              <a:t>可用性: General Availability 2026/March</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https://azure.microsoft.com/updates/?id=558140</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パブリックプレビュー: Azure NetApp Files のクールアクセス機能の強化</a:t>
            </a:r>
          </a:p>
        </p:txBody>
      </p:sp>
      <p:sp>
        <p:nvSpPr>
          <p:cNvPr id="3" name="Content Placeholder 2"/>
          <p:cNvSpPr>
            <a:spLocks noGrp="1"/>
          </p:cNvSpPr>
          <p:nvPr>
            <p:ph idx="10" sz="quarter"/>
          </p:nvPr>
        </p:nvSpPr>
        <p:spPr>
          <a:xfrm>
            <a:off x="457200" y="939983"/>
            <a:ext cx="10561638" cy="5460817"/>
          </a:xfrm>
        </p:spPr>
        <p:txBody>
          <a:bodyPr lIns="365760" rIns="365760" tIns="91440" bIns="91440" wrap="square"/>
          <a:lstStyle/>
          <a:p>
            <a:pPr>
              <a:spcAft>
                <a:spcPts val="800"/>
              </a:spcAft>
            </a:pPr>
            <a:r>
              <a:rPr sz="1600" b="1">
                <a:solidFill>
                  <a:srgbClr val="CA5010"/>
                </a:solidFill>
                <a:latin typeface="Yu Gothic UI"/>
                <a:ea typeface="Yu Gothic UI"/>
              </a:rPr>
              <a:t>【パブリックプレビュー】</a:t>
            </a:r>
            <a:r>
              <a:rPr sz="1600" b="1">
                <a:solidFill>
                  <a:srgbClr val="333333"/>
                </a:solidFill>
                <a:latin typeface="Yu Gothic UI"/>
                <a:ea typeface="Yu Gothic UI"/>
              </a:rPr>
              <a:t>  重要度: 低</a:t>
            </a:r>
          </a:p>
          <a:p>
            <a:pPr lvl="1">
              <a:spcBef>
                <a:spcPts val="300"/>
              </a:spcBef>
            </a:pPr>
            <a:r>
              <a:rPr sz="1400" b="0">
                <a:solidFill>
                  <a:srgbClr val="333333"/>
                </a:solidFill>
                <a:latin typeface="Yu Gothic UI"/>
                <a:ea typeface="Yu Gothic UI"/>
              </a:rPr>
              <a:t>Premium および Ultra サービスレベルでクールアクセスを有効にした QoS アップデートにより、Azure NetApp Files がホットとクールの混合ワークロードに対するパフォーマンスとコストのバランスを改善します</a:t>
            </a:r>
          </a:p>
          <a:p>
            <a:pPr lvl="1">
              <a:spcBef>
                <a:spcPts val="300"/>
              </a:spcBef>
            </a:pPr>
            <a:r>
              <a:rPr sz="1400" b="0">
                <a:solidFill>
                  <a:srgbClr val="333333"/>
                </a:solidFill>
                <a:latin typeface="Yu Gothic UI"/>
                <a:ea typeface="Yu Gothic UI"/>
              </a:rPr>
              <a:t>データがクールストレージに移動するとスループットが自動的に調整され、ホット層のパフォーマンスを維持しながらクールアクセスを大規模に活用できます</a:t>
            </a:r>
          </a:p>
          <a:p>
            <a:pPr lvl="1">
              <a:spcBef>
                <a:spcPts val="300"/>
              </a:spcBef>
            </a:pPr>
            <a:r>
              <a:rPr sz="1400" b="0">
                <a:solidFill>
                  <a:srgbClr val="333333"/>
                </a:solidFill>
                <a:latin typeface="Yu Gothic UI"/>
                <a:ea typeface="Yu Gothic UI"/>
              </a:rPr>
              <a:t>この機能強化は、クールアクセスパターンの変化に応じてプールとボリュームのスループットを継続的に最適化し、手動チューニングなしでシームレスなエクスペリエンスを提供します</a:t>
            </a:r>
          </a:p>
          <a:p>
            <a:pPr>
              <a:spcBef>
                <a:spcPts val="1400"/>
              </a:spcBef>
            </a:pPr>
            <a:r>
              <a:rPr sz="1300" b="1">
                <a:solidFill>
                  <a:srgbClr val="666666"/>
                </a:solidFill>
                <a:latin typeface="Yu Gothic UI"/>
                <a:ea typeface="Yu Gothic UI"/>
              </a:rPr>
              <a:t>対象製品: Azure NetApp Files</a:t>
            </a:r>
          </a:p>
          <a:p>
            <a:pPr>
              <a:spcBef>
                <a:spcPts val="200"/>
              </a:spcBef>
            </a:pPr>
            <a:r>
              <a:rPr sz="1300" b="0">
                <a:solidFill>
                  <a:srgbClr val="666666"/>
                </a:solidFill>
                <a:latin typeface="Yu Gothic UI"/>
                <a:ea typeface="Yu Gothic UI"/>
              </a:rPr>
              <a:t>作成日: 2026/04/01</a:t>
            </a:r>
          </a:p>
          <a:p>
            <a:pPr>
              <a:spcBef>
                <a:spcPts val="200"/>
              </a:spcBef>
            </a:pPr>
            <a:r>
              <a:rPr sz="1300" b="0">
                <a:solidFill>
                  <a:srgbClr val="666666"/>
                </a:solidFill>
                <a:latin typeface="Yu Gothic UI"/>
                <a:ea typeface="Yu Gothic UI"/>
              </a:rPr>
              <a:t>可用性: Preview 2026/March</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https://azure.microsoft.com/updates/?id=559504</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パブリックプレビュー: Azure Database for MySQL 向け Fabric ミラーリング統合</a:t>
            </a:r>
          </a:p>
        </p:txBody>
      </p:sp>
      <p:sp>
        <p:nvSpPr>
          <p:cNvPr id="3" name="Content Placeholder 2"/>
          <p:cNvSpPr>
            <a:spLocks noGrp="1"/>
          </p:cNvSpPr>
          <p:nvPr>
            <p:ph idx="10" sz="quarter"/>
          </p:nvPr>
        </p:nvSpPr>
        <p:spPr>
          <a:xfrm>
            <a:off x="457200" y="939983"/>
            <a:ext cx="10561638" cy="5460817"/>
          </a:xfrm>
        </p:spPr>
        <p:txBody>
          <a:bodyPr lIns="365760" rIns="365760" tIns="91440" bIns="91440" wrap="square"/>
          <a:lstStyle/>
          <a:p>
            <a:pPr>
              <a:spcAft>
                <a:spcPts val="800"/>
              </a:spcAft>
            </a:pPr>
            <a:r>
              <a:rPr sz="1600" b="1">
                <a:solidFill>
                  <a:srgbClr val="CA5010"/>
                </a:solidFill>
                <a:latin typeface="Yu Gothic UI"/>
                <a:ea typeface="Yu Gothic UI"/>
              </a:rPr>
              <a:t>【パブリックプレビュー】</a:t>
            </a:r>
            <a:r>
              <a:rPr sz="1600" b="1">
                <a:solidFill>
                  <a:srgbClr val="333333"/>
                </a:solidFill>
                <a:latin typeface="Yu Gothic UI"/>
                <a:ea typeface="Yu Gothic UI"/>
              </a:rPr>
              <a:t>  重要度: 低</a:t>
            </a:r>
          </a:p>
          <a:p>
            <a:pPr lvl="1">
              <a:spcBef>
                <a:spcPts val="300"/>
              </a:spcBef>
            </a:pPr>
            <a:r>
              <a:rPr sz="1400" b="0">
                <a:solidFill>
                  <a:srgbClr val="333333"/>
                </a:solidFill>
                <a:latin typeface="Yu Gothic UI"/>
                <a:ea typeface="Yu Gothic UI"/>
              </a:rPr>
              <a:t>Azure Database for MySQL - Flexible Server 向け Fabric ミラーリング統合のパブリックプレビューが開始されました</a:t>
            </a:r>
          </a:p>
          <a:p>
            <a:pPr lvl="1">
              <a:spcBef>
                <a:spcPts val="300"/>
              </a:spcBef>
            </a:pPr>
            <a:r>
              <a:rPr sz="1400" b="0">
                <a:solidFill>
                  <a:srgbClr val="333333"/>
                </a:solidFill>
                <a:latin typeface="Yu Gothic UI"/>
                <a:ea typeface="Yu Gothic UI"/>
              </a:rPr>
              <a:t>ETL パイプラインの構築・保守なしに、MySQL の運用データをほぼリアルタイムで Microsoft Fabric にレプリケートできます</a:t>
            </a:r>
          </a:p>
          <a:p>
            <a:pPr lvl="1">
              <a:spcBef>
                <a:spcPts val="300"/>
              </a:spcBef>
            </a:pPr>
            <a:r>
              <a:rPr sz="1400" b="0">
                <a:solidFill>
                  <a:srgbClr val="333333"/>
                </a:solidFill>
                <a:latin typeface="Yu Gothic UI"/>
                <a:ea typeface="Yu Gothic UI"/>
              </a:rPr>
              <a:t>ミラーリングされたデータは Delta Parquet 形式で OneLake に格納され、Fabric の各分析エクスペリエンスですぐに利用可能です</a:t>
            </a:r>
          </a:p>
          <a:p>
            <a:pPr>
              <a:spcBef>
                <a:spcPts val="1400"/>
              </a:spcBef>
            </a:pPr>
            <a:r>
              <a:rPr sz="1300" b="1">
                <a:solidFill>
                  <a:srgbClr val="666666"/>
                </a:solidFill>
                <a:latin typeface="Yu Gothic UI"/>
                <a:ea typeface="Yu Gothic UI"/>
              </a:rPr>
              <a:t>対象製品: Azure Database for MySQL</a:t>
            </a:r>
          </a:p>
          <a:p>
            <a:pPr>
              <a:spcBef>
                <a:spcPts val="200"/>
              </a:spcBef>
            </a:pPr>
            <a:r>
              <a:rPr sz="1300" b="0">
                <a:solidFill>
                  <a:srgbClr val="666666"/>
                </a:solidFill>
                <a:latin typeface="Yu Gothic UI"/>
                <a:ea typeface="Yu Gothic UI"/>
              </a:rPr>
              <a:t>作成日: 2026/03/25</a:t>
            </a:r>
          </a:p>
          <a:p>
            <a:pPr>
              <a:spcBef>
                <a:spcPts val="200"/>
              </a:spcBef>
            </a:pPr>
            <a:r>
              <a:rPr sz="1300" b="0">
                <a:solidFill>
                  <a:srgbClr val="666666"/>
                </a:solidFill>
                <a:latin typeface="Yu Gothic UI"/>
                <a:ea typeface="Yu Gothic UI"/>
              </a:rPr>
              <a:t>可用性: Preview 2026/March</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https://azure.microsoft.com/updates/?id=558841</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パブリックプレビュー: Azure SQL Managed Instance の変更イベントストリーミング</a:t>
            </a:r>
          </a:p>
        </p:txBody>
      </p:sp>
      <p:sp>
        <p:nvSpPr>
          <p:cNvPr id="3" name="Content Placeholder 2"/>
          <p:cNvSpPr>
            <a:spLocks noGrp="1"/>
          </p:cNvSpPr>
          <p:nvPr>
            <p:ph idx="10" sz="quarter"/>
          </p:nvPr>
        </p:nvSpPr>
        <p:spPr>
          <a:xfrm>
            <a:off x="457200" y="939983"/>
            <a:ext cx="10561638" cy="5460817"/>
          </a:xfrm>
        </p:spPr>
        <p:txBody>
          <a:bodyPr lIns="365760" rIns="365760" tIns="91440" bIns="91440" wrap="square"/>
          <a:lstStyle/>
          <a:p>
            <a:pPr>
              <a:spcAft>
                <a:spcPts val="800"/>
              </a:spcAft>
            </a:pPr>
            <a:r>
              <a:rPr sz="1600" b="1">
                <a:solidFill>
                  <a:srgbClr val="CA5010"/>
                </a:solidFill>
                <a:latin typeface="Yu Gothic UI"/>
                <a:ea typeface="Yu Gothic UI"/>
              </a:rPr>
              <a:t>【パブリックプレビュー】</a:t>
            </a:r>
            <a:r>
              <a:rPr sz="1600" b="1">
                <a:solidFill>
                  <a:srgbClr val="333333"/>
                </a:solidFill>
                <a:latin typeface="Yu Gothic UI"/>
                <a:ea typeface="Yu Gothic UI"/>
              </a:rPr>
              <a:t>  重要度: 低</a:t>
            </a:r>
          </a:p>
          <a:p>
            <a:pPr lvl="1">
              <a:spcBef>
                <a:spcPts val="300"/>
              </a:spcBef>
            </a:pPr>
            <a:r>
              <a:rPr sz="1400" b="0">
                <a:solidFill>
                  <a:srgbClr val="333333"/>
                </a:solidFill>
                <a:latin typeface="Yu Gothic UI"/>
                <a:ea typeface="Yu Gothic UI"/>
              </a:rPr>
              <a:t>Azure SQL Managed Instance から Azure Event Hubs へ、行レベルのデータ変更（挿入・更新・削除）をほぼリアルタイムでストリーミングできる変更イベントストリーミング（CES）が利用可能になりました</a:t>
            </a:r>
          </a:p>
          <a:p>
            <a:pPr lvl="1">
              <a:spcBef>
                <a:spcPts val="300"/>
              </a:spcBef>
            </a:pPr>
            <a:r>
              <a:rPr sz="1400" b="0">
                <a:solidFill>
                  <a:srgbClr val="333333"/>
                </a:solidFill>
                <a:latin typeface="Yu Gothic UI"/>
                <a:ea typeface="Yu Gothic UI"/>
              </a:rPr>
              <a:t>トランザクションのコミット時に変更を発行し、レイテンシを削減しつつワークロードへの運用オーバーヘッドを最小化します</a:t>
            </a:r>
          </a:p>
          <a:p>
            <a:pPr lvl="1">
              <a:spcBef>
                <a:spcPts val="300"/>
              </a:spcBef>
            </a:pPr>
            <a:r>
              <a:rPr sz="1400" b="0">
                <a:solidFill>
                  <a:srgbClr val="333333"/>
                </a:solidFill>
                <a:latin typeface="Yu Gothic UI"/>
                <a:ea typeface="Yu Gothic UI"/>
              </a:rPr>
              <a:t>変更データキャプチャ、変更追跡、カスタムポーリング、外部コネクタが不要になり、リアルタイム統合が簡素化されます</a:t>
            </a:r>
          </a:p>
          <a:p>
            <a:pPr lvl="1">
              <a:spcBef>
                <a:spcPts val="300"/>
              </a:spcBef>
            </a:pPr>
            <a:r>
              <a:rPr sz="1400" b="0">
                <a:solidFill>
                  <a:srgbClr val="333333"/>
                </a:solidFill>
                <a:latin typeface="Yu Gothic UI"/>
                <a:ea typeface="Yu Gothic UI"/>
              </a:rPr>
              <a:t>CloudEvents 標準の構造化 JSON でイベントが出力され、複数のダウンストリームコンシューマーに配信可能です</a:t>
            </a:r>
          </a:p>
          <a:p>
            <a:pPr>
              <a:spcBef>
                <a:spcPts val="1400"/>
              </a:spcBef>
            </a:pPr>
            <a:r>
              <a:rPr sz="1300" b="1">
                <a:solidFill>
                  <a:srgbClr val="666666"/>
                </a:solidFill>
                <a:latin typeface="Yu Gothic UI"/>
                <a:ea typeface="Yu Gothic UI"/>
              </a:rPr>
              <a:t>対象製品: Azure SQL Database, Azure SQL Managed Instance</a:t>
            </a:r>
          </a:p>
          <a:p>
            <a:pPr>
              <a:spcBef>
                <a:spcPts val="200"/>
              </a:spcBef>
            </a:pPr>
            <a:r>
              <a:rPr sz="1300" b="0">
                <a:solidFill>
                  <a:srgbClr val="666666"/>
                </a:solidFill>
                <a:latin typeface="Yu Gothic UI"/>
                <a:ea typeface="Yu Gothic UI"/>
              </a:rPr>
              <a:t>作成日: 2026/03/25</a:t>
            </a:r>
          </a:p>
          <a:p>
            <a:pPr>
              <a:spcBef>
                <a:spcPts val="200"/>
              </a:spcBef>
            </a:pPr>
            <a:r>
              <a:rPr sz="1300" b="0">
                <a:solidFill>
                  <a:srgbClr val="666666"/>
                </a:solidFill>
                <a:latin typeface="Yu Gothic UI"/>
                <a:ea typeface="Yu Gothic UI"/>
              </a:rPr>
              <a:t>可用性: Preview 2026/March</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https://azure.microsoft.com/updates/?id=558884</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パブリックプレビュー: 2026年3月中旬の Azure SQL アップデート</a:t>
            </a:r>
          </a:p>
        </p:txBody>
      </p:sp>
      <p:sp>
        <p:nvSpPr>
          <p:cNvPr id="3" name="Content Placeholder 2"/>
          <p:cNvSpPr>
            <a:spLocks noGrp="1"/>
          </p:cNvSpPr>
          <p:nvPr>
            <p:ph idx="10" sz="quarter"/>
          </p:nvPr>
        </p:nvSpPr>
        <p:spPr>
          <a:xfrm>
            <a:off x="457200" y="939983"/>
            <a:ext cx="10561638" cy="5460817"/>
          </a:xfrm>
        </p:spPr>
        <p:txBody>
          <a:bodyPr lIns="365760" rIns="365760" tIns="91440" bIns="91440" wrap="square"/>
          <a:lstStyle/>
          <a:p>
            <a:pPr>
              <a:spcAft>
                <a:spcPts val="800"/>
              </a:spcAft>
            </a:pPr>
            <a:r>
              <a:rPr sz="1600" b="1">
                <a:solidFill>
                  <a:srgbClr val="CA5010"/>
                </a:solidFill>
                <a:latin typeface="Yu Gothic UI"/>
                <a:ea typeface="Yu Gothic UI"/>
              </a:rPr>
              <a:t>【パブリックプレビュー】</a:t>
            </a:r>
            <a:r>
              <a:rPr sz="1600" b="1">
                <a:solidFill>
                  <a:srgbClr val="333333"/>
                </a:solidFill>
                <a:latin typeface="Yu Gothic UI"/>
                <a:ea typeface="Yu Gothic UI"/>
              </a:rPr>
              <a:t>  重要度: 低</a:t>
            </a:r>
          </a:p>
          <a:p>
            <a:pPr lvl="1">
              <a:spcBef>
                <a:spcPts val="300"/>
              </a:spcBef>
            </a:pPr>
            <a:r>
              <a:rPr sz="1400" b="0">
                <a:solidFill>
                  <a:srgbClr val="333333"/>
                </a:solidFill>
                <a:latin typeface="Yu Gothic UI"/>
                <a:ea typeface="Yu Gothic UI"/>
              </a:rPr>
              <a:t>2026年3月中旬の Azure SQL のプレビューアップデート</a:t>
            </a:r>
          </a:p>
          <a:p>
            <a:pPr lvl="1">
              <a:spcBef>
                <a:spcPts val="300"/>
              </a:spcBef>
            </a:pPr>
            <a:r>
              <a:rPr sz="1400" b="0">
                <a:solidFill>
                  <a:srgbClr val="333333"/>
                </a:solidFill>
                <a:latin typeface="Yu Gothic UI"/>
                <a:ea typeface="Yu Gothic UI"/>
              </a:rPr>
              <a:t>自動インデックス圧縮によりストレージ、I/O、メモリ消費を削減しパフォーマンスを向上</a:t>
            </a:r>
          </a:p>
          <a:p>
            <a:pPr lvl="1">
              <a:spcBef>
                <a:spcPts val="300"/>
              </a:spcBef>
            </a:pPr>
            <a:r>
              <a:rPr sz="1400" b="0">
                <a:solidFill>
                  <a:srgbClr val="333333"/>
                </a:solidFill>
                <a:latin typeface="Yu Gothic UI"/>
                <a:ea typeface="Yu Gothic UI"/>
              </a:rPr>
              <a:t>Azure SQL Server の論理削除保持を構成し、誤削除の防止と自己復元が可能に</a:t>
            </a:r>
          </a:p>
          <a:p>
            <a:pPr lvl="1">
              <a:spcBef>
                <a:spcPts val="300"/>
              </a:spcBef>
            </a:pPr>
            <a:r>
              <a:rPr sz="1400" b="0">
                <a:solidFill>
                  <a:srgbClr val="333333"/>
                </a:solidFill>
                <a:latin typeface="Yu Gothic UI"/>
                <a:ea typeface="Yu Gothic UI"/>
              </a:rPr>
              <a:t>Azure SQL Database Hyperscale Premium シリーズに 160 および 192 vCore オプションが追加され、従来の 128 vCore 上限から最大 50% のスケーラビリティ向上</a:t>
            </a:r>
          </a:p>
          <a:p>
            <a:pPr lvl="1">
              <a:spcBef>
                <a:spcPts val="300"/>
              </a:spcBef>
            </a:pPr>
            <a:r>
              <a:rPr sz="1400" b="0">
                <a:solidFill>
                  <a:srgbClr val="333333"/>
                </a:solidFill>
                <a:latin typeface="Yu Gothic UI"/>
                <a:ea typeface="Yu Gothic UI"/>
              </a:rPr>
              <a:t>DiskANN ベクトルインデックスが大幅改善され、リアルタイム更新、プレ/ポストフィルタリング統合、ベクトル量子化によるメモリ効率向上に対応し、RAG ワークロードに最適化</a:t>
            </a:r>
          </a:p>
          <a:p>
            <a:pPr>
              <a:spcBef>
                <a:spcPts val="1400"/>
              </a:spcBef>
            </a:pPr>
            <a:r>
              <a:rPr sz="1300" b="1">
                <a:solidFill>
                  <a:srgbClr val="666666"/>
                </a:solidFill>
                <a:latin typeface="Yu Gothic UI"/>
                <a:ea typeface="Yu Gothic UI"/>
              </a:rPr>
              <a:t>対象製品: Azure SQL Database, Azure SQL Managed Instance</a:t>
            </a:r>
          </a:p>
          <a:p>
            <a:pPr>
              <a:spcBef>
                <a:spcPts val="200"/>
              </a:spcBef>
            </a:pPr>
            <a:r>
              <a:rPr sz="1300" b="0">
                <a:solidFill>
                  <a:srgbClr val="666666"/>
                </a:solidFill>
                <a:latin typeface="Yu Gothic UI"/>
                <a:ea typeface="Yu Gothic UI"/>
              </a:rPr>
              <a:t>作成日: 2026/03/20</a:t>
            </a:r>
          </a:p>
          <a:p>
            <a:pPr>
              <a:spcBef>
                <a:spcPts val="200"/>
              </a:spcBef>
            </a:pPr>
            <a:r>
              <a:rPr sz="1300" b="0">
                <a:solidFill>
                  <a:srgbClr val="666666"/>
                </a:solidFill>
                <a:latin typeface="Yu Gothic UI"/>
                <a:ea typeface="Yu Gothic UI"/>
              </a:rPr>
              <a:t>可用性: Preview 2026/March</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https://azure.microsoft.com/updates/?id=558116</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パブリックプレビュー: Azure Databricks OneLake Catalog フェデレーション</a:t>
            </a:r>
          </a:p>
        </p:txBody>
      </p:sp>
      <p:sp>
        <p:nvSpPr>
          <p:cNvPr id="3" name="Content Placeholder 2"/>
          <p:cNvSpPr>
            <a:spLocks noGrp="1"/>
          </p:cNvSpPr>
          <p:nvPr>
            <p:ph idx="10" sz="quarter"/>
          </p:nvPr>
        </p:nvSpPr>
        <p:spPr>
          <a:xfrm>
            <a:off x="457200" y="939983"/>
            <a:ext cx="10561638" cy="5460817"/>
          </a:xfrm>
        </p:spPr>
        <p:txBody>
          <a:bodyPr lIns="365760" rIns="365760" tIns="91440" bIns="91440" wrap="square"/>
          <a:lstStyle/>
          <a:p>
            <a:pPr>
              <a:spcAft>
                <a:spcPts val="800"/>
              </a:spcAft>
            </a:pPr>
            <a:r>
              <a:rPr sz="1600" b="1">
                <a:solidFill>
                  <a:srgbClr val="CA5010"/>
                </a:solidFill>
                <a:latin typeface="Yu Gothic UI"/>
                <a:ea typeface="Yu Gothic UI"/>
              </a:rPr>
              <a:t>【パブリックプレビュー】</a:t>
            </a:r>
            <a:r>
              <a:rPr sz="1600" b="1">
                <a:solidFill>
                  <a:srgbClr val="333333"/>
                </a:solidFill>
                <a:latin typeface="Yu Gothic UI"/>
                <a:ea typeface="Yu Gothic UI"/>
              </a:rPr>
              <a:t>  重要度: 低</a:t>
            </a:r>
          </a:p>
          <a:p>
            <a:pPr lvl="1">
              <a:spcBef>
                <a:spcPts val="300"/>
              </a:spcBef>
            </a:pPr>
            <a:r>
              <a:rPr sz="1400" b="0">
                <a:solidFill>
                  <a:srgbClr val="333333"/>
                </a:solidFill>
                <a:latin typeface="Yu Gothic UI"/>
                <a:ea typeface="Yu Gothic UI"/>
              </a:rPr>
              <a:t>Azure Databricks で OneLake Catalog フェデレーションが利用可能になり、データのコピーや移動なしに Microsoft Fabric OneLake データをクエリ可能に</a:t>
            </a:r>
          </a:p>
          <a:p>
            <a:pPr lvl="1">
              <a:spcBef>
                <a:spcPts val="300"/>
              </a:spcBef>
            </a:pPr>
            <a:r>
              <a:rPr sz="1400" b="0">
                <a:solidFill>
                  <a:srgbClr val="333333"/>
                </a:solidFill>
                <a:latin typeface="Yu Gothic UI"/>
                <a:ea typeface="Yu Gothic UI"/>
              </a:rPr>
              <a:t>Unity Catalog を OneLake カタログに接続すると、スキーマとテーブルが自動同期され、Fabric Lakehouse アイテムが既存の Azure Databricks データ資産と並んで表示される</a:t>
            </a:r>
          </a:p>
          <a:p>
            <a:pPr lvl="1">
              <a:spcBef>
                <a:spcPts val="300"/>
              </a:spcBef>
            </a:pPr>
            <a:r>
              <a:rPr sz="1400" b="0">
                <a:solidFill>
                  <a:srgbClr val="333333"/>
                </a:solidFill>
                <a:latin typeface="Yu Gothic UI"/>
                <a:ea typeface="Yu Gothic UI"/>
              </a:rPr>
              <a:t>ゼロコピーエクスペリエンスによりデータの拡散を抑制し、アーキテクチャを簡素化</a:t>
            </a:r>
          </a:p>
          <a:p>
            <a:pPr>
              <a:spcBef>
                <a:spcPts val="1400"/>
              </a:spcBef>
            </a:pPr>
            <a:r>
              <a:rPr sz="1300" b="1">
                <a:solidFill>
                  <a:srgbClr val="666666"/>
                </a:solidFill>
                <a:latin typeface="Yu Gothic UI"/>
                <a:ea typeface="Yu Gothic UI"/>
              </a:rPr>
              <a:t>対象製品: Azure Databricks</a:t>
            </a:r>
          </a:p>
          <a:p>
            <a:pPr>
              <a:spcBef>
                <a:spcPts val="200"/>
              </a:spcBef>
            </a:pPr>
            <a:r>
              <a:rPr sz="1300" b="0">
                <a:solidFill>
                  <a:srgbClr val="666666"/>
                </a:solidFill>
                <a:latin typeface="Yu Gothic UI"/>
                <a:ea typeface="Yu Gothic UI"/>
              </a:rPr>
              <a:t>作成日: 2026/03/19</a:t>
            </a:r>
          </a:p>
          <a:p>
            <a:pPr>
              <a:spcBef>
                <a:spcPts val="200"/>
              </a:spcBef>
            </a:pPr>
            <a:r>
              <a:rPr sz="1300" b="0">
                <a:solidFill>
                  <a:srgbClr val="666666"/>
                </a:solidFill>
                <a:latin typeface="Yu Gothic UI"/>
                <a:ea typeface="Yu Gothic UI"/>
              </a:rPr>
              <a:t>可用性: Preview 2026/March</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https://azure.microsoft.com/updates/?id=558927</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パブリックプレビュー: SQL MCP Server</a:t>
            </a:r>
          </a:p>
        </p:txBody>
      </p:sp>
      <p:sp>
        <p:nvSpPr>
          <p:cNvPr id="3" name="Content Placeholder 2"/>
          <p:cNvSpPr>
            <a:spLocks noGrp="1"/>
          </p:cNvSpPr>
          <p:nvPr>
            <p:ph idx="10" sz="quarter"/>
          </p:nvPr>
        </p:nvSpPr>
        <p:spPr>
          <a:xfrm>
            <a:off x="457200" y="939983"/>
            <a:ext cx="10561638" cy="5460817"/>
          </a:xfrm>
        </p:spPr>
        <p:txBody>
          <a:bodyPr lIns="365760" rIns="365760" tIns="91440" bIns="91440" wrap="square"/>
          <a:lstStyle/>
          <a:p>
            <a:pPr>
              <a:spcAft>
                <a:spcPts val="800"/>
              </a:spcAft>
            </a:pPr>
            <a:r>
              <a:rPr sz="1600" b="1">
                <a:solidFill>
                  <a:srgbClr val="CA5010"/>
                </a:solidFill>
                <a:latin typeface="Yu Gothic UI"/>
                <a:ea typeface="Yu Gothic UI"/>
              </a:rPr>
              <a:t>【パブリックプレビュー】</a:t>
            </a:r>
            <a:r>
              <a:rPr sz="1600" b="1">
                <a:solidFill>
                  <a:srgbClr val="333333"/>
                </a:solidFill>
                <a:latin typeface="Yu Gothic UI"/>
                <a:ea typeface="Yu Gothic UI"/>
              </a:rPr>
              <a:t>  重要度: 低</a:t>
            </a:r>
          </a:p>
          <a:p>
            <a:pPr lvl="1">
              <a:spcBef>
                <a:spcPts val="300"/>
              </a:spcBef>
            </a:pPr>
            <a:r>
              <a:rPr sz="1400" b="0">
                <a:solidFill>
                  <a:srgbClr val="333333"/>
                </a:solidFill>
                <a:latin typeface="Yu Gothic UI"/>
                <a:ea typeface="Yu Gothic UI"/>
              </a:rPr>
              <a:t>本番データベース向け Model Context Protocol (MCP) コネクタである SQL MCP Server を発表</a:t>
            </a:r>
          </a:p>
          <a:p>
            <a:pPr lvl="1">
              <a:spcBef>
                <a:spcPts val="300"/>
              </a:spcBef>
            </a:pPr>
            <a:r>
              <a:rPr sz="1400" b="0">
                <a:solidFill>
                  <a:srgbClr val="333333"/>
                </a:solidFill>
                <a:latin typeface="Yu Gothic UI"/>
                <a:ea typeface="Yu Gothic UI"/>
              </a:rPr>
              <a:t>Data API Builder (DAB) の機能豊富なコンポーネントとして、データベースを危険にさらすことなく AI エージェントをデータワークフローに統合するシンプルかつ安全な方法を提供</a:t>
            </a:r>
          </a:p>
          <a:p>
            <a:pPr lvl="1">
              <a:spcBef>
                <a:spcPts val="300"/>
              </a:spcBef>
            </a:pPr>
            <a:r>
              <a:rPr sz="1400" b="0">
                <a:solidFill>
                  <a:srgbClr val="333333"/>
                </a:solidFill>
                <a:latin typeface="Yu Gothic UI"/>
                <a:ea typeface="Yu Gothic UI"/>
              </a:rPr>
              <a:t>ローカル、オンプレミス、またはクラウド上でコンテナ化サービスとして実行可能</a:t>
            </a:r>
          </a:p>
          <a:p>
            <a:pPr>
              <a:spcBef>
                <a:spcPts val="1400"/>
              </a:spcBef>
            </a:pPr>
            <a:r>
              <a:rPr sz="1300" b="1">
                <a:solidFill>
                  <a:srgbClr val="666666"/>
                </a:solidFill>
                <a:latin typeface="Yu Gothic UI"/>
                <a:ea typeface="Yu Gothic UI"/>
              </a:rPr>
              <a:t>対象製品: Azure SQL Database</a:t>
            </a:r>
          </a:p>
          <a:p>
            <a:pPr>
              <a:spcBef>
                <a:spcPts val="200"/>
              </a:spcBef>
            </a:pPr>
            <a:r>
              <a:rPr sz="1300" b="0">
                <a:solidFill>
                  <a:srgbClr val="666666"/>
                </a:solidFill>
                <a:latin typeface="Yu Gothic UI"/>
                <a:ea typeface="Yu Gothic UI"/>
              </a:rPr>
              <a:t>作成日: 2026/03/18</a:t>
            </a:r>
          </a:p>
          <a:p>
            <a:pPr>
              <a:spcBef>
                <a:spcPts val="200"/>
              </a:spcBef>
            </a:pPr>
            <a:r>
              <a:rPr sz="1300" b="0">
                <a:solidFill>
                  <a:srgbClr val="666666"/>
                </a:solidFill>
                <a:latin typeface="Yu Gothic UI"/>
                <a:ea typeface="Yu Gothic UI"/>
              </a:rPr>
              <a:t>可用性: Preview 2026/March</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https://azure.microsoft.com/updates/?id=558150</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600" b="1">
                <a:solidFill>
                  <a:srgbClr val="FFFFFF"/>
                </a:solidFill>
                <a:latin typeface="Yu Gothic UI"/>
                <a:ea typeface="Yu Gothic UI"/>
              </a:rPr>
              <a:t>DevOps &amp; 開発者ツール（8件）</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一般提供開始: Azure DevOps 2026 年 3 月のアップデート</a:t>
            </a:r>
          </a:p>
        </p:txBody>
      </p:sp>
      <p:sp>
        <p:nvSpPr>
          <p:cNvPr id="3" name="Content Placeholder 2"/>
          <p:cNvSpPr>
            <a:spLocks noGrp="1"/>
          </p:cNvSpPr>
          <p:nvPr>
            <p:ph idx="10" sz="quarter"/>
          </p:nvPr>
        </p:nvSpPr>
        <p:spPr>
          <a:xfrm>
            <a:off x="457200" y="939983"/>
            <a:ext cx="10561638" cy="5460817"/>
          </a:xfrm>
        </p:spPr>
        <p:txBody>
          <a:bodyPr lIns="365760" rIns="365760" tIns="91440" bIns="91440" wrap="square"/>
          <a:lstStyle/>
          <a:p>
            <a:pPr>
              <a:spcAft>
                <a:spcPts val="800"/>
              </a:spcAft>
            </a:pPr>
            <a:r>
              <a:rPr sz="1600" b="1">
                <a:solidFill>
                  <a:srgbClr val="107C10"/>
                </a:solidFill>
                <a:latin typeface="Yu Gothic UI"/>
                <a:ea typeface="Yu Gothic UI"/>
              </a:rPr>
              <a:t>【一般提供開始】</a:t>
            </a:r>
            <a:r>
              <a:rPr sz="1600" b="1">
                <a:solidFill>
                  <a:srgbClr val="333333"/>
                </a:solidFill>
                <a:latin typeface="Yu Gothic UI"/>
                <a:ea typeface="Yu Gothic UI"/>
              </a:rPr>
              <a:t>  重要度: 中</a:t>
            </a:r>
          </a:p>
          <a:p>
            <a:pPr lvl="1">
              <a:spcBef>
                <a:spcPts val="300"/>
              </a:spcBef>
            </a:pPr>
            <a:r>
              <a:rPr sz="1400" b="0">
                <a:solidFill>
                  <a:srgbClr val="333333"/>
                </a:solidFill>
                <a:latin typeface="Yu Gothic UI"/>
                <a:ea typeface="Yu Gothic UI"/>
              </a:rPr>
              <a:t>2026 年 3 月の Azure DevOps アップデート内容: Remote MCP Server がパブリックプレビューとして提供開始され、ローカルサーバーなしで Azure DevOps との AI 連携が可能に</a:t>
            </a:r>
          </a:p>
          <a:p>
            <a:pPr lvl="1">
              <a:spcBef>
                <a:spcPts val="300"/>
              </a:spcBef>
            </a:pPr>
            <a:r>
              <a:rPr sz="1400" b="0">
                <a:solidFill>
                  <a:srgbClr val="333333"/>
                </a:solidFill>
                <a:latin typeface="Yu Gothic UI"/>
                <a:ea typeface="Yu Gothic UI"/>
              </a:rPr>
              <a:t>セキュリティ強化として、Advanced Security の PR ステータスチェックがブランチポリシーに統合、シークレットプッシュ保護バイパスとセキュリティ有効化変更の監査ログ強化、セキュリティ概要データの CSV エクスポート機能を追…</a:t>
            </a:r>
          </a:p>
          <a:p>
            <a:pPr lvl="1">
              <a:spcBef>
                <a:spcPts val="300"/>
              </a:spcBef>
            </a:pPr>
            <a:r>
              <a:rPr sz="1400" b="0">
                <a:solidFill>
                  <a:srgbClr val="333333"/>
                </a:solidFill>
                <a:latin typeface="Yu Gothic UI"/>
                <a:ea typeface="Yu Gothic UI"/>
              </a:rPr>
              <a:t>Azure Pipelines ではアーティファクト追跡による展開の可視性向上と、環境間の展開状況を一目で確認できる新しい Stages ビューを導入</a:t>
            </a:r>
          </a:p>
          <a:p>
            <a:pPr lvl="1">
              <a:spcBef>
                <a:spcPts val="300"/>
              </a:spcBef>
            </a:pPr>
            <a:r>
              <a:rPr sz="1400" b="0">
                <a:solidFill>
                  <a:srgbClr val="333333"/>
                </a:solidFill>
                <a:latin typeface="Yu Gothic UI"/>
                <a:ea typeface="Yu Gothic UI"/>
              </a:rPr>
              <a:t>その他、PR 自動完了のデフォルト設定、簡易表示の Kanban ボード、テスト結果でのクロスプロジェクト作業項目リンク、継承プロセス上限の 256 への倍増などの改善を実施</a:t>
            </a:r>
          </a:p>
          <a:p>
            <a:pPr>
              <a:spcBef>
                <a:spcPts val="1400"/>
              </a:spcBef>
            </a:pPr>
            <a:r>
              <a:rPr sz="1300" b="1">
                <a:solidFill>
                  <a:srgbClr val="666666"/>
                </a:solidFill>
                <a:latin typeface="Yu Gothic UI"/>
                <a:ea typeface="Yu Gothic UI"/>
              </a:rPr>
              <a:t>対象製品: Azure DevOps</a:t>
            </a:r>
          </a:p>
          <a:p>
            <a:pPr>
              <a:spcBef>
                <a:spcPts val="200"/>
              </a:spcBef>
            </a:pPr>
            <a:r>
              <a:rPr sz="1300" b="0">
                <a:solidFill>
                  <a:srgbClr val="666666"/>
                </a:solidFill>
                <a:latin typeface="Yu Gothic UI"/>
                <a:ea typeface="Yu Gothic UI"/>
              </a:rPr>
              <a:t>作成日: 2026/03/31</a:t>
            </a:r>
          </a:p>
          <a:p>
            <a:pPr>
              <a:spcBef>
                <a:spcPts val="200"/>
              </a:spcBef>
            </a:pPr>
            <a:r>
              <a:rPr sz="1300" b="0">
                <a:solidFill>
                  <a:srgbClr val="666666"/>
                </a:solidFill>
                <a:latin typeface="Yu Gothic UI"/>
                <a:ea typeface="Yu Gothic UI"/>
              </a:rPr>
              <a:t>可用性: General Availability 2026/March</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https://azure.microsoft.com/updates/?id=559660</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一般提供開始: SQL Server Management Studio 22 での GitHub Copilot</a:t>
            </a:r>
          </a:p>
        </p:txBody>
      </p:sp>
      <p:sp>
        <p:nvSpPr>
          <p:cNvPr id="3" name="Content Placeholder 2"/>
          <p:cNvSpPr>
            <a:spLocks noGrp="1"/>
          </p:cNvSpPr>
          <p:nvPr>
            <p:ph idx="10" sz="quarter"/>
          </p:nvPr>
        </p:nvSpPr>
        <p:spPr>
          <a:xfrm>
            <a:off x="457200" y="939983"/>
            <a:ext cx="10561638" cy="5460817"/>
          </a:xfrm>
        </p:spPr>
        <p:txBody>
          <a:bodyPr lIns="365760" rIns="365760" tIns="91440" bIns="91440" wrap="square"/>
          <a:lstStyle/>
          <a:p>
            <a:pPr>
              <a:spcAft>
                <a:spcPts val="800"/>
              </a:spcAft>
            </a:pPr>
            <a:r>
              <a:rPr sz="1600" b="1">
                <a:solidFill>
                  <a:srgbClr val="107C10"/>
                </a:solidFill>
                <a:latin typeface="Yu Gothic UI"/>
                <a:ea typeface="Yu Gothic UI"/>
              </a:rPr>
              <a:t>【一般提供開始】</a:t>
            </a:r>
            <a:r>
              <a:rPr sz="1600" b="1">
                <a:solidFill>
                  <a:srgbClr val="333333"/>
                </a:solidFill>
                <a:latin typeface="Yu Gothic UI"/>
                <a:ea typeface="Yu Gothic UI"/>
              </a:rPr>
              <a:t>  重要度: 中</a:t>
            </a:r>
          </a:p>
          <a:p>
            <a:pPr lvl="1">
              <a:spcBef>
                <a:spcPts val="300"/>
              </a:spcBef>
            </a:pPr>
            <a:r>
              <a:rPr sz="1400" b="0">
                <a:solidFill>
                  <a:srgbClr val="333333"/>
                </a:solidFill>
                <a:latin typeface="Yu Gothic UI"/>
                <a:ea typeface="Yu Gothic UI"/>
              </a:rPr>
              <a:t>GitHub Copilot が SQL Server Management Studio (SSMS) 22 で一般提供開始</a:t>
            </a:r>
          </a:p>
          <a:p>
            <a:pPr lvl="1">
              <a:spcBef>
                <a:spcPts val="300"/>
              </a:spcBef>
            </a:pPr>
            <a:r>
              <a:rPr sz="1400" b="0">
                <a:solidFill>
                  <a:srgbClr val="333333"/>
                </a:solidFill>
                <a:latin typeface="Yu Gothic UI"/>
                <a:ea typeface="Yu Gothic UI"/>
              </a:rPr>
              <a:t>自然言語を使用して T-SQL の開発、説明、修正、最適化、クエリのトラブルシューティング、データベースの理解が可能に</a:t>
            </a:r>
          </a:p>
          <a:p>
            <a:pPr lvl="1">
              <a:spcBef>
                <a:spcPts val="300"/>
              </a:spcBef>
            </a:pPr>
            <a:r>
              <a:rPr sz="1400" b="0">
                <a:solidFill>
                  <a:srgbClr val="333333"/>
                </a:solidFill>
                <a:latin typeface="Yu Gothic UI"/>
                <a:ea typeface="Yu Gothic UI"/>
              </a:rPr>
              <a:t>クエリエディターでのインテリジェントなコード補完機能により、T-SQL の記述を高速化</a:t>
            </a:r>
          </a:p>
          <a:p>
            <a:pPr lvl="1">
              <a:spcBef>
                <a:spcPts val="300"/>
              </a:spcBef>
            </a:pPr>
            <a:r>
              <a:rPr sz="1400" b="0">
                <a:solidFill>
                  <a:srgbClr val="333333"/>
                </a:solidFill>
                <a:latin typeface="Yu Gothic UI"/>
                <a:ea typeface="Yu Gothic UI"/>
              </a:rPr>
              <a:t>データベースインストラクションにより Copilot が従うべきビジネスルールや規約を定義可能</a:t>
            </a:r>
          </a:p>
          <a:p>
            <a:pPr lvl="1">
              <a:spcBef>
                <a:spcPts val="300"/>
              </a:spcBef>
            </a:pPr>
            <a:r>
              <a:rPr sz="1400" b="0">
                <a:solidFill>
                  <a:srgbClr val="333333"/>
                </a:solidFill>
                <a:latin typeface="Yu Gothic UI"/>
                <a:ea typeface="Yu Gothic UI"/>
              </a:rPr>
              <a:t>Visual Studio や Visual Studio Code と同じ GitHub Copilot サブスクリプションで利用可能</a:t>
            </a:r>
          </a:p>
          <a:p>
            <a:pPr>
              <a:spcBef>
                <a:spcPts val="200"/>
              </a:spcBef>
            </a:pPr>
            <a:r>
              <a:rPr sz="1300" b="0">
                <a:solidFill>
                  <a:srgbClr val="666666"/>
                </a:solidFill>
                <a:latin typeface="Yu Gothic UI"/>
                <a:ea typeface="Yu Gothic UI"/>
              </a:rPr>
              <a:t>作成日: 2026/03/18</a:t>
            </a:r>
          </a:p>
          <a:p>
            <a:pPr>
              <a:spcBef>
                <a:spcPts val="200"/>
              </a:spcBef>
            </a:pPr>
            <a:r>
              <a:rPr sz="1300" b="0">
                <a:solidFill>
                  <a:srgbClr val="666666"/>
                </a:solidFill>
                <a:latin typeface="Yu Gothic UI"/>
                <a:ea typeface="Yu Gothic UI"/>
              </a:rPr>
              <a:t>可用性: General Availability 2026/March</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https://azure.microsoft.com/updates/?id=558134</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000" b="1">
                <a:solidFill>
                  <a:srgbClr val="0078D4"/>
                </a:solidFill>
                <a:latin typeface="Yu Gothic UI"/>
                <a:ea typeface="Yu Gothic UI"/>
              </a:rPr>
              <a:t>一般提供開始: Azure Database for PostgreSQL エラスティッククラスターの Terraform、Bicep、Ansible サポート</a:t>
            </a:r>
          </a:p>
        </p:txBody>
      </p:sp>
      <p:sp>
        <p:nvSpPr>
          <p:cNvPr id="3" name="Content Placeholder 2"/>
          <p:cNvSpPr>
            <a:spLocks noGrp="1"/>
          </p:cNvSpPr>
          <p:nvPr>
            <p:ph idx="10" sz="quarter"/>
          </p:nvPr>
        </p:nvSpPr>
        <p:spPr>
          <a:xfrm>
            <a:off x="457200" y="939983"/>
            <a:ext cx="10561638" cy="5460817"/>
          </a:xfrm>
        </p:spPr>
        <p:txBody>
          <a:bodyPr lIns="365760" rIns="365760" tIns="91440" bIns="91440" wrap="square"/>
          <a:lstStyle/>
          <a:p>
            <a:pPr>
              <a:spcAft>
                <a:spcPts val="800"/>
              </a:spcAft>
            </a:pPr>
            <a:r>
              <a:rPr sz="1600" b="1">
                <a:solidFill>
                  <a:srgbClr val="107C10"/>
                </a:solidFill>
                <a:latin typeface="Yu Gothic UI"/>
                <a:ea typeface="Yu Gothic UI"/>
              </a:rPr>
              <a:t>【一般提供開始】</a:t>
            </a:r>
            <a:r>
              <a:rPr sz="1600" b="1">
                <a:solidFill>
                  <a:srgbClr val="333333"/>
                </a:solidFill>
                <a:latin typeface="Yu Gothic UI"/>
                <a:ea typeface="Yu Gothic UI"/>
              </a:rPr>
              <a:t>  重要度: 中</a:t>
            </a:r>
          </a:p>
          <a:p>
            <a:pPr lvl="1">
              <a:spcBef>
                <a:spcPts val="300"/>
              </a:spcBef>
            </a:pPr>
            <a:r>
              <a:rPr sz="1400" b="0">
                <a:solidFill>
                  <a:srgbClr val="333333"/>
                </a:solidFill>
                <a:latin typeface="Yu Gothic UI"/>
                <a:ea typeface="Yu Gothic UI"/>
              </a:rPr>
              <a:t>Azure Database for PostgreSQL のエラスティッククラスターを Terraform、Bicep、Ansible で一般提供としてプロビジョニング・管理できるようになりました</a:t>
            </a:r>
          </a:p>
          <a:p>
            <a:pPr lvl="1">
              <a:spcBef>
                <a:spcPts val="300"/>
              </a:spcBef>
            </a:pPr>
            <a:r>
              <a:rPr sz="1400" b="0">
                <a:solidFill>
                  <a:srgbClr val="333333"/>
                </a:solidFill>
                <a:latin typeface="Yu Gothic UI"/>
                <a:ea typeface="Yu Gothic UI"/>
              </a:rPr>
              <a:t>ネイティブ Infrastructure as Code サポートにより、自動化されたデプロイパイプラインの一部としてエラスティッククラスターの作成・スケーリング・管理を一貫して行えます</a:t>
            </a:r>
          </a:p>
          <a:p>
            <a:pPr lvl="1">
              <a:spcBef>
                <a:spcPts val="300"/>
              </a:spcBef>
            </a:pPr>
            <a:r>
              <a:rPr sz="1400" b="0">
                <a:solidFill>
                  <a:srgbClr val="333333"/>
                </a:solidFill>
                <a:latin typeface="Yu Gothic UI"/>
                <a:ea typeface="Yu Gothic UI"/>
              </a:rPr>
              <a:t>手動設定と運用オーバーヘッドが削減されます</a:t>
            </a:r>
          </a:p>
          <a:p>
            <a:pPr lvl="1">
              <a:spcBef>
                <a:spcPts val="300"/>
              </a:spcBef>
            </a:pPr>
            <a:r>
              <a:rPr sz="1400" b="0">
                <a:solidFill>
                  <a:srgbClr val="333333"/>
                </a:solidFill>
                <a:latin typeface="Yu Gothic UI"/>
                <a:ea typeface="Yu Gothic UI"/>
              </a:rPr>
              <a:t>マルチテナントや水平スケーラブルな PostgreSQL ワークロードを構築し、環境間で再現可能かつ監査可能なインフラデプロイを行いたい場合に特に有用です</a:t>
            </a:r>
          </a:p>
          <a:p>
            <a:pPr lvl="1">
              <a:spcBef>
                <a:spcPts val="300"/>
              </a:spcBef>
            </a:pPr>
            <a:r>
              <a:rPr sz="1400" b="0">
                <a:solidFill>
                  <a:srgbClr val="333333"/>
                </a:solidFill>
                <a:latin typeface="Yu Gothic UI"/>
                <a:ea typeface="Yu Gothic UI"/>
              </a:rPr>
              <a:t>インフラ定義の標準化、環境レプリケーションの簡素化、CI/CD およびガバナンスプロセスへのシームレスな統合が可能になります</a:t>
            </a:r>
          </a:p>
          <a:p>
            <a:pPr>
              <a:spcBef>
                <a:spcPts val="1400"/>
              </a:spcBef>
            </a:pPr>
            <a:r>
              <a:rPr sz="1300" b="1">
                <a:solidFill>
                  <a:srgbClr val="666666"/>
                </a:solidFill>
                <a:latin typeface="Yu Gothic UI"/>
                <a:ea typeface="Yu Gothic UI"/>
              </a:rPr>
              <a:t>対象製品: Azure Database for PostgreSQL</a:t>
            </a:r>
          </a:p>
          <a:p>
            <a:pPr>
              <a:spcBef>
                <a:spcPts val="200"/>
              </a:spcBef>
            </a:pPr>
            <a:r>
              <a:rPr sz="1300" b="0">
                <a:solidFill>
                  <a:srgbClr val="666666"/>
                </a:solidFill>
                <a:latin typeface="Yu Gothic UI"/>
                <a:ea typeface="Yu Gothic UI"/>
              </a:rPr>
              <a:t>作成日: 2026/03/11</a:t>
            </a:r>
          </a:p>
          <a:p>
            <a:pPr>
              <a:spcBef>
                <a:spcPts val="200"/>
              </a:spcBef>
            </a:pPr>
            <a:r>
              <a:rPr sz="1300" b="0">
                <a:solidFill>
                  <a:srgbClr val="666666"/>
                </a:solidFill>
                <a:latin typeface="Yu Gothic UI"/>
                <a:ea typeface="Yu Gothic UI"/>
              </a:rPr>
              <a:t>可用性: General Availability 2026/March</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https://azure.microsoft.com/updates/?id=558145</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000" b="1">
                <a:solidFill>
                  <a:srgbClr val="0078D4"/>
                </a:solidFill>
                <a:latin typeface="Yu Gothic UI"/>
                <a:ea typeface="Yu Gothic UI"/>
              </a:rPr>
              <a:t>パブリックプレビュー: Azure App Configuration と Azure Front Door によるクライアント側構成の大規模配信</a:t>
            </a:r>
          </a:p>
        </p:txBody>
      </p:sp>
      <p:sp>
        <p:nvSpPr>
          <p:cNvPr id="3" name="Content Placeholder 2"/>
          <p:cNvSpPr>
            <a:spLocks noGrp="1"/>
          </p:cNvSpPr>
          <p:nvPr>
            <p:ph idx="10" sz="quarter"/>
          </p:nvPr>
        </p:nvSpPr>
        <p:spPr>
          <a:xfrm>
            <a:off x="457200" y="939983"/>
            <a:ext cx="10561638" cy="5460817"/>
          </a:xfrm>
        </p:spPr>
        <p:txBody>
          <a:bodyPr lIns="365760" rIns="365760" tIns="91440" bIns="91440" wrap="square"/>
          <a:lstStyle/>
          <a:p>
            <a:pPr>
              <a:spcAft>
                <a:spcPts val="800"/>
              </a:spcAft>
            </a:pPr>
            <a:r>
              <a:rPr sz="1600" b="1">
                <a:solidFill>
                  <a:srgbClr val="CA5010"/>
                </a:solidFill>
                <a:latin typeface="Yu Gothic UI"/>
                <a:ea typeface="Yu Gothic UI"/>
              </a:rPr>
              <a:t>【パブリックプレビュー】</a:t>
            </a:r>
            <a:r>
              <a:rPr sz="1600" b="1">
                <a:solidFill>
                  <a:srgbClr val="333333"/>
                </a:solidFill>
                <a:latin typeface="Yu Gothic UI"/>
                <a:ea typeface="Yu Gothic UI"/>
              </a:rPr>
              <a:t>  重要度: 低</a:t>
            </a:r>
          </a:p>
          <a:p>
            <a:pPr lvl="1">
              <a:spcBef>
                <a:spcPts val="300"/>
              </a:spcBef>
            </a:pPr>
            <a:r>
              <a:rPr sz="1400" b="0">
                <a:solidFill>
                  <a:srgbClr val="333333"/>
                </a:solidFill>
                <a:latin typeface="Yu Gothic UI"/>
                <a:ea typeface="Yu Gothic UI"/>
              </a:rPr>
              <a:t>Azure App Configuration と Azure Front Door の統合により、動的な構成をクライアント側アプリケーションに安全かつ CDN スケールで直接配信できるようになりました</a:t>
            </a:r>
          </a:p>
          <a:p>
            <a:pPr lvl="1">
              <a:spcBef>
                <a:spcPts val="300"/>
              </a:spcBef>
            </a:pPr>
            <a:r>
              <a:rPr sz="1400" b="0">
                <a:solidFill>
                  <a:srgbClr val="333333"/>
                </a:solidFill>
                <a:latin typeface="Yu Gothic UI"/>
                <a:ea typeface="Yu Gothic UI"/>
              </a:rPr>
              <a:t>AI 搭載やエージェント型クライアントアプリケーションに重要な機能を提供します</a:t>
            </a:r>
          </a:p>
          <a:p>
            <a:pPr lvl="1">
              <a:spcBef>
                <a:spcPts val="300"/>
              </a:spcBef>
            </a:pPr>
            <a:r>
              <a:rPr sz="1400" b="0">
                <a:solidFill>
                  <a:srgbClr val="333333"/>
                </a:solidFill>
                <a:latin typeface="Yu Gothic UI"/>
                <a:ea typeface="Yu Gothic UI"/>
              </a:rPr>
              <a:t>SPA（React、Vue、Angular、Next.js など）、.NET MAUI によるモバイル/デスクトップアプリケーション、ブラウザベースのアプリケーションで利用可能です</a:t>
            </a:r>
          </a:p>
          <a:p>
            <a:pPr lvl="1">
              <a:spcBef>
                <a:spcPts val="300"/>
              </a:spcBef>
            </a:pPr>
            <a:r>
              <a:rPr sz="1400" b="0">
                <a:solidFill>
                  <a:srgbClr val="333333"/>
                </a:solidFill>
                <a:latin typeface="Yu Gothic UI"/>
                <a:ea typeface="Yu Gothic UI"/>
              </a:rPr>
              <a:t>主な利点: 再デプロイなしの即時更新、Azure Front Door による CDN 高速配信、マネージド ID によるセキュアな設計、カスタムプロキシ層不要のシンプルなアーキテクチャ</a:t>
            </a:r>
          </a:p>
          <a:p>
            <a:pPr>
              <a:spcBef>
                <a:spcPts val="1400"/>
              </a:spcBef>
            </a:pPr>
            <a:r>
              <a:rPr sz="1300" b="1">
                <a:solidFill>
                  <a:srgbClr val="666666"/>
                </a:solidFill>
                <a:latin typeface="Yu Gothic UI"/>
                <a:ea typeface="Yu Gothic UI"/>
              </a:rPr>
              <a:t>対象製品: App Configuration</a:t>
            </a:r>
          </a:p>
          <a:p>
            <a:pPr>
              <a:spcBef>
                <a:spcPts val="200"/>
              </a:spcBef>
            </a:pPr>
            <a:r>
              <a:rPr sz="1300" b="0">
                <a:solidFill>
                  <a:srgbClr val="666666"/>
                </a:solidFill>
                <a:latin typeface="Yu Gothic UI"/>
                <a:ea typeface="Yu Gothic UI"/>
              </a:rPr>
              <a:t>作成日: 2026/04/01</a:t>
            </a:r>
          </a:p>
          <a:p>
            <a:pPr>
              <a:spcBef>
                <a:spcPts val="200"/>
              </a:spcBef>
            </a:pPr>
            <a:r>
              <a:rPr sz="1300" b="0">
                <a:solidFill>
                  <a:srgbClr val="666666"/>
                </a:solidFill>
                <a:latin typeface="Yu Gothic UI"/>
                <a:ea typeface="Yu Gothic UI"/>
              </a:rPr>
              <a:t>可用性: Preview 2025/November</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https://azure.microsoft.com/updates/?id=537234</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パブリックプレビュー: SQL プロジェクトを活用した SSMS でのデータベース DevOps</a:t>
            </a:r>
          </a:p>
        </p:txBody>
      </p:sp>
      <p:sp>
        <p:nvSpPr>
          <p:cNvPr id="3" name="Content Placeholder 2"/>
          <p:cNvSpPr>
            <a:spLocks noGrp="1"/>
          </p:cNvSpPr>
          <p:nvPr>
            <p:ph idx="10" sz="quarter"/>
          </p:nvPr>
        </p:nvSpPr>
        <p:spPr>
          <a:xfrm>
            <a:off x="457200" y="939983"/>
            <a:ext cx="10561638" cy="5460817"/>
          </a:xfrm>
        </p:spPr>
        <p:txBody>
          <a:bodyPr lIns="365760" rIns="365760" tIns="91440" bIns="91440" wrap="square"/>
          <a:lstStyle/>
          <a:p>
            <a:pPr>
              <a:spcAft>
                <a:spcPts val="800"/>
              </a:spcAft>
            </a:pPr>
            <a:r>
              <a:rPr sz="1600" b="1">
                <a:solidFill>
                  <a:srgbClr val="CA5010"/>
                </a:solidFill>
                <a:latin typeface="Yu Gothic UI"/>
                <a:ea typeface="Yu Gothic UI"/>
              </a:rPr>
              <a:t>【パブリックプレビュー】</a:t>
            </a:r>
            <a:r>
              <a:rPr sz="1600" b="1">
                <a:solidFill>
                  <a:srgbClr val="333333"/>
                </a:solidFill>
                <a:latin typeface="Yu Gothic UI"/>
                <a:ea typeface="Yu Gothic UI"/>
              </a:rPr>
              <a:t>  重要度: 低</a:t>
            </a:r>
          </a:p>
          <a:p>
            <a:pPr lvl="1">
              <a:spcBef>
                <a:spcPts val="300"/>
              </a:spcBef>
            </a:pPr>
            <a:r>
              <a:rPr sz="1400" b="0">
                <a:solidFill>
                  <a:srgbClr val="333333"/>
                </a:solidFill>
                <a:latin typeface="Yu Gothic UI"/>
                <a:ea typeface="Yu Gothic UI"/>
              </a:rPr>
              <a:t>Schema-as-Code のメリットをデータベース開発ワークフローに導入</a:t>
            </a:r>
          </a:p>
          <a:p>
            <a:pPr lvl="1">
              <a:spcBef>
                <a:spcPts val="300"/>
              </a:spcBef>
            </a:pPr>
            <a:r>
              <a:rPr sz="1400" b="0">
                <a:solidFill>
                  <a:srgbClr val="333333"/>
                </a:solidFill>
                <a:latin typeface="Yu Gothic UI"/>
                <a:ea typeface="Yu Gothic UI"/>
              </a:rPr>
              <a:t>SQL データベースプロジェクトにより、SSMS 内でデータベーススキーマのソース管理、任意の環境への信頼性の高いデプロイ、コード品質チェックの統合が可能に</a:t>
            </a:r>
          </a:p>
          <a:p>
            <a:pPr lvl="1">
              <a:spcBef>
                <a:spcPts val="300"/>
              </a:spcBef>
            </a:pPr>
            <a:r>
              <a:rPr sz="1400" b="0">
                <a:solidFill>
                  <a:srgbClr val="333333"/>
                </a:solidFill>
                <a:latin typeface="Yu Gothic UI"/>
                <a:ea typeface="Yu Gothic UI"/>
              </a:rPr>
              <a:t>Microsoft.Build.Sql SDK スタイルのプロジェクトを SSMS で使用でき、Visual Studio Code の SQL プロジェクトと一貫した体験を提供</a:t>
            </a:r>
          </a:p>
          <a:p>
            <a:pPr lvl="1">
              <a:spcBef>
                <a:spcPts val="300"/>
              </a:spcBef>
            </a:pPr>
            <a:r>
              <a:rPr sz="1400" b="0">
                <a:solidFill>
                  <a:srgbClr val="333333"/>
                </a:solidFill>
                <a:latin typeface="Yu Gothic UI"/>
                <a:ea typeface="Yu Gothic UI"/>
              </a:rPr>
              <a:t>CI/CD ワークフローへのデータベース開発統合を実現</a:t>
            </a:r>
          </a:p>
          <a:p>
            <a:pPr>
              <a:spcBef>
                <a:spcPts val="1400"/>
              </a:spcBef>
            </a:pPr>
            <a:r>
              <a:rPr sz="1300" b="1">
                <a:solidFill>
                  <a:srgbClr val="666666"/>
                </a:solidFill>
                <a:latin typeface="Yu Gothic UI"/>
                <a:ea typeface="Yu Gothic UI"/>
              </a:rPr>
              <a:t>対象製品: Azure SQL Database</a:t>
            </a:r>
          </a:p>
          <a:p>
            <a:pPr>
              <a:spcBef>
                <a:spcPts val="200"/>
              </a:spcBef>
            </a:pPr>
            <a:r>
              <a:rPr sz="1300" b="0">
                <a:solidFill>
                  <a:srgbClr val="666666"/>
                </a:solidFill>
                <a:latin typeface="Yu Gothic UI"/>
                <a:ea typeface="Yu Gothic UI"/>
              </a:rPr>
              <a:t>作成日: 2026/03/18</a:t>
            </a:r>
          </a:p>
          <a:p>
            <a:pPr>
              <a:spcBef>
                <a:spcPts val="200"/>
              </a:spcBef>
            </a:pPr>
            <a:r>
              <a:rPr sz="1300" b="0">
                <a:solidFill>
                  <a:srgbClr val="666666"/>
                </a:solidFill>
                <a:latin typeface="Yu Gothic UI"/>
                <a:ea typeface="Yu Gothic UI"/>
              </a:rPr>
              <a:t>可用性: Preview 2026/March</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https://azure.microsoft.com/updates/?id=558155</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000" b="1">
                <a:solidFill>
                  <a:srgbClr val="0078D4"/>
                </a:solidFill>
                <a:latin typeface="Yu Gothic UI"/>
                <a:ea typeface="Yu Gothic UI"/>
              </a:rPr>
              <a:t>パブリックプレビュー: MSSQL 拡張機能の Schema Designer における GitHub Copilot 統合</a:t>
            </a:r>
          </a:p>
        </p:txBody>
      </p:sp>
      <p:sp>
        <p:nvSpPr>
          <p:cNvPr id="3" name="Content Placeholder 2"/>
          <p:cNvSpPr>
            <a:spLocks noGrp="1"/>
          </p:cNvSpPr>
          <p:nvPr>
            <p:ph idx="10" sz="quarter"/>
          </p:nvPr>
        </p:nvSpPr>
        <p:spPr>
          <a:xfrm>
            <a:off x="457200" y="939983"/>
            <a:ext cx="10561638" cy="5460817"/>
          </a:xfrm>
        </p:spPr>
        <p:txBody>
          <a:bodyPr lIns="365760" rIns="365760" tIns="91440" bIns="91440" wrap="square"/>
          <a:lstStyle/>
          <a:p>
            <a:pPr>
              <a:spcAft>
                <a:spcPts val="800"/>
              </a:spcAft>
            </a:pPr>
            <a:r>
              <a:rPr sz="1600" b="1">
                <a:solidFill>
                  <a:srgbClr val="CA5010"/>
                </a:solidFill>
                <a:latin typeface="Yu Gothic UI"/>
                <a:ea typeface="Yu Gothic UI"/>
              </a:rPr>
              <a:t>【パブリックプレビュー】</a:t>
            </a:r>
            <a:r>
              <a:rPr sz="1600" b="1">
                <a:solidFill>
                  <a:srgbClr val="333333"/>
                </a:solidFill>
                <a:latin typeface="Yu Gothic UI"/>
                <a:ea typeface="Yu Gothic UI"/>
              </a:rPr>
              <a:t>  重要度: 低</a:t>
            </a:r>
          </a:p>
          <a:p>
            <a:pPr lvl="1">
              <a:spcBef>
                <a:spcPts val="300"/>
              </a:spcBef>
            </a:pPr>
            <a:r>
              <a:rPr sz="1400" b="0">
                <a:solidFill>
                  <a:srgbClr val="333333"/>
                </a:solidFill>
                <a:latin typeface="Yu Gothic UI"/>
                <a:ea typeface="Yu Gothic UI"/>
              </a:rPr>
              <a:t>Visual Studio Code の MSSQL 拡張機能で Schema Designer に GitHub Copilot 統合が追加</a:t>
            </a:r>
          </a:p>
          <a:p>
            <a:pPr lvl="1">
              <a:spcBef>
                <a:spcPts val="300"/>
              </a:spcBef>
            </a:pPr>
            <a:r>
              <a:rPr sz="1400" b="0">
                <a:solidFill>
                  <a:srgbClr val="333333"/>
                </a:solidFill>
                <a:latin typeface="Yu Gothic UI"/>
                <a:ea typeface="Yu Gothic UI"/>
              </a:rPr>
              <a:t>自然言語でテーブルや変更内容を記述すると、GitHub Copilot が Schema Designer 内で更新案を計画・生成</a:t>
            </a:r>
          </a:p>
          <a:p>
            <a:pPr lvl="1">
              <a:spcBef>
                <a:spcPts val="300"/>
              </a:spcBef>
            </a:pPr>
            <a:r>
              <a:rPr sz="1400" b="0">
                <a:solidFill>
                  <a:srgbClr val="333333"/>
                </a:solidFill>
                <a:latin typeface="Yu Gothic UI"/>
                <a:ea typeface="Yu Gothic UI"/>
              </a:rPr>
              <a:t>各スキーマ変更はビジュアルプレビュー、色分け、変更追跡パネルでのソース管理スタイルラベル (Add, Modify, Delete) で管理される</a:t>
            </a:r>
          </a:p>
          <a:p>
            <a:pPr lvl="1">
              <a:spcBef>
                <a:spcPts val="300"/>
              </a:spcBef>
            </a:pPr>
            <a:r>
              <a:rPr sz="1400" b="0">
                <a:solidFill>
                  <a:srgbClr val="333333"/>
                </a:solidFill>
                <a:latin typeface="Yu Gothic UI"/>
                <a:ea typeface="Yu Gothic UI"/>
              </a:rPr>
              <a:t>手動編集と AI 生成の提案を明確に区別し、適用前にレビュー可能</a:t>
            </a:r>
          </a:p>
          <a:p>
            <a:pPr lvl="1">
              <a:spcBef>
                <a:spcPts val="300"/>
              </a:spcBef>
            </a:pPr>
            <a:r>
              <a:rPr sz="1400" b="0">
                <a:solidFill>
                  <a:srgbClr val="333333"/>
                </a:solidFill>
                <a:latin typeface="Yu Gothic UI"/>
                <a:ea typeface="Yu Gothic UI"/>
              </a:rPr>
              <a:t>元に戻す・やり直し機能で安全に反復作業が可能</a:t>
            </a:r>
          </a:p>
          <a:p>
            <a:pPr>
              <a:spcBef>
                <a:spcPts val="1400"/>
              </a:spcBef>
            </a:pPr>
            <a:r>
              <a:rPr sz="1300" b="1">
                <a:solidFill>
                  <a:srgbClr val="666666"/>
                </a:solidFill>
                <a:latin typeface="Yu Gothic UI"/>
                <a:ea typeface="Yu Gothic UI"/>
              </a:rPr>
              <a:t>対象製品: Azure SQL Database</a:t>
            </a:r>
          </a:p>
          <a:p>
            <a:pPr>
              <a:spcBef>
                <a:spcPts val="200"/>
              </a:spcBef>
            </a:pPr>
            <a:r>
              <a:rPr sz="1300" b="0">
                <a:solidFill>
                  <a:srgbClr val="666666"/>
                </a:solidFill>
                <a:latin typeface="Yu Gothic UI"/>
                <a:ea typeface="Yu Gothic UI"/>
              </a:rPr>
              <a:t>作成日: 2026/03/18</a:t>
            </a:r>
          </a:p>
          <a:p>
            <a:pPr>
              <a:spcBef>
                <a:spcPts val="200"/>
              </a:spcBef>
            </a:pPr>
            <a:r>
              <a:rPr sz="1300" b="0">
                <a:solidFill>
                  <a:srgbClr val="666666"/>
                </a:solidFill>
                <a:latin typeface="Yu Gothic UI"/>
                <a:ea typeface="Yu Gothic UI"/>
              </a:rPr>
              <a:t>可用性: Preview 2026/March</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https://azure.microsoft.com/updates/?id=558169</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パブリックプレビュー: MSSQL 拡張機能での GitHub Copilot 統合 Data API Builder</a:t>
            </a:r>
          </a:p>
        </p:txBody>
      </p:sp>
      <p:sp>
        <p:nvSpPr>
          <p:cNvPr id="3" name="Content Placeholder 2"/>
          <p:cNvSpPr>
            <a:spLocks noGrp="1"/>
          </p:cNvSpPr>
          <p:nvPr>
            <p:ph idx="10" sz="quarter"/>
          </p:nvPr>
        </p:nvSpPr>
        <p:spPr>
          <a:xfrm>
            <a:off x="457200" y="939983"/>
            <a:ext cx="10561638" cy="5460817"/>
          </a:xfrm>
        </p:spPr>
        <p:txBody>
          <a:bodyPr lIns="365760" rIns="365760" tIns="91440" bIns="91440" wrap="square"/>
          <a:lstStyle/>
          <a:p>
            <a:pPr>
              <a:spcAft>
                <a:spcPts val="800"/>
              </a:spcAft>
            </a:pPr>
            <a:r>
              <a:rPr sz="1600" b="1">
                <a:solidFill>
                  <a:srgbClr val="CA5010"/>
                </a:solidFill>
                <a:latin typeface="Yu Gothic UI"/>
                <a:ea typeface="Yu Gothic UI"/>
              </a:rPr>
              <a:t>【パブリックプレビュー】</a:t>
            </a:r>
            <a:r>
              <a:rPr sz="1600" b="1">
                <a:solidFill>
                  <a:srgbClr val="333333"/>
                </a:solidFill>
                <a:latin typeface="Yu Gothic UI"/>
                <a:ea typeface="Yu Gothic UI"/>
              </a:rPr>
              <a:t>  重要度: 低</a:t>
            </a:r>
          </a:p>
          <a:p>
            <a:pPr lvl="1">
              <a:spcBef>
                <a:spcPts val="300"/>
              </a:spcBef>
            </a:pPr>
            <a:r>
              <a:rPr sz="1400" b="0">
                <a:solidFill>
                  <a:srgbClr val="333333"/>
                </a:solidFill>
                <a:latin typeface="Yu Gothic UI"/>
                <a:ea typeface="Yu Gothic UI"/>
              </a:rPr>
              <a:t>Visual Studio Code の MSSQL 拡張機能で Data API Builder が GitHub Copilot 統合とともにパブリックプレビューとして利用可能に</a:t>
            </a:r>
          </a:p>
          <a:p>
            <a:pPr lvl="1">
              <a:spcBef>
                <a:spcPts val="300"/>
              </a:spcBef>
            </a:pPr>
            <a:r>
              <a:rPr sz="1400" b="0">
                <a:solidFill>
                  <a:srgbClr val="333333"/>
                </a:solidFill>
                <a:latin typeface="Yu Gothic UI"/>
                <a:ea typeface="Yu Gothic UI"/>
              </a:rPr>
              <a:t>SQL データベーススキーマから REST、GraphQL、MCP エンドポイントを Visual Studio Code 内で生成可能</a:t>
            </a:r>
          </a:p>
          <a:p>
            <a:pPr lvl="1">
              <a:spcBef>
                <a:spcPts val="300"/>
              </a:spcBef>
            </a:pPr>
            <a:r>
              <a:rPr sz="1400" b="0">
                <a:solidFill>
                  <a:srgbClr val="333333"/>
                </a:solidFill>
                <a:latin typeface="Yu Gothic UI"/>
                <a:ea typeface="Yu Gothic UI"/>
              </a:rPr>
              <a:t>テーブルの選択、CRUD 操作の定義、認可ロール・主キー・ルート動作などのエンティティ別設定を専用 API 設計インターフェースで構成</a:t>
            </a:r>
          </a:p>
          <a:p>
            <a:pPr lvl="1">
              <a:spcBef>
                <a:spcPts val="300"/>
              </a:spcBef>
            </a:pPr>
            <a:r>
              <a:rPr sz="1400" b="0">
                <a:solidFill>
                  <a:srgbClr val="333333"/>
                </a:solidFill>
                <a:latin typeface="Yu Gothic UI"/>
                <a:ea typeface="Yu Gothic UI"/>
              </a:rPr>
              <a:t>検証済みスキーマから数分で動作するバックエンドを構築可能</a:t>
            </a:r>
          </a:p>
          <a:p>
            <a:pPr>
              <a:spcBef>
                <a:spcPts val="1400"/>
              </a:spcBef>
            </a:pPr>
            <a:r>
              <a:rPr sz="1300" b="1">
                <a:solidFill>
                  <a:srgbClr val="666666"/>
                </a:solidFill>
                <a:latin typeface="Yu Gothic UI"/>
                <a:ea typeface="Yu Gothic UI"/>
              </a:rPr>
              <a:t>対象製品: Azure SQL Database</a:t>
            </a:r>
          </a:p>
          <a:p>
            <a:pPr>
              <a:spcBef>
                <a:spcPts val="200"/>
              </a:spcBef>
            </a:pPr>
            <a:r>
              <a:rPr sz="1300" b="0">
                <a:solidFill>
                  <a:srgbClr val="666666"/>
                </a:solidFill>
                <a:latin typeface="Yu Gothic UI"/>
                <a:ea typeface="Yu Gothic UI"/>
              </a:rPr>
              <a:t>作成日: 2026/03/18</a:t>
            </a:r>
          </a:p>
          <a:p>
            <a:pPr>
              <a:spcBef>
                <a:spcPts val="200"/>
              </a:spcBef>
            </a:pPr>
            <a:r>
              <a:rPr sz="1300" b="0">
                <a:solidFill>
                  <a:srgbClr val="666666"/>
                </a:solidFill>
                <a:latin typeface="Yu Gothic UI"/>
                <a:ea typeface="Yu Gothic UI"/>
              </a:rPr>
              <a:t>可用性: Preview 2026/March</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https://azure.microsoft.com/updates/?id=558178</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パブリックプレビュー: Visual Studio Code 用 MSSQL 拡張機能の Query Profiler</a:t>
            </a:r>
          </a:p>
        </p:txBody>
      </p:sp>
      <p:sp>
        <p:nvSpPr>
          <p:cNvPr id="3" name="Content Placeholder 2"/>
          <p:cNvSpPr>
            <a:spLocks noGrp="1"/>
          </p:cNvSpPr>
          <p:nvPr>
            <p:ph idx="10" sz="quarter"/>
          </p:nvPr>
        </p:nvSpPr>
        <p:spPr>
          <a:xfrm>
            <a:off x="457200" y="939983"/>
            <a:ext cx="10561638" cy="5460817"/>
          </a:xfrm>
        </p:spPr>
        <p:txBody>
          <a:bodyPr lIns="365760" rIns="365760" tIns="91440" bIns="91440" wrap="square"/>
          <a:lstStyle/>
          <a:p>
            <a:pPr>
              <a:spcAft>
                <a:spcPts val="800"/>
              </a:spcAft>
            </a:pPr>
            <a:r>
              <a:rPr sz="1600" b="1">
                <a:solidFill>
                  <a:srgbClr val="CA5010"/>
                </a:solidFill>
                <a:latin typeface="Yu Gothic UI"/>
                <a:ea typeface="Yu Gothic UI"/>
              </a:rPr>
              <a:t>【パブリックプレビュー】</a:t>
            </a:r>
            <a:r>
              <a:rPr sz="1600" b="1">
                <a:solidFill>
                  <a:srgbClr val="333333"/>
                </a:solidFill>
                <a:latin typeface="Yu Gothic UI"/>
                <a:ea typeface="Yu Gothic UI"/>
              </a:rPr>
              <a:t>  重要度: 低</a:t>
            </a:r>
          </a:p>
          <a:p>
            <a:pPr lvl="1">
              <a:spcBef>
                <a:spcPts val="300"/>
              </a:spcBef>
            </a:pPr>
            <a:r>
              <a:rPr sz="1400" b="0">
                <a:solidFill>
                  <a:srgbClr val="333333"/>
                </a:solidFill>
                <a:latin typeface="Yu Gothic UI"/>
                <a:ea typeface="Yu Gothic UI"/>
              </a:rPr>
              <a:t>Visual Studio Code 用 MSSQL 拡張機能に Query Profiler がパブリックプレビューとして追加されました</a:t>
            </a:r>
          </a:p>
          <a:p>
            <a:pPr lvl="1">
              <a:spcBef>
                <a:spcPts val="300"/>
              </a:spcBef>
            </a:pPr>
            <a:r>
              <a:rPr sz="1400" b="0">
                <a:solidFill>
                  <a:srgbClr val="333333"/>
                </a:solidFill>
                <a:latin typeface="Yu Gothic UI"/>
                <a:ea typeface="Yu Gothic UI"/>
              </a:rPr>
              <a:t>Visual Studio Code 内でデータベースアクティビティのリアルタイムな洞察を得られます</a:t>
            </a:r>
          </a:p>
          <a:p>
            <a:pPr lvl="1">
              <a:spcBef>
                <a:spcPts val="300"/>
              </a:spcBef>
            </a:pPr>
            <a:r>
              <a:rPr sz="1400" b="0">
                <a:solidFill>
                  <a:srgbClr val="333333"/>
                </a:solidFill>
                <a:latin typeface="Yu Gothic UI"/>
                <a:ea typeface="Yu Gothic UI"/>
              </a:rPr>
              <a:t>クエリとデータベースアクティビティをリアルタイムでキャプチャし、アプリやバックエンドプロセスの動作把握、遅い操作の特定、パフォーマンスボトルネックの検出が可能です</a:t>
            </a:r>
          </a:p>
          <a:p>
            <a:pPr lvl="1">
              <a:spcBef>
                <a:spcPts val="300"/>
              </a:spcBef>
            </a:pPr>
            <a:r>
              <a:rPr sz="1400" b="0">
                <a:solidFill>
                  <a:srgbClr val="333333"/>
                </a:solidFill>
                <a:latin typeface="Yu Gothic UI"/>
                <a:ea typeface="Yu Gothic UI"/>
              </a:rPr>
              <a:t>Extended Events を利用した低オーバーヘッドのパフォーマンス監視で、データベースへの影響を最小限に抑えます</a:t>
            </a:r>
          </a:p>
          <a:p>
            <a:pPr lvl="1">
              <a:spcBef>
                <a:spcPts val="300"/>
              </a:spcBef>
            </a:pPr>
            <a:r>
              <a:rPr sz="1400" b="0">
                <a:solidFill>
                  <a:srgbClr val="333333"/>
                </a:solidFill>
                <a:latin typeface="Yu Gothic UI"/>
                <a:ea typeface="Yu Gothic UI"/>
              </a:rPr>
              <a:t>SQL Server（オンプレミス、プライベート/パブリッククラウド）および Azure SQL Database をサポートし、アクティブセッションの監視、実行詳細の確認、開発・テスト中のアプリケーションとデータベースの相互作用の理解が可…</a:t>
            </a:r>
          </a:p>
          <a:p>
            <a:pPr>
              <a:spcBef>
                <a:spcPts val="1400"/>
              </a:spcBef>
            </a:pPr>
            <a:r>
              <a:rPr sz="1300" b="1">
                <a:solidFill>
                  <a:srgbClr val="666666"/>
                </a:solidFill>
                <a:latin typeface="Yu Gothic UI"/>
                <a:ea typeface="Yu Gothic UI"/>
              </a:rPr>
              <a:t>対象製品: Azure SQL Database</a:t>
            </a:r>
          </a:p>
          <a:p>
            <a:pPr>
              <a:spcBef>
                <a:spcPts val="200"/>
              </a:spcBef>
            </a:pPr>
            <a:r>
              <a:rPr sz="1300" b="0">
                <a:solidFill>
                  <a:srgbClr val="666666"/>
                </a:solidFill>
                <a:latin typeface="Yu Gothic UI"/>
                <a:ea typeface="Yu Gothic UI"/>
              </a:rPr>
              <a:t>作成日: 2026/03/11</a:t>
            </a:r>
          </a:p>
          <a:p>
            <a:pPr>
              <a:spcBef>
                <a:spcPts val="200"/>
              </a:spcBef>
            </a:pPr>
            <a:r>
              <a:rPr sz="1300" b="0">
                <a:solidFill>
                  <a:srgbClr val="666666"/>
                </a:solidFill>
                <a:latin typeface="Yu Gothic UI"/>
                <a:ea typeface="Yu Gothic UI"/>
              </a:rPr>
              <a:t>可用性: Preview 2026/March</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https://azure.microsoft.com/updates/?id=558164</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600" b="1">
                <a:solidFill>
                  <a:srgbClr val="FFFFFF"/>
                </a:solidFill>
                <a:latin typeface="Yu Gothic UI"/>
                <a:ea typeface="Yu Gothic UI"/>
              </a:rPr>
              <a:t>管理 &amp; ガバナンス（8件）</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000" b="1">
                <a:solidFill>
                  <a:srgbClr val="0078D4"/>
                </a:solidFill>
                <a:latin typeface="Yu Gothic UI"/>
                <a:ea typeface="Yu Gothic UI"/>
              </a:rPr>
              <a:t>廃止予定: Azure Monitor マネージド サービス for Prometheus のリモートライト用サイドカーの廃止</a:t>
            </a:r>
          </a:p>
        </p:txBody>
      </p:sp>
      <p:sp>
        <p:nvSpPr>
          <p:cNvPr id="3" name="Content Placeholder 2"/>
          <p:cNvSpPr>
            <a:spLocks noGrp="1"/>
          </p:cNvSpPr>
          <p:nvPr>
            <p:ph idx="10" sz="quarter"/>
          </p:nvPr>
        </p:nvSpPr>
        <p:spPr>
          <a:xfrm>
            <a:off x="457200" y="939983"/>
            <a:ext cx="10561638" cy="5460817"/>
          </a:xfrm>
        </p:spPr>
        <p:txBody>
          <a:bodyPr lIns="365760" rIns="365760" tIns="91440" bIns="91440" wrap="square"/>
          <a:lstStyle/>
          <a:p>
            <a:pPr>
              <a:spcAft>
                <a:spcPts val="800"/>
              </a:spcAft>
            </a:pPr>
            <a:r>
              <a:rPr sz="1600" b="1">
                <a:solidFill>
                  <a:srgbClr val="D13438"/>
                </a:solidFill>
                <a:latin typeface="Yu Gothic UI"/>
                <a:ea typeface="Yu Gothic UI"/>
              </a:rPr>
              <a:t>【廃止予定】</a:t>
            </a:r>
            <a:r>
              <a:rPr sz="1600" b="1">
                <a:solidFill>
                  <a:srgbClr val="333333"/>
                </a:solidFill>
                <a:latin typeface="Yu Gothic UI"/>
                <a:ea typeface="Yu Gothic UI"/>
              </a:rPr>
              <a:t>  重要度: 高</a:t>
            </a:r>
          </a:p>
          <a:p>
            <a:pPr lvl="1">
              <a:spcBef>
                <a:spcPts val="300"/>
              </a:spcBef>
            </a:pPr>
            <a:r>
              <a:rPr sz="1400" b="0">
                <a:solidFill>
                  <a:srgbClr val="333333"/>
                </a:solidFill>
                <a:latin typeface="Yu Gothic UI"/>
                <a:ea typeface="Yu Gothic UI"/>
              </a:rPr>
              <a:t>2027 年 3 月 31 日に、Azure Monitor は Prometheus メトリクスを Azure Monitor Workspace にリモートライトするためのサイドカーを廃止します</a:t>
            </a:r>
          </a:p>
          <a:p>
            <a:pPr lvl="1">
              <a:spcBef>
                <a:spcPts val="300"/>
              </a:spcBef>
            </a:pPr>
            <a:r>
              <a:rPr sz="1400" b="0">
                <a:solidFill>
                  <a:srgbClr val="333333"/>
                </a:solidFill>
                <a:latin typeface="Yu Gothic UI"/>
                <a:ea typeface="Yu Gothic UI"/>
              </a:rPr>
              <a:t>信頼性の向上と複雑さの軽減のための取り組みの一環です</a:t>
            </a:r>
          </a:p>
          <a:p>
            <a:pPr lvl="1">
              <a:spcBef>
                <a:spcPts val="300"/>
              </a:spcBef>
            </a:pPr>
            <a:r>
              <a:rPr sz="1400" b="0">
                <a:solidFill>
                  <a:srgbClr val="333333"/>
                </a:solidFill>
                <a:latin typeface="Yu Gothic UI"/>
                <a:ea typeface="Yu Gothic UI"/>
              </a:rPr>
              <a:t>セルフホスト Prometheus または Prometheus Operator を Azure Monitor Workspace に直接リモートライトするよう構成することを推奨します</a:t>
            </a:r>
          </a:p>
          <a:p>
            <a:pPr lvl="1">
              <a:spcBef>
                <a:spcPts val="300"/>
              </a:spcBef>
            </a:pPr>
            <a:r>
              <a:rPr sz="1400" b="0">
                <a:solidFill>
                  <a:srgbClr val="333333"/>
                </a:solidFill>
                <a:latin typeface="Yu Gothic UI"/>
                <a:ea typeface="Yu Gothic UI"/>
              </a:rPr>
              <a:t>すべての認証方法がサポートされており、直接リモートライトは Prometheus Operator と完全に互換性があります</a:t>
            </a:r>
          </a:p>
          <a:p>
            <a:pPr lvl="1">
              <a:spcBef>
                <a:spcPts val="300"/>
              </a:spcBef>
            </a:pPr>
            <a:r>
              <a:rPr sz="1400" b="0">
                <a:solidFill>
                  <a:srgbClr val="333333"/>
                </a:solidFill>
                <a:latin typeface="Yu Gothic UI"/>
                <a:ea typeface="Yu Gothic UI"/>
              </a:rPr>
              <a:t>サイドカーが不要になり、セットアップが簡素化されます</a:t>
            </a:r>
          </a:p>
          <a:p>
            <a:pPr>
              <a:spcBef>
                <a:spcPts val="1400"/>
              </a:spcBef>
            </a:pPr>
            <a:r>
              <a:rPr sz="1300" b="1">
                <a:solidFill>
                  <a:srgbClr val="666666"/>
                </a:solidFill>
                <a:latin typeface="Yu Gothic UI"/>
                <a:ea typeface="Yu Gothic UI"/>
              </a:rPr>
              <a:t>対象製品: Azure Kubernetes Service (AKS), Azure Monitor</a:t>
            </a:r>
          </a:p>
          <a:p>
            <a:pPr>
              <a:spcBef>
                <a:spcPts val="200"/>
              </a:spcBef>
            </a:pPr>
            <a:r>
              <a:rPr sz="1300" b="0">
                <a:solidFill>
                  <a:srgbClr val="666666"/>
                </a:solidFill>
                <a:latin typeface="Yu Gothic UI"/>
                <a:ea typeface="Yu Gothic UI"/>
              </a:rPr>
              <a:t>作成日: 2026/03/30</a:t>
            </a:r>
          </a:p>
          <a:p>
            <a:pPr>
              <a:spcBef>
                <a:spcPts val="200"/>
              </a:spcBef>
            </a:pPr>
            <a:r>
              <a:rPr sz="1300" b="0">
                <a:solidFill>
                  <a:srgbClr val="666666"/>
                </a:solidFill>
                <a:latin typeface="Yu Gothic UI"/>
                <a:ea typeface="Yu Gothic UI"/>
              </a:rPr>
              <a:t>可用性: Retirement 2027/March</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https://azure.microsoft.com/updates/?id=550519</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廃止予定: Emissions Impact Dashboard for Azure</a:t>
            </a:r>
          </a:p>
        </p:txBody>
      </p:sp>
      <p:sp>
        <p:nvSpPr>
          <p:cNvPr id="3" name="Content Placeholder 2"/>
          <p:cNvSpPr>
            <a:spLocks noGrp="1"/>
          </p:cNvSpPr>
          <p:nvPr>
            <p:ph idx="10" sz="quarter"/>
          </p:nvPr>
        </p:nvSpPr>
        <p:spPr>
          <a:xfrm>
            <a:off x="457200" y="939983"/>
            <a:ext cx="10561638" cy="5460817"/>
          </a:xfrm>
        </p:spPr>
        <p:txBody>
          <a:bodyPr lIns="365760" rIns="365760" tIns="91440" bIns="91440" wrap="square"/>
          <a:lstStyle/>
          <a:p>
            <a:pPr>
              <a:spcAft>
                <a:spcPts val="800"/>
              </a:spcAft>
            </a:pPr>
            <a:r>
              <a:rPr sz="1600" b="1">
                <a:solidFill>
                  <a:srgbClr val="D13438"/>
                </a:solidFill>
                <a:latin typeface="Yu Gothic UI"/>
                <a:ea typeface="Yu Gothic UI"/>
              </a:rPr>
              <a:t>【廃止予定】</a:t>
            </a:r>
            <a:r>
              <a:rPr sz="1600" b="1">
                <a:solidFill>
                  <a:srgbClr val="333333"/>
                </a:solidFill>
                <a:latin typeface="Yu Gothic UI"/>
                <a:ea typeface="Yu Gothic UI"/>
              </a:rPr>
              <a:t>  重要度: 高</a:t>
            </a:r>
          </a:p>
          <a:p>
            <a:pPr lvl="1">
              <a:spcBef>
                <a:spcPts val="300"/>
              </a:spcBef>
            </a:pPr>
            <a:r>
              <a:rPr sz="1400" b="0">
                <a:solidFill>
                  <a:srgbClr val="333333"/>
                </a:solidFill>
                <a:latin typeface="Yu Gothic UI"/>
                <a:ea typeface="Yu Gothic UI"/>
              </a:rPr>
              <a:t>2027年3月31日をもって、Power BI でホストされている Emissions Impact Dashboard for Azure が廃止される</a:t>
            </a:r>
          </a:p>
          <a:p>
            <a:pPr lvl="1">
              <a:spcBef>
                <a:spcPts val="300"/>
              </a:spcBef>
            </a:pPr>
            <a:r>
              <a:rPr sz="1400" b="0">
                <a:solidFill>
                  <a:srgbClr val="333333"/>
                </a:solidFill>
                <a:latin typeface="Yu Gothic UI"/>
                <a:ea typeface="Yu Gothic UI"/>
              </a:rPr>
              <a:t>廃止後はダッシュボードにアクセスできなくなり、テクニカルサポートも終了する</a:t>
            </a:r>
          </a:p>
          <a:p>
            <a:pPr lvl="1">
              <a:spcBef>
                <a:spcPts val="300"/>
              </a:spcBef>
            </a:pPr>
            <a:r>
              <a:rPr sz="1400" b="0">
                <a:solidFill>
                  <a:srgbClr val="333333"/>
                </a:solidFill>
                <a:latin typeface="Yu Gothic UI"/>
                <a:ea typeface="Yu Gothic UI"/>
              </a:rPr>
              <a:t>履歴レポートを保持するために排出量データのエクスポートを強く推奨</a:t>
            </a:r>
          </a:p>
          <a:p>
            <a:pPr lvl="1">
              <a:spcBef>
                <a:spcPts val="300"/>
              </a:spcBef>
            </a:pPr>
            <a:r>
              <a:rPr sz="1400" b="0">
                <a:solidFill>
                  <a:srgbClr val="333333"/>
                </a:solidFill>
                <a:latin typeface="Yu Gothic UI"/>
                <a:ea typeface="Yu Gothic UI"/>
              </a:rPr>
              <a:t>代替ソリューションとして Azure Carbon Optimizer の利用を検討可能</a:t>
            </a:r>
          </a:p>
          <a:p>
            <a:pPr>
              <a:spcBef>
                <a:spcPts val="200"/>
              </a:spcBef>
            </a:pPr>
            <a:r>
              <a:rPr sz="1300" b="0">
                <a:solidFill>
                  <a:srgbClr val="666666"/>
                </a:solidFill>
                <a:latin typeface="Yu Gothic UI"/>
                <a:ea typeface="Yu Gothic UI"/>
              </a:rPr>
              <a:t>作成日: 2026/03/18</a:t>
            </a:r>
          </a:p>
          <a:p>
            <a:pPr>
              <a:spcBef>
                <a:spcPts val="200"/>
              </a:spcBef>
            </a:pPr>
            <a:r>
              <a:rPr sz="1300" b="0">
                <a:solidFill>
                  <a:srgbClr val="666666"/>
                </a:solidFill>
                <a:latin typeface="Yu Gothic UI"/>
                <a:ea typeface="Yu Gothic UI"/>
              </a:rPr>
              <a:t>可用性: Retirement 2027/March</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https://azure.microsoft.com/updates/?id=558278</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一般提供開始: Microsoft Azure がデンマークの新しいクラウドリージョンから利用可能に</a:t>
            </a:r>
          </a:p>
        </p:txBody>
      </p:sp>
      <p:sp>
        <p:nvSpPr>
          <p:cNvPr id="3" name="Content Placeholder 2"/>
          <p:cNvSpPr>
            <a:spLocks noGrp="1"/>
          </p:cNvSpPr>
          <p:nvPr>
            <p:ph idx="10" sz="quarter"/>
          </p:nvPr>
        </p:nvSpPr>
        <p:spPr>
          <a:xfrm>
            <a:off x="457200" y="939983"/>
            <a:ext cx="10561638" cy="5460817"/>
          </a:xfrm>
        </p:spPr>
        <p:txBody>
          <a:bodyPr lIns="365760" rIns="365760" tIns="91440" bIns="91440" wrap="square"/>
          <a:lstStyle/>
          <a:p>
            <a:pPr>
              <a:spcAft>
                <a:spcPts val="800"/>
              </a:spcAft>
            </a:pPr>
            <a:r>
              <a:rPr sz="1600" b="1">
                <a:solidFill>
                  <a:srgbClr val="107C10"/>
                </a:solidFill>
                <a:latin typeface="Yu Gothic UI"/>
                <a:ea typeface="Yu Gothic UI"/>
              </a:rPr>
              <a:t>【一般提供開始】</a:t>
            </a:r>
            <a:r>
              <a:rPr sz="1600" b="1">
                <a:solidFill>
                  <a:srgbClr val="333333"/>
                </a:solidFill>
                <a:latin typeface="Yu Gothic UI"/>
                <a:ea typeface="Yu Gothic UI"/>
              </a:rPr>
              <a:t>  重要度: 中</a:t>
            </a:r>
          </a:p>
          <a:p>
            <a:pPr lvl="1">
              <a:spcBef>
                <a:spcPts val="300"/>
              </a:spcBef>
            </a:pPr>
            <a:r>
              <a:rPr sz="1400" b="0">
                <a:solidFill>
                  <a:srgbClr val="333333"/>
                </a:solidFill>
                <a:latin typeface="Yu Gothic UI"/>
                <a:ea typeface="Yu Gothic UI"/>
              </a:rPr>
              <a:t>Microsoft はデンマークにクラウドリージョンを開設し、デジタルトランスフォーメーションと AI イノベーションを加速します</a:t>
            </a:r>
          </a:p>
          <a:p>
            <a:pPr lvl="1">
              <a:spcBef>
                <a:spcPts val="300"/>
              </a:spcBef>
            </a:pPr>
            <a:r>
              <a:rPr sz="1400" b="0">
                <a:solidFill>
                  <a:srgbClr val="333333"/>
                </a:solidFill>
                <a:latin typeface="Yu Gothic UI"/>
                <a:ea typeface="Yu Gothic UI"/>
              </a:rPr>
              <a:t>Denmark East リージョンは、デンマークのお客様にローカルで安全なクラウドインフラストラクチャを提供し、ローカルデータ所在地要件、低レイテンシ、高度なクラウドおよび AI サービスへのアクセスをサポートします</a:t>
            </a:r>
          </a:p>
          <a:p>
            <a:pPr lvl="1">
              <a:spcBef>
                <a:spcPts val="300"/>
              </a:spcBef>
            </a:pPr>
            <a:r>
              <a:rPr sz="1400" b="0">
                <a:solidFill>
                  <a:srgbClr val="333333"/>
                </a:solidFill>
                <a:latin typeface="Yu Gothic UI"/>
                <a:ea typeface="Yu Gothic UI"/>
              </a:rPr>
              <a:t>新しいリージョンと Availability Zones を活用するために、Azure Resource Mover で複数のリソースのリージョン移行が可能です</a:t>
            </a:r>
          </a:p>
          <a:p>
            <a:pPr>
              <a:spcBef>
                <a:spcPts val="200"/>
              </a:spcBef>
            </a:pPr>
            <a:r>
              <a:rPr sz="1300" b="0">
                <a:solidFill>
                  <a:srgbClr val="666666"/>
                </a:solidFill>
                <a:latin typeface="Yu Gothic UI"/>
                <a:ea typeface="Yu Gothic UI"/>
              </a:rPr>
              <a:t>作成日: 2026/03/31</a:t>
            </a:r>
          </a:p>
          <a:p>
            <a:pPr>
              <a:spcBef>
                <a:spcPts val="200"/>
              </a:spcBef>
            </a:pPr>
            <a:r>
              <a:rPr sz="1300" b="0">
                <a:solidFill>
                  <a:srgbClr val="666666"/>
                </a:solidFill>
                <a:latin typeface="Yu Gothic UI"/>
                <a:ea typeface="Yu Gothic UI"/>
              </a:rPr>
              <a:t>可用性: General Availability 2026/March</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https://azure.microsoft.com/updates/?id=559406</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000" b="1">
                <a:solidFill>
                  <a:srgbClr val="0078D4"/>
                </a:solidFill>
                <a:latin typeface="Yu Gothic UI"/>
                <a:ea typeface="Yu Gothic UI"/>
              </a:rPr>
              <a:t>一般提供開始: Azure Arc 対応 Kubernetes 向け Azure Monitor Prometheus コミュニティ推奨アラート</a:t>
            </a:r>
          </a:p>
        </p:txBody>
      </p:sp>
      <p:sp>
        <p:nvSpPr>
          <p:cNvPr id="3" name="Content Placeholder 2"/>
          <p:cNvSpPr>
            <a:spLocks noGrp="1"/>
          </p:cNvSpPr>
          <p:nvPr>
            <p:ph idx="10" sz="quarter"/>
          </p:nvPr>
        </p:nvSpPr>
        <p:spPr>
          <a:xfrm>
            <a:off x="457200" y="939983"/>
            <a:ext cx="10561638" cy="5460817"/>
          </a:xfrm>
        </p:spPr>
        <p:txBody>
          <a:bodyPr lIns="365760" rIns="365760" tIns="91440" bIns="91440" wrap="square"/>
          <a:lstStyle/>
          <a:p>
            <a:pPr>
              <a:spcAft>
                <a:spcPts val="800"/>
              </a:spcAft>
            </a:pPr>
            <a:r>
              <a:rPr sz="1600" b="1">
                <a:solidFill>
                  <a:srgbClr val="107C10"/>
                </a:solidFill>
                <a:latin typeface="Yu Gothic UI"/>
                <a:ea typeface="Yu Gothic UI"/>
              </a:rPr>
              <a:t>【一般提供開始】</a:t>
            </a:r>
            <a:r>
              <a:rPr sz="1600" b="1">
                <a:solidFill>
                  <a:srgbClr val="333333"/>
                </a:solidFill>
                <a:latin typeface="Yu Gothic UI"/>
                <a:ea typeface="Yu Gothic UI"/>
              </a:rPr>
              <a:t>  重要度: 中</a:t>
            </a:r>
          </a:p>
          <a:p>
            <a:pPr lvl="1">
              <a:spcBef>
                <a:spcPts val="300"/>
              </a:spcBef>
            </a:pPr>
            <a:r>
              <a:rPr sz="1400" b="0">
                <a:solidFill>
                  <a:srgbClr val="333333"/>
                </a:solidFill>
                <a:latin typeface="Yu Gothic UI"/>
                <a:ea typeface="Yu Gothic UI"/>
              </a:rPr>
              <a:t>Azure Monitor が Azure Arc 対応 Kubernetes クラスター向けに、Azure Portal から Prometheus 推奨アラートのワンクリック有効化を提供開始しました</a:t>
            </a:r>
          </a:p>
          <a:p>
            <a:pPr lvl="1">
              <a:spcBef>
                <a:spcPts val="300"/>
              </a:spcBef>
            </a:pPr>
            <a:r>
              <a:rPr sz="1400" b="0">
                <a:solidFill>
                  <a:srgbClr val="333333"/>
                </a:solidFill>
                <a:latin typeface="Yu Gothic UI"/>
                <a:ea typeface="Yu Gothic UI"/>
              </a:rPr>
              <a:t>強化された Prometheus コミュニティルールに基づき、クラスター、ノード、Pod レベルで包括的なカバレッジを提供します</a:t>
            </a:r>
          </a:p>
          <a:p>
            <a:pPr lvl="1">
              <a:spcBef>
                <a:spcPts val="300"/>
              </a:spcBef>
            </a:pPr>
            <a:r>
              <a:rPr sz="1400" b="0">
                <a:solidFill>
                  <a:srgbClr val="333333"/>
                </a:solidFill>
                <a:latin typeface="Yu Gothic UI"/>
                <a:ea typeface="Yu Gothic UI"/>
              </a:rPr>
              <a:t>以前は手動テンプレートダウンロードと CLI デプロイが必要でした</a:t>
            </a:r>
          </a:p>
          <a:p>
            <a:pPr lvl="1">
              <a:spcBef>
                <a:spcPts val="300"/>
              </a:spcBef>
            </a:pPr>
            <a:r>
              <a:rPr sz="1400" b="0">
                <a:solidFill>
                  <a:srgbClr val="333333"/>
                </a:solidFill>
                <a:latin typeface="Yu Gothic UI"/>
                <a:ea typeface="Yu Gothic UI"/>
              </a:rPr>
              <a:t>使用には Azure Monitor マネージドサービス for Prometheus の有効化が必要です</a:t>
            </a:r>
          </a:p>
          <a:p>
            <a:pPr lvl="1">
              <a:spcBef>
                <a:spcPts val="300"/>
              </a:spcBef>
            </a:pPr>
            <a:r>
              <a:rPr sz="1400" b="0">
                <a:solidFill>
                  <a:srgbClr val="333333"/>
                </a:solidFill>
                <a:latin typeface="Yu Gothic UI"/>
                <a:ea typeface="Yu Gothic UI"/>
              </a:rPr>
              <a:t>レガシー Container Insights 推奨アラート（カスタムメトリクス）（プレビュー）の後継です</a:t>
            </a:r>
          </a:p>
          <a:p>
            <a:pPr>
              <a:spcBef>
                <a:spcPts val="1400"/>
              </a:spcBef>
            </a:pPr>
            <a:r>
              <a:rPr sz="1300" b="1">
                <a:solidFill>
                  <a:srgbClr val="666666"/>
                </a:solidFill>
                <a:latin typeface="Yu Gothic UI"/>
                <a:ea typeface="Yu Gothic UI"/>
              </a:rPr>
              <a:t>対象製品: Azure Monitor</a:t>
            </a:r>
          </a:p>
          <a:p>
            <a:pPr>
              <a:spcBef>
                <a:spcPts val="200"/>
              </a:spcBef>
            </a:pPr>
            <a:r>
              <a:rPr sz="1300" b="0">
                <a:solidFill>
                  <a:srgbClr val="666666"/>
                </a:solidFill>
                <a:latin typeface="Yu Gothic UI"/>
                <a:ea typeface="Yu Gothic UI"/>
              </a:rPr>
              <a:t>作成日: 2026/03/24</a:t>
            </a:r>
          </a:p>
          <a:p>
            <a:pPr>
              <a:spcBef>
                <a:spcPts val="200"/>
              </a:spcBef>
            </a:pPr>
            <a:r>
              <a:rPr sz="1300" b="0">
                <a:solidFill>
                  <a:srgbClr val="666666"/>
                </a:solidFill>
                <a:latin typeface="Yu Gothic UI"/>
                <a:ea typeface="Yu Gothic UI"/>
              </a:rPr>
              <a:t>可用性: General Availability 2026/March</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https://azure.microsoft.com/updates/?id=558825</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一般提供開始: Log Analytics ワークスペースのサマリルールが手動「Retry bin」に対応</a:t>
            </a:r>
          </a:p>
        </p:txBody>
      </p:sp>
      <p:sp>
        <p:nvSpPr>
          <p:cNvPr id="3" name="Content Placeholder 2"/>
          <p:cNvSpPr>
            <a:spLocks noGrp="1"/>
          </p:cNvSpPr>
          <p:nvPr>
            <p:ph idx="10" sz="quarter"/>
          </p:nvPr>
        </p:nvSpPr>
        <p:spPr>
          <a:xfrm>
            <a:off x="457200" y="939983"/>
            <a:ext cx="10561638" cy="5460817"/>
          </a:xfrm>
        </p:spPr>
        <p:txBody>
          <a:bodyPr lIns="365760" rIns="365760" tIns="91440" bIns="91440" wrap="square"/>
          <a:lstStyle/>
          <a:p>
            <a:pPr>
              <a:spcAft>
                <a:spcPts val="800"/>
              </a:spcAft>
            </a:pPr>
            <a:r>
              <a:rPr sz="1600" b="1">
                <a:solidFill>
                  <a:srgbClr val="107C10"/>
                </a:solidFill>
                <a:latin typeface="Yu Gothic UI"/>
                <a:ea typeface="Yu Gothic UI"/>
              </a:rPr>
              <a:t>【一般提供開始】</a:t>
            </a:r>
            <a:r>
              <a:rPr sz="1600" b="1">
                <a:solidFill>
                  <a:srgbClr val="333333"/>
                </a:solidFill>
                <a:latin typeface="Yu Gothic UI"/>
                <a:ea typeface="Yu Gothic UI"/>
              </a:rPr>
              <a:t>  重要度: 中</a:t>
            </a:r>
          </a:p>
          <a:p>
            <a:pPr lvl="1">
              <a:spcBef>
                <a:spcPts val="300"/>
              </a:spcBef>
            </a:pPr>
            <a:r>
              <a:rPr sz="1400" b="0">
                <a:solidFill>
                  <a:srgbClr val="333333"/>
                </a:solidFill>
                <a:latin typeface="Yu Gothic UI"/>
                <a:ea typeface="Yu Gothic UI"/>
              </a:rPr>
              <a:t>Log Analytics ワークスペースのサマリルールが手動「Retry bin」機能に対応しました</a:t>
            </a:r>
          </a:p>
          <a:p>
            <a:pPr lvl="1">
              <a:spcBef>
                <a:spcPts val="300"/>
              </a:spcBef>
            </a:pPr>
            <a:r>
              <a:rPr sz="1400" b="0">
                <a:solidFill>
                  <a:srgbClr val="333333"/>
                </a:solidFill>
                <a:latin typeface="Yu Gothic UI"/>
                <a:ea typeface="Yu Gothic UI"/>
              </a:rPr>
              <a:t>サマリルールは Log Analytics ワークスペース内でバッチ集計を実行し、要約結果をカスタム宛先テーブルに再取り込みします</a:t>
            </a:r>
          </a:p>
          <a:p>
            <a:pPr lvl="1">
              <a:spcBef>
                <a:spcPts val="300"/>
              </a:spcBef>
            </a:pPr>
            <a:r>
              <a:rPr sz="1400" b="0">
                <a:solidFill>
                  <a:srgbClr val="333333"/>
                </a:solidFill>
                <a:latin typeface="Yu Gothic UI"/>
                <a:ea typeface="Yu Gothic UI"/>
              </a:rPr>
              <a:t>ビンが失敗するとデータセットにギャップが生じますが、「Retry bin」によりルールの再定義やテーブルの再構築なしにビンレベルの障害を修復できます</a:t>
            </a:r>
          </a:p>
          <a:p>
            <a:pPr lvl="1">
              <a:spcBef>
                <a:spcPts val="300"/>
              </a:spcBef>
            </a:pPr>
            <a:r>
              <a:rPr sz="1400" b="0">
                <a:solidFill>
                  <a:srgbClr val="333333"/>
                </a:solidFill>
                <a:latin typeface="Yu Gothic UI"/>
                <a:ea typeface="Yu Gothic UI"/>
              </a:rPr>
              <a:t>サービスの組み込みリトライポリシーが終了した場合、retryBinStartTime を指定して特定の失敗したタイムビンを再実行でき、ルールの既存設定（クエリ、binSize、宛先テーブル等）は変更されません</a:t>
            </a:r>
          </a:p>
          <a:p>
            <a:pPr>
              <a:spcBef>
                <a:spcPts val="1400"/>
              </a:spcBef>
            </a:pPr>
            <a:r>
              <a:rPr sz="1300" b="1">
                <a:solidFill>
                  <a:srgbClr val="666666"/>
                </a:solidFill>
                <a:latin typeface="Yu Gothic UI"/>
                <a:ea typeface="Yu Gothic UI"/>
              </a:rPr>
              <a:t>対象製品: Azure Monitor</a:t>
            </a:r>
          </a:p>
          <a:p>
            <a:pPr>
              <a:spcBef>
                <a:spcPts val="200"/>
              </a:spcBef>
            </a:pPr>
            <a:r>
              <a:rPr sz="1300" b="0">
                <a:solidFill>
                  <a:srgbClr val="666666"/>
                </a:solidFill>
                <a:latin typeface="Yu Gothic UI"/>
                <a:ea typeface="Yu Gothic UI"/>
              </a:rPr>
              <a:t>作成日: 2026/03/12</a:t>
            </a:r>
          </a:p>
          <a:p>
            <a:pPr>
              <a:spcBef>
                <a:spcPts val="200"/>
              </a:spcBef>
            </a:pPr>
            <a:r>
              <a:rPr sz="1300" b="0">
                <a:solidFill>
                  <a:srgbClr val="666666"/>
                </a:solidFill>
                <a:latin typeface="Yu Gothic UI"/>
                <a:ea typeface="Yu Gothic UI"/>
              </a:rPr>
              <a:t>可用性: General Availability 2025/July</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https://azure.microsoft.com/updates/?id=558656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一般提供開始: Azure SRE Agent の新機能</a:t>
            </a:r>
          </a:p>
        </p:txBody>
      </p:sp>
      <p:sp>
        <p:nvSpPr>
          <p:cNvPr id="3" name="Content Placeholder 2"/>
          <p:cNvSpPr>
            <a:spLocks noGrp="1"/>
          </p:cNvSpPr>
          <p:nvPr>
            <p:ph idx="10" sz="quarter"/>
          </p:nvPr>
        </p:nvSpPr>
        <p:spPr>
          <a:xfrm>
            <a:off x="457200" y="939983"/>
            <a:ext cx="10561638" cy="5460817"/>
          </a:xfrm>
        </p:spPr>
        <p:txBody>
          <a:bodyPr lIns="365760" rIns="365760" tIns="91440" bIns="91440" wrap="square"/>
          <a:lstStyle/>
          <a:p>
            <a:pPr>
              <a:spcAft>
                <a:spcPts val="800"/>
              </a:spcAft>
            </a:pPr>
            <a:r>
              <a:rPr sz="1600" b="1">
                <a:solidFill>
                  <a:srgbClr val="107C10"/>
                </a:solidFill>
                <a:latin typeface="Yu Gothic UI"/>
                <a:ea typeface="Yu Gothic UI"/>
              </a:rPr>
              <a:t>【一般提供開始】</a:t>
            </a:r>
            <a:r>
              <a:rPr sz="1600" b="1">
                <a:solidFill>
                  <a:srgbClr val="333333"/>
                </a:solidFill>
                <a:latin typeface="Yu Gothic UI"/>
                <a:ea typeface="Yu Gothic UI"/>
              </a:rPr>
              <a:t>  重要度: 中</a:t>
            </a:r>
          </a:p>
          <a:p>
            <a:pPr lvl="1">
              <a:spcBef>
                <a:spcPts val="300"/>
              </a:spcBef>
            </a:pPr>
            <a:r>
              <a:rPr sz="1400" b="0">
                <a:solidFill>
                  <a:srgbClr val="333333"/>
                </a:solidFill>
                <a:latin typeface="Yu Gothic UI"/>
                <a:ea typeface="Yu Gothic UI"/>
              </a:rPr>
              <a:t>Azure SRE Agent が一般提供開始になりました</a:t>
            </a:r>
          </a:p>
          <a:p>
            <a:pPr lvl="1">
              <a:spcBef>
                <a:spcPts val="300"/>
              </a:spcBef>
            </a:pPr>
            <a:r>
              <a:rPr sz="1400" b="0">
                <a:solidFill>
                  <a:srgbClr val="333333"/>
                </a:solidFill>
                <a:latin typeface="Yu Gothic UI"/>
                <a:ea typeface="Yu Gothic UI"/>
              </a:rPr>
              <a:t>この AI 駆動の運用エージェントは、診断の加速と応答ワークフローの自動化により、チームの稼働率向上、インシデント影響の軽減、運用負荷の削減を支援します</a:t>
            </a:r>
          </a:p>
          <a:p>
            <a:pPr lvl="1">
              <a:spcBef>
                <a:spcPts val="300"/>
              </a:spcBef>
            </a:pPr>
            <a:r>
              <a:rPr sz="1400" b="0">
                <a:solidFill>
                  <a:srgbClr val="333333"/>
                </a:solidFill>
                <a:latin typeface="Yu Gothic UI"/>
                <a:ea typeface="Yu Gothic UI"/>
              </a:rPr>
              <a:t>GA リリースでは、ソースコードとツールによるディープコンテキストグラウンディング、OpenAI および Anthropic Claude モデルによる高度な推論、レポートとダッシュボード生成のための組み込み Python コード実行、各イ…</a:t>
            </a:r>
          </a:p>
          <a:p>
            <a:pPr lvl="1">
              <a:spcBef>
                <a:spcPts val="300"/>
              </a:spcBef>
            </a:pPr>
            <a:r>
              <a:rPr sz="1400" b="0">
                <a:solidFill>
                  <a:srgbClr val="333333"/>
                </a:solidFill>
                <a:latin typeface="Yu Gothic UI"/>
                <a:ea typeface="Yu Gothic UI"/>
              </a:rPr>
              <a:t>推奨アクションから定義されたガードレール内での自動応答まで、エージェントの自律レベルをカスタマイズ可能です</a:t>
            </a:r>
          </a:p>
          <a:p>
            <a:pPr>
              <a:spcBef>
                <a:spcPts val="200"/>
              </a:spcBef>
            </a:pPr>
            <a:r>
              <a:rPr sz="1300" b="0">
                <a:solidFill>
                  <a:srgbClr val="666666"/>
                </a:solidFill>
                <a:latin typeface="Yu Gothic UI"/>
                <a:ea typeface="Yu Gothic UI"/>
              </a:rPr>
              <a:t>作成日: 2026/03/11</a:t>
            </a:r>
          </a:p>
          <a:p>
            <a:pPr>
              <a:spcBef>
                <a:spcPts val="200"/>
              </a:spcBef>
            </a:pPr>
            <a:r>
              <a:rPr sz="1300" b="0">
                <a:solidFill>
                  <a:srgbClr val="666666"/>
                </a:solidFill>
                <a:latin typeface="Yu Gothic UI"/>
                <a:ea typeface="Yu Gothic UI"/>
              </a:rPr>
              <a:t>可用性: General Availability 2026/March</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https://azure.microsoft.com/updates/?id=558321</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000" b="1">
                <a:solidFill>
                  <a:srgbClr val="0078D4"/>
                </a:solidFill>
                <a:latin typeface="Yu Gothic UI"/>
                <a:ea typeface="Yu Gothic UI"/>
              </a:rPr>
              <a:t>パブリックプレビュー: OpenTelemetry Collector を使用した Azure Monitor への OTLP データ取り込み</a:t>
            </a:r>
          </a:p>
        </p:txBody>
      </p:sp>
      <p:sp>
        <p:nvSpPr>
          <p:cNvPr id="3" name="Content Placeholder 2"/>
          <p:cNvSpPr>
            <a:spLocks noGrp="1"/>
          </p:cNvSpPr>
          <p:nvPr>
            <p:ph idx="10" sz="quarter"/>
          </p:nvPr>
        </p:nvSpPr>
        <p:spPr>
          <a:xfrm>
            <a:off x="457200" y="939983"/>
            <a:ext cx="10561638" cy="5460817"/>
          </a:xfrm>
        </p:spPr>
        <p:txBody>
          <a:bodyPr lIns="365760" rIns="365760" tIns="91440" bIns="91440" wrap="square"/>
          <a:lstStyle/>
          <a:p>
            <a:pPr>
              <a:spcAft>
                <a:spcPts val="800"/>
              </a:spcAft>
            </a:pPr>
            <a:r>
              <a:rPr sz="1600" b="1">
                <a:solidFill>
                  <a:srgbClr val="CA5010"/>
                </a:solidFill>
                <a:latin typeface="Yu Gothic UI"/>
                <a:ea typeface="Yu Gothic UI"/>
              </a:rPr>
              <a:t>【パブリックプレビュー】</a:t>
            </a:r>
            <a:r>
              <a:rPr sz="1600" b="1">
                <a:solidFill>
                  <a:srgbClr val="333333"/>
                </a:solidFill>
                <a:latin typeface="Yu Gothic UI"/>
                <a:ea typeface="Yu Gothic UI"/>
              </a:rPr>
              <a:t>  重要度: 低</a:t>
            </a:r>
          </a:p>
          <a:p>
            <a:pPr lvl="1">
              <a:spcBef>
                <a:spcPts val="300"/>
              </a:spcBef>
            </a:pPr>
            <a:r>
              <a:rPr sz="1400" b="0">
                <a:solidFill>
                  <a:srgbClr val="333333"/>
                </a:solidFill>
                <a:latin typeface="Yu Gothic UI"/>
                <a:ea typeface="Yu Gothic UI"/>
              </a:rPr>
              <a:t>Azure Monitor が OpenTelemetry Protocol (OTLP) シグナルのネイティブ取り込みに対応した</a:t>
            </a:r>
          </a:p>
          <a:p>
            <a:pPr lvl="1">
              <a:spcBef>
                <a:spcPts val="300"/>
              </a:spcBef>
            </a:pPr>
            <a:r>
              <a:rPr sz="1400" b="0">
                <a:solidFill>
                  <a:srgbClr val="333333"/>
                </a:solidFill>
                <a:latin typeface="Yu Gothic UI"/>
                <a:ea typeface="Yu Gothic UI"/>
              </a:rPr>
              <a:t>OpenTelemetry 対応アプリケーションやプラットフォームから Azure Monitor へテレメトリデータを直接送信可能</a:t>
            </a:r>
          </a:p>
          <a:p>
            <a:pPr lvl="1">
              <a:spcBef>
                <a:spcPts val="300"/>
              </a:spcBef>
            </a:pPr>
            <a:r>
              <a:rPr sz="1400" b="0">
                <a:solidFill>
                  <a:srgbClr val="333333"/>
                </a:solidFill>
                <a:latin typeface="Yu Gothic UI"/>
                <a:ea typeface="Yu Gothic UI"/>
              </a:rPr>
              <a:t>OpenTelemetry Collector を構成し、Microsoft Entra 認証を使用して Azure Monitor クラウド取り込みエンドポイントへ OTLP メトリクス、ログ、トレースを送信できる</a:t>
            </a:r>
          </a:p>
          <a:p>
            <a:pPr lvl="1">
              <a:spcBef>
                <a:spcPts val="300"/>
              </a:spcBef>
            </a:pPr>
            <a:r>
              <a:rPr sz="1400" b="0">
                <a:solidFill>
                  <a:srgbClr val="333333"/>
                </a:solidFill>
                <a:latin typeface="Yu Gothic UI"/>
                <a:ea typeface="Yu Gothic UI"/>
              </a:rPr>
              <a:t>Application Insights を利用する方法と、データ収集エンドポイント・ルール・ワークスペースを手動作成する方法がある</a:t>
            </a:r>
          </a:p>
          <a:p>
            <a:pPr lvl="1">
              <a:spcBef>
                <a:spcPts val="300"/>
              </a:spcBef>
            </a:pPr>
            <a:r>
              <a:rPr sz="1400" b="0">
                <a:solidFill>
                  <a:srgbClr val="333333"/>
                </a:solidFill>
                <a:latin typeface="Yu Gothic UI"/>
                <a:ea typeface="Yu Gothic UI"/>
              </a:rPr>
              <a:t>取り込まれた OTLP メトリクスは Azure Monitor Workspaces に格納され PromQL でクエリ・アラート可能</a:t>
            </a:r>
          </a:p>
          <a:p>
            <a:pPr>
              <a:spcBef>
                <a:spcPts val="1400"/>
              </a:spcBef>
            </a:pPr>
            <a:r>
              <a:rPr sz="1300" b="1">
                <a:solidFill>
                  <a:srgbClr val="666666"/>
                </a:solidFill>
                <a:latin typeface="Yu Gothic UI"/>
                <a:ea typeface="Yu Gothic UI"/>
              </a:rPr>
              <a:t>対象製品: Azure Monitor</a:t>
            </a:r>
          </a:p>
          <a:p>
            <a:pPr>
              <a:spcBef>
                <a:spcPts val="200"/>
              </a:spcBef>
            </a:pPr>
            <a:r>
              <a:rPr sz="1300" b="0">
                <a:solidFill>
                  <a:srgbClr val="666666"/>
                </a:solidFill>
                <a:latin typeface="Yu Gothic UI"/>
                <a:ea typeface="Yu Gothic UI"/>
              </a:rPr>
              <a:t>作成日: 2026/03/24</a:t>
            </a:r>
          </a:p>
          <a:p>
            <a:pPr>
              <a:spcBef>
                <a:spcPts val="200"/>
              </a:spcBef>
            </a:pPr>
            <a:r>
              <a:rPr sz="1300" b="0">
                <a:solidFill>
                  <a:srgbClr val="666666"/>
                </a:solidFill>
                <a:latin typeface="Yu Gothic UI"/>
                <a:ea typeface="Yu Gothic UI"/>
              </a:rPr>
              <a:t>可用性: Preview 2026/March</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https://azure.microsoft.com/updates/?id=559273</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000" b="1">
                <a:solidFill>
                  <a:srgbClr val="0078D4"/>
                </a:solidFill>
                <a:latin typeface="Yu Gothic UI"/>
                <a:ea typeface="Yu Gothic UI"/>
              </a:rPr>
              <a:t>パブリックプレビュー: Azure Storage Mover が AWS S3 から Azure Blob へのプライベートデータ転送に対応</a:t>
            </a:r>
          </a:p>
        </p:txBody>
      </p:sp>
      <p:sp>
        <p:nvSpPr>
          <p:cNvPr id="3" name="Content Placeholder 2"/>
          <p:cNvSpPr>
            <a:spLocks noGrp="1"/>
          </p:cNvSpPr>
          <p:nvPr>
            <p:ph idx="10" sz="quarter"/>
          </p:nvPr>
        </p:nvSpPr>
        <p:spPr>
          <a:xfrm>
            <a:off x="457200" y="939983"/>
            <a:ext cx="10561638" cy="5460817"/>
          </a:xfrm>
        </p:spPr>
        <p:txBody>
          <a:bodyPr lIns="365760" rIns="365760" tIns="91440" bIns="91440" wrap="square"/>
          <a:lstStyle/>
          <a:p>
            <a:pPr>
              <a:spcAft>
                <a:spcPts val="800"/>
              </a:spcAft>
            </a:pPr>
            <a:r>
              <a:rPr sz="1600" b="1">
                <a:solidFill>
                  <a:srgbClr val="CA5010"/>
                </a:solidFill>
                <a:latin typeface="Yu Gothic UI"/>
                <a:ea typeface="Yu Gothic UI"/>
              </a:rPr>
              <a:t>【パブリックプレビュー】</a:t>
            </a:r>
            <a:r>
              <a:rPr sz="1600" b="1">
                <a:solidFill>
                  <a:srgbClr val="333333"/>
                </a:solidFill>
                <a:latin typeface="Yu Gothic UI"/>
                <a:ea typeface="Yu Gothic UI"/>
              </a:rPr>
              <a:t>  重要度: 低</a:t>
            </a:r>
          </a:p>
          <a:p>
            <a:pPr lvl="1">
              <a:spcBef>
                <a:spcPts val="300"/>
              </a:spcBef>
            </a:pPr>
            <a:r>
              <a:rPr sz="1400" b="0">
                <a:solidFill>
                  <a:srgbClr val="333333"/>
                </a:solidFill>
                <a:latin typeface="Yu Gothic UI"/>
                <a:ea typeface="Yu Gothic UI"/>
              </a:rPr>
              <a:t>Azure Storage Mover が AWS S3 の Virtual Private Cloud から Azure Blob Storage へのプライベートネットワーク経由の直接的かつセキュアなデータ移行に対応しました</a:t>
            </a:r>
          </a:p>
          <a:p>
            <a:pPr lvl="1">
              <a:spcBef>
                <a:spcPts val="300"/>
              </a:spcBef>
            </a:pPr>
            <a:r>
              <a:rPr sz="1400" b="0">
                <a:solidFill>
                  <a:srgbClr val="333333"/>
                </a:solidFill>
                <a:latin typeface="Yu Gothic UI"/>
                <a:ea typeface="Yu Gothic UI"/>
              </a:rPr>
              <a:t>手動パイプラインやサードパーティツールが不要になり、Azure ポータルからの自動化とリアルタイムジョブ監視が可能です</a:t>
            </a:r>
          </a:p>
          <a:p>
            <a:pPr lvl="1">
              <a:spcBef>
                <a:spcPts val="300"/>
              </a:spcBef>
            </a:pPr>
            <a:r>
              <a:rPr sz="1400" b="0">
                <a:solidFill>
                  <a:srgbClr val="333333"/>
                </a:solidFill>
                <a:latin typeface="Yu Gothic UI"/>
                <a:ea typeface="Yu Gothic UI"/>
              </a:rPr>
              <a:t>以前にパブリックネットワーク経由の AWS から Azure へのデータ転送の一般提供が発表されています</a:t>
            </a:r>
          </a:p>
          <a:p>
            <a:pPr lvl="1">
              <a:spcBef>
                <a:spcPts val="300"/>
              </a:spcBef>
            </a:pPr>
            <a:r>
              <a:rPr sz="1400" b="0">
                <a:solidFill>
                  <a:srgbClr val="333333"/>
                </a:solidFill>
                <a:latin typeface="Yu Gothic UI"/>
                <a:ea typeface="Yu Gothic UI"/>
              </a:rPr>
              <a:t>主な利点: 集中ダッシュボードによる自動化・スケーラブルなワークフロー、Azure のガバナンスフレームワークと統合されたセキュアでコンプライアンス準拠の転送、データ到着後すぐに AI・分析・クラウドイノベーションを活用可能</a:t>
            </a:r>
          </a:p>
          <a:p>
            <a:pPr>
              <a:spcBef>
                <a:spcPts val="1400"/>
              </a:spcBef>
            </a:pPr>
            <a:r>
              <a:rPr sz="1300" b="1">
                <a:solidFill>
                  <a:srgbClr val="666666"/>
                </a:solidFill>
                <a:latin typeface="Yu Gothic UI"/>
                <a:ea typeface="Yu Gothic UI"/>
              </a:rPr>
              <a:t>対象製品: Azure Storage Mover</a:t>
            </a:r>
          </a:p>
          <a:p>
            <a:pPr>
              <a:spcBef>
                <a:spcPts val="200"/>
              </a:spcBef>
            </a:pPr>
            <a:r>
              <a:rPr sz="1300" b="0">
                <a:solidFill>
                  <a:srgbClr val="666666"/>
                </a:solidFill>
                <a:latin typeface="Yu Gothic UI"/>
                <a:ea typeface="Yu Gothic UI"/>
              </a:rPr>
              <a:t>作成日: 2026/03/12</a:t>
            </a:r>
          </a:p>
          <a:p>
            <a:pPr>
              <a:spcBef>
                <a:spcPts val="200"/>
              </a:spcBef>
            </a:pPr>
            <a:r>
              <a:rPr sz="1300" b="0">
                <a:solidFill>
                  <a:srgbClr val="666666"/>
                </a:solidFill>
                <a:latin typeface="Yu Gothic UI"/>
                <a:ea typeface="Yu Gothic UI"/>
              </a:rPr>
              <a:t>可用性: Preview 2026/March, Private Preview 2026/March</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https://azure.microsoft.com/updates/?id=558651</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600" b="1">
                <a:solidFill>
                  <a:srgbClr val="FFFFFF"/>
                </a:solidFill>
                <a:latin typeface="Yu Gothic UI"/>
                <a:ea typeface="Yu Gothic UI"/>
              </a:rPr>
              <a:t>IoT（2件）</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廃止予定: Azure Sphere は2031年7月31日に廃止</a:t>
            </a:r>
          </a:p>
        </p:txBody>
      </p:sp>
      <p:sp>
        <p:nvSpPr>
          <p:cNvPr id="3" name="Content Placeholder 2"/>
          <p:cNvSpPr>
            <a:spLocks noGrp="1"/>
          </p:cNvSpPr>
          <p:nvPr>
            <p:ph idx="10" sz="quarter"/>
          </p:nvPr>
        </p:nvSpPr>
        <p:spPr>
          <a:xfrm>
            <a:off x="457200" y="939983"/>
            <a:ext cx="10561638" cy="5460817"/>
          </a:xfrm>
        </p:spPr>
        <p:txBody>
          <a:bodyPr lIns="365760" rIns="365760" tIns="91440" bIns="91440" wrap="square"/>
          <a:lstStyle/>
          <a:p>
            <a:pPr>
              <a:spcAft>
                <a:spcPts val="800"/>
              </a:spcAft>
            </a:pPr>
            <a:r>
              <a:rPr sz="1600" b="1">
                <a:solidFill>
                  <a:srgbClr val="D13438"/>
                </a:solidFill>
                <a:latin typeface="Yu Gothic UI"/>
                <a:ea typeface="Yu Gothic UI"/>
              </a:rPr>
              <a:t>【廃止予定】</a:t>
            </a:r>
            <a:r>
              <a:rPr sz="1600" b="1">
                <a:solidFill>
                  <a:srgbClr val="333333"/>
                </a:solidFill>
                <a:latin typeface="Yu Gothic UI"/>
                <a:ea typeface="Yu Gothic UI"/>
              </a:rPr>
              <a:t>  重要度: 高</a:t>
            </a:r>
          </a:p>
          <a:p>
            <a:pPr lvl="1">
              <a:spcBef>
                <a:spcPts val="300"/>
              </a:spcBef>
            </a:pPr>
            <a:r>
              <a:rPr sz="1400" b="0">
                <a:solidFill>
                  <a:srgbClr val="333333"/>
                </a:solidFill>
                <a:latin typeface="Yu Gothic UI"/>
                <a:ea typeface="Yu Gothic UI"/>
              </a:rPr>
              <a:t>Azure Sphere サービスが廃止され、2031年7月31日にすべてのアプリケーション、OS、バグ・セキュリティ更新、DAA 証明書発行のサポートが終了する</a:t>
            </a:r>
          </a:p>
          <a:p>
            <a:pPr lvl="1">
              <a:spcBef>
                <a:spcPts val="300"/>
              </a:spcBef>
            </a:pPr>
            <a:r>
              <a:rPr sz="1400" b="0">
                <a:solidFill>
                  <a:srgbClr val="333333"/>
                </a:solidFill>
                <a:latin typeface="Yu Gothic UI"/>
                <a:ea typeface="Yu Gothic UI"/>
              </a:rPr>
              <a:t>推奨アクション: 将来の製品で MT3620 シリコンを置き換えるハードウェア再設計の検討、PSA/SESIP Level 3+ 認定シリコンの評価、追加在庫が必要な場合は2026年7月31日までに Avnet を通じて MT3620 の …</a:t>
            </a:r>
          </a:p>
          <a:p>
            <a:pPr>
              <a:spcBef>
                <a:spcPts val="1400"/>
              </a:spcBef>
            </a:pPr>
            <a:r>
              <a:rPr sz="1300" b="1">
                <a:solidFill>
                  <a:srgbClr val="666666"/>
                </a:solidFill>
                <a:latin typeface="Yu Gothic UI"/>
                <a:ea typeface="Yu Gothic UI"/>
              </a:rPr>
              <a:t>対象製品: Azure Sphere</a:t>
            </a:r>
          </a:p>
          <a:p>
            <a:pPr>
              <a:spcBef>
                <a:spcPts val="200"/>
              </a:spcBef>
            </a:pPr>
            <a:r>
              <a:rPr sz="1300" b="0">
                <a:solidFill>
                  <a:srgbClr val="666666"/>
                </a:solidFill>
                <a:latin typeface="Yu Gothic UI"/>
                <a:ea typeface="Yu Gothic UI"/>
              </a:rPr>
              <a:t>作成日: 2026/03/20</a:t>
            </a:r>
          </a:p>
          <a:p>
            <a:pPr>
              <a:spcBef>
                <a:spcPts val="200"/>
              </a:spcBef>
            </a:pPr>
            <a:r>
              <a:rPr sz="1300" b="0">
                <a:solidFill>
                  <a:srgbClr val="666666"/>
                </a:solidFill>
                <a:latin typeface="Yu Gothic UI"/>
                <a:ea typeface="Yu Gothic UI"/>
              </a:rPr>
              <a:t>可用性: Retirement 2031/July</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https://azure.microsoft.com/updates/?id=557123</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一般提供開始: Azure Event Grid がよりスマートで安全なイベント駆動型アーキテクチャ向けの新機能を提供</a:t>
            </a:r>
          </a:p>
        </p:txBody>
      </p:sp>
      <p:sp>
        <p:nvSpPr>
          <p:cNvPr id="3" name="Content Placeholder 2"/>
          <p:cNvSpPr>
            <a:spLocks noGrp="1"/>
          </p:cNvSpPr>
          <p:nvPr>
            <p:ph idx="10" sz="quarter"/>
          </p:nvPr>
        </p:nvSpPr>
        <p:spPr>
          <a:xfrm>
            <a:off x="457200" y="939983"/>
            <a:ext cx="10561638" cy="5460817"/>
          </a:xfrm>
        </p:spPr>
        <p:txBody>
          <a:bodyPr lIns="365760" rIns="365760" tIns="91440" bIns="91440" wrap="square"/>
          <a:lstStyle/>
          <a:p>
            <a:pPr>
              <a:spcAft>
                <a:spcPts val="800"/>
              </a:spcAft>
            </a:pPr>
            <a:r>
              <a:rPr sz="1600" b="1">
                <a:solidFill>
                  <a:srgbClr val="107C10"/>
                </a:solidFill>
                <a:latin typeface="Yu Gothic UI"/>
                <a:ea typeface="Yu Gothic UI"/>
              </a:rPr>
              <a:t>【一般提供開始】</a:t>
            </a:r>
            <a:r>
              <a:rPr sz="1600" b="1">
                <a:solidFill>
                  <a:srgbClr val="333333"/>
                </a:solidFill>
                <a:latin typeface="Yu Gothic UI"/>
                <a:ea typeface="Yu Gothic UI"/>
              </a:rPr>
              <a:t>  重要度: 中</a:t>
            </a:r>
          </a:p>
          <a:p>
            <a:pPr lvl="1">
              <a:spcBef>
                <a:spcPts val="300"/>
              </a:spcBef>
            </a:pPr>
            <a:r>
              <a:rPr sz="1400" b="0">
                <a:solidFill>
                  <a:srgbClr val="333333"/>
                </a:solidFill>
                <a:latin typeface="Yu Gothic UI"/>
                <a:ea typeface="Yu Gothic UI"/>
              </a:rPr>
              <a:t>Azure Event Grid が一般提供として新機能を提供します</a:t>
            </a:r>
          </a:p>
          <a:p>
            <a:pPr lvl="1">
              <a:spcBef>
                <a:spcPts val="300"/>
              </a:spcBef>
            </a:pPr>
            <a:r>
              <a:rPr sz="1400" b="0">
                <a:solidFill>
                  <a:srgbClr val="333333"/>
                </a:solidFill>
                <a:latin typeface="Yu Gothic UI"/>
                <a:ea typeface="Yu Gothic UI"/>
              </a:rPr>
              <a:t>MQTT メッセージ順序制御（クライアントセッション内での順序保証付きメッセージ配信）、MQTT 接続レート制限（クライアントあたり毎秒 1 接続に制限しシステム安定性向上）、MQTT トピックセグメント拡張（最大 15 セグメントをサポー…</a:t>
            </a:r>
          </a:p>
          <a:p>
            <a:pPr>
              <a:spcBef>
                <a:spcPts val="1400"/>
              </a:spcBef>
            </a:pPr>
            <a:r>
              <a:rPr sz="1300" b="1">
                <a:solidFill>
                  <a:srgbClr val="666666"/>
                </a:solidFill>
                <a:latin typeface="Yu Gothic UI"/>
                <a:ea typeface="Yu Gothic UI"/>
              </a:rPr>
              <a:t>対象製品: Event Grid</a:t>
            </a:r>
          </a:p>
          <a:p>
            <a:pPr>
              <a:spcBef>
                <a:spcPts val="200"/>
              </a:spcBef>
            </a:pPr>
            <a:r>
              <a:rPr sz="1300" b="0">
                <a:solidFill>
                  <a:srgbClr val="666666"/>
                </a:solidFill>
                <a:latin typeface="Yu Gothic UI"/>
                <a:ea typeface="Yu Gothic UI"/>
              </a:rPr>
              <a:t>作成日: 2026/03/31</a:t>
            </a:r>
          </a:p>
          <a:p>
            <a:pPr>
              <a:spcBef>
                <a:spcPts val="200"/>
              </a:spcBef>
            </a:pPr>
            <a:r>
              <a:rPr sz="1300" b="0">
                <a:solidFill>
                  <a:srgbClr val="666666"/>
                </a:solidFill>
                <a:latin typeface="Yu Gothic UI"/>
                <a:ea typeface="Yu Gothic UI"/>
              </a:rPr>
              <a:t>可用性: General Availability 2025/May</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https://azure.microsoft.com/updates/?id=492542</a:t>
            </a:r>
          </a:p>
        </p:txBody>
      </p:sp>
    </p:spTree>
  </p:cSld>
  <p:clrMapOvr>
    <a:masterClrMapping/>
  </p:clrMapOvr>
</p:sld>
</file>

<file path=ppt/theme/theme1.xml><?xml version="1.0" encoding="utf-8"?>
<a:theme xmlns:a="http://schemas.openxmlformats.org/drawingml/2006/main" name="Azure 2023 Template">
  <a:themeElements>
    <a:clrScheme name="Custom 4">
      <a:dk1>
        <a:srgbClr val="000000"/>
      </a:dk1>
      <a:lt1>
        <a:srgbClr val="FFFFFF"/>
      </a:lt1>
      <a:dk2>
        <a:srgbClr val="0078D4"/>
      </a:dk2>
      <a:lt2>
        <a:srgbClr val="E8E6DF"/>
      </a:lt2>
      <a:accent1>
        <a:srgbClr val="0078D4"/>
      </a:accent1>
      <a:accent2>
        <a:srgbClr val="2A446F"/>
      </a:accent2>
      <a:accent3>
        <a:srgbClr val="49C5B1"/>
      </a:accent3>
      <a:accent4>
        <a:srgbClr val="8DE971"/>
      </a:accent4>
      <a:accent5>
        <a:srgbClr val="F4364F"/>
      </a:accent5>
      <a:accent6>
        <a:srgbClr val="C03BC4"/>
      </a:accent6>
      <a:hlink>
        <a:srgbClr val="091F2C"/>
      </a:hlink>
      <a:folHlink>
        <a:srgbClr val="091F2C"/>
      </a:folHlink>
    </a:clrScheme>
    <a:fontScheme name="Custom 4">
      <a:majorFont>
        <a:latin typeface="Segoe Sans Text Semibold"/>
        <a:ea typeface=""/>
        <a:cs typeface=""/>
      </a:majorFont>
      <a:minorFont>
        <a:latin typeface="Segoe Sans Text"/>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Presentation1" id="{F1829AB2-CBD7-4CD6-8E4A-37E5E8041FA7}" vid="{C0926CC9-4F6D-442D-AA3F-CD7414C83FD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230e9df3-be65-4c73-a93b-d1236ebd677e" xsi:nil="true"/>
    <MediaServiceKeyPoints xmlns="255e9135-acb6-413d-8014-3858207eab07" xsi:nil="true"/>
    <lcf76f155ced4ddcb4097134ff3c332f xmlns="255e9135-acb6-413d-8014-3858207eab07">
      <Terms xmlns="http://schemas.microsoft.com/office/infopath/2007/PartnerControls"/>
    </lcf76f155ced4ddcb4097134ff3c332f>
    <SharedWithUsers xmlns="a4494d7a-ad2c-4b11-8dea-280127f8418e">
      <UserInfo>
        <DisplayName>Brand Central Administrators</DisplayName>
        <AccountId>2570</AccountId>
        <AccountType/>
      </UserInfo>
      <UserInfo>
        <DisplayName>Teresa Conte</DisplayName>
        <AccountId>563</AccountId>
        <AccountType/>
      </UserInfo>
      <UserInfo>
        <DisplayName>Nannette Sperling (Synaxis Corporation)</DisplayName>
        <AccountId>565</AccountId>
        <AccountType/>
      </UserInfo>
    </SharedWithUser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D5C2B9021A22FC4C82FF99EC65766ED0" ma:contentTypeVersion="20" ma:contentTypeDescription="Create a new document." ma:contentTypeScope="" ma:versionID="9da7f44f7bc0c47e637d8ceae23e1e93">
  <xsd:schema xmlns:xsd="http://www.w3.org/2001/XMLSchema" xmlns:xs="http://www.w3.org/2001/XMLSchema" xmlns:p="http://schemas.microsoft.com/office/2006/metadata/properties" xmlns:ns1="http://schemas.microsoft.com/sharepoint/v3" xmlns:ns2="255e9135-acb6-413d-8014-3858207eab07" xmlns:ns3="a4494d7a-ad2c-4b11-8dea-280127f8418e" xmlns:ns4="230e9df3-be65-4c73-a93b-d1236ebd677e" targetNamespace="http://schemas.microsoft.com/office/2006/metadata/properties" ma:root="true" ma:fieldsID="31291647c0747e3ff3c6be7e5ea34989" ns1:_="" ns2:_="" ns3:_="" ns4:_="">
    <xsd:import namespace="http://schemas.microsoft.com/sharepoint/v3"/>
    <xsd:import namespace="255e9135-acb6-413d-8014-3858207eab07"/>
    <xsd:import namespace="a4494d7a-ad2c-4b11-8dea-280127f8418e"/>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ServiceOCR" minOccurs="0"/>
                <xsd:element ref="ns2:MediaServiceGenerationTime" minOccurs="0"/>
                <xsd:element ref="ns2:MediaServiceEventHashCode" minOccurs="0"/>
                <xsd:element ref="ns1:_ip_UnifiedCompliancePolicyProperties" minOccurs="0"/>
                <xsd:element ref="ns1:_ip_UnifiedCompliancePolicyUIAction" minOccurs="0"/>
                <xsd:element ref="ns2:MediaLengthInSeconds" minOccurs="0"/>
                <xsd:element ref="ns2:lcf76f155ced4ddcb4097134ff3c332f" minOccurs="0"/>
                <xsd:element ref="ns4:TaxCatchAll"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8" nillable="true" ma:displayName="Unified Compliance Policy Properties" ma:hidden="true" ma:internalName="_ip_UnifiedCompliancePolicyProperties">
      <xsd:simpleType>
        <xsd:restriction base="dms:Note"/>
      </xsd:simpleType>
    </xsd:element>
    <xsd:element name="_ip_UnifiedCompliancePolicyUIAction" ma:index="19"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55e9135-acb6-413d-8014-3858207eab0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DocTags" ma:index="25" nillable="true" ma:displayName="MediaServiceDocTags" ma:hidden="true" ma:internalName="MediaServiceDocTags" ma:readOnly="true">
      <xsd:simpleType>
        <xsd:restriction base="dms:Note"/>
      </xsd:simpleType>
    </xsd:element>
    <xsd:element name="MediaServiceObjectDetectorVersions" ma:index="26"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4494d7a-ad2c-4b11-8dea-280127f8418e"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2ed99a2d-f583-4356-ba8a-4aee971188b3}" ma:internalName="TaxCatchAll" ma:showField="CatchAllData" ma:web="a4494d7a-ad2c-4b11-8dea-280127f8418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990F116-B58F-4255-B05B-DA3808E0E5C6}">
  <ds:schemaRefs>
    <ds:schemaRef ds:uri="http://purl.org/dc/elements/1.1/"/>
    <ds:schemaRef ds:uri="ebe725d4-5a61-4827-9af4-da8e7f768b99"/>
    <ds:schemaRef ds:uri="http://schemas.microsoft.com/sharepoint/v3"/>
    <ds:schemaRef ds:uri="http://www.w3.org/XML/1998/namespace"/>
    <ds:schemaRef ds:uri="http://schemas.microsoft.com/office/infopath/2007/PartnerControls"/>
    <ds:schemaRef ds:uri="http://schemas.microsoft.com/office/2006/metadata/properties"/>
    <ds:schemaRef ds:uri="http://purl.org/dc/terms/"/>
    <ds:schemaRef ds:uri="http://schemas.openxmlformats.org/package/2006/metadata/core-properties"/>
    <ds:schemaRef ds:uri="http://schemas.microsoft.com/office/2006/documentManagement/types"/>
    <ds:schemaRef ds:uri="230e9df3-be65-4c73-a93b-d1236ebd677e"/>
    <ds:schemaRef ds:uri="a647c833-fbf3-42d0-9d1a-fdc4c4d8b08f"/>
    <ds:schemaRef ds:uri="http://purl.org/dc/dcmitype/"/>
    <ds:schemaRef ds:uri="255e9135-acb6-413d-8014-3858207eab07"/>
    <ds:schemaRef ds:uri="a4494d7a-ad2c-4b11-8dea-280127f8418e"/>
  </ds:schemaRefs>
</ds:datastoreItem>
</file>

<file path=customXml/itemProps2.xml><?xml version="1.0" encoding="utf-8"?>
<ds:datastoreItem xmlns:ds="http://schemas.openxmlformats.org/officeDocument/2006/customXml" ds:itemID="{6DF23C8F-38A0-41C4-941E-F221D54D7BD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255e9135-acb6-413d-8014-3858207eab07"/>
    <ds:schemaRef ds:uri="a4494d7a-ad2c-4b11-8dea-280127f8418e"/>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758FDAC0-319D-4A54-8D8E-1D42CB1F8004}">
  <ds:schemaRefs>
    <ds:schemaRef ds:uri="http://schemas.microsoft.com/sharepoint/v3/contenttype/forms"/>
  </ds:schemaRefs>
</ds:datastoreItem>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ppt-temp-zukako-202511</Template>
  <TotalTime>10</TotalTime>
  <Words>7</Words>
  <Application>Microsoft Office PowerPoint</Application>
  <PresentationFormat>Widescreen</PresentationFormat>
  <Paragraphs>3</Paragraphs>
  <Slides>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vt:i4>
      </vt:variant>
    </vt:vector>
  </HeadingPairs>
  <TitlesOfParts>
    <vt:vector size="10" baseType="lpstr">
      <vt:lpstr>Arial</vt:lpstr>
      <vt:lpstr>Yu Gothic UI</vt:lpstr>
      <vt:lpstr>Segoe UI</vt:lpstr>
      <vt:lpstr>Segoe Sans Text Semibold</vt:lpstr>
      <vt:lpstr>Wingdings</vt:lpstr>
      <vt:lpstr>Segoe Sans Text</vt:lpstr>
      <vt:lpstr>Azure 2023 Template</vt:lpstr>
      <vt:lpstr>PowerPoint Presentation</vt:lpstr>
      <vt:lpstr>てすと</vt:lpstr>
      <vt:lpstr>PowerPoint Presentation</vt:lpstr>
    </vt:vector>
  </TitlesOfParts>
  <Manager>&lt;Comms manager name here&gt;</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&lt;Event name&gt;</dc:subject>
  <dc:creator>Koki Ishizuka</dc:creator>
  <cp:keywords/>
  <dc:description/>
  <cp:lastModifiedBy>Koki Ishizuka</cp:lastModifiedBy>
  <cp:revision>5</cp:revision>
  <cp:lastPrinted>2023-02-15T20:48:24Z</cp:lastPrinted>
  <dcterms:created xsi:type="dcterms:W3CDTF">2026-04-03T03:45:54Z</dcterms:created>
  <dcterms:modified xsi:type="dcterms:W3CDTF">2026-04-04T03:05:59Z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0x010100D5C2B9021A22FC4C82FF99EC65766ED0</vt:lpwstr>
  </property>
  <property fmtid="{D5CDD505-2E9C-101B-9397-08002B2CF9AE}" pid="3" name="Product">
    <vt:lpwstr/>
  </property>
  <property fmtid="{D5CDD505-2E9C-101B-9397-08002B2CF9AE}" pid="4" name="Event1">
    <vt:lpwstr>622;#Unassigned|2c8af875-f38a-40b8-a0a9-056aed3fc8c0</vt:lpwstr>
  </property>
  <property fmtid="{D5CDD505-2E9C-101B-9397-08002B2CF9AE}" pid="5" name="Audience">
    <vt:lpwstr/>
  </property>
  <property fmtid="{D5CDD505-2E9C-101B-9397-08002B2CF9AE}" pid="6" name="Event Venue">
    <vt:lpwstr/>
  </property>
  <property fmtid="{D5CDD505-2E9C-101B-9397-08002B2CF9AE}" pid="7" name="Track">
    <vt:lpwstr/>
  </property>
  <property fmtid="{D5CDD505-2E9C-101B-9397-08002B2CF9AE}" pid="8" name="Event Location">
    <vt:lpwstr/>
  </property>
  <property fmtid="{D5CDD505-2E9C-101B-9397-08002B2CF9AE}" pid="9" name="Campaign">
    <vt:lpwstr/>
  </property>
  <property fmtid="{D5CDD505-2E9C-101B-9397-08002B2CF9AE}" pid="10" name="IsMyDocuments">
    <vt:bool>true</vt:bool>
  </property>
  <property fmtid="{D5CDD505-2E9C-101B-9397-08002B2CF9AE}" pid="11" name="MSIP_Label_f42aa342-8706-4288-bd11-ebb85995028c_Enabled">
    <vt:lpwstr>True</vt:lpwstr>
  </property>
  <property fmtid="{D5CDD505-2E9C-101B-9397-08002B2CF9AE}" pid="12" name="MSIP_Label_f42aa342-8706-4288-bd11-ebb85995028c_SiteId">
    <vt:lpwstr>72f988bf-86f1-41af-91ab-2d7cd011db47</vt:lpwstr>
  </property>
  <property fmtid="{D5CDD505-2E9C-101B-9397-08002B2CF9AE}" pid="13" name="MSIP_Label_f42aa342-8706-4288-bd11-ebb85995028c_Ref">
    <vt:lpwstr>https://api.informationprotection.azure.com/api/72f988bf-86f1-41af-91ab-2d7cd011db47</vt:lpwstr>
  </property>
  <property fmtid="{D5CDD505-2E9C-101B-9397-08002B2CF9AE}" pid="14" name="MSIP_Label_f42aa342-8706-4288-bd11-ebb85995028c_SetDate">
    <vt:lpwstr>2017-08-29T14:27:20.8568347-07:00</vt:lpwstr>
  </property>
  <property fmtid="{D5CDD505-2E9C-101B-9397-08002B2CF9AE}" pid="15" name="MSIP_Label_f42aa342-8706-4288-bd11-ebb85995028c_Name">
    <vt:lpwstr>General</vt:lpwstr>
  </property>
  <property fmtid="{D5CDD505-2E9C-101B-9397-08002B2CF9AE}" pid="16" name="MSIP_Label_f42aa342-8706-4288-bd11-ebb85995028c_Extended_MSFT_Method">
    <vt:lpwstr>Automatic</vt:lpwstr>
  </property>
  <property fmtid="{D5CDD505-2E9C-101B-9397-08002B2CF9AE}" pid="17" name="Sensitivity">
    <vt:lpwstr>General</vt:lpwstr>
  </property>
  <property fmtid="{D5CDD505-2E9C-101B-9397-08002B2CF9AE}" pid="18" name="MediaServiceImageTags">
    <vt:lpwstr/>
  </property>
</Properties>
</file>