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5447" r:id="rId4"/>
  </p:sldMasterIdLst>
  <p:notesMasterIdLst>
    <p:notesMasterId r:id="rId8"/>
  </p:notesMasterIdLst>
  <p:handoutMasterIdLst>
    <p:handoutMasterId r:id="rId9"/>
  </p:handoutMasterIdLst>
  <p:sldIdLst>
    <p:sldId id="256" r:id="rId7"/>
    <p:sldId id="257" r:id="rId6"/>
    <p:sldId id="258" r:id="rId5"/>
    <p:sldId id="259" r:id="rId30"/>
    <p:sldId id="260" r:id="rId31"/>
    <p:sldId id="261" r:id="rId32"/>
    <p:sldId id="262" r:id="rId33"/>
    <p:sldId id="263" r:id="rId34"/>
    <p:sldId id="264" r:id="rId35"/>
    <p:sldId id="265" r:id="rId36"/>
    <p:sldId id="266" r:id="rId37"/>
    <p:sldId id="267" r:id="rId38"/>
    <p:sldId id="268"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 id="288" r:id="rId59"/>
    <p:sldId id="289" r:id="rId60"/>
    <p:sldId id="290" r:id="rId61"/>
    <p:sldId id="291" r:id="rId62"/>
    <p:sldId id="292" r:id="rId63"/>
    <p:sldId id="293" r:id="rId64"/>
    <p:sldId id="294" r:id="rId65"/>
    <p:sldId id="295" r:id="rId66"/>
    <p:sldId id="296" r:id="rId67"/>
    <p:sldId id="297" r:id="rId68"/>
    <p:sldId id="298" r:id="rId69"/>
    <p:sldId id="299" r:id="rId70"/>
    <p:sldId id="300" r:id="rId71"/>
    <p:sldId id="301" r:id="rId72"/>
    <p:sldId id="302" r:id="rId73"/>
    <p:sldId id="303" r:id="rId74"/>
    <p:sldId id="304" r:id="rId75"/>
    <p:sldId id="305" r:id="rId76"/>
    <p:sldId id="306" r:id="rId77"/>
    <p:sldId id="307" r:id="rId78"/>
    <p:sldId id="308" r:id="rId79"/>
    <p:sldId id="309" r:id="rId80"/>
    <p:sldId id="310" r:id="rId81"/>
    <p:sldId id="311" r:id="rId82"/>
    <p:sldId id="312" r:id="rId83"/>
    <p:sldId id="313" r:id="rId84"/>
    <p:sldId id="314" r:id="rId85"/>
    <p:sldId id="315" r:id="rId86"/>
    <p:sldId id="316" r:id="rId87"/>
    <p:sldId id="317" r:id="rId88"/>
    <p:sldId id="318" r:id="rId89"/>
    <p:sldId id="319" r:id="rId90"/>
    <p:sldId id="320" r:id="rId91"/>
    <p:sldId id="321" r:id="rId92"/>
    <p:sldId id="322" r:id="rId93"/>
    <p:sldId id="323" r:id="rId94"/>
    <p:sldId id="324" r:id="rId95"/>
    <p:sldId id="325" r:id="rId96"/>
    <p:sldId id="326" r:id="rId97"/>
    <p:sldId id="327" r:id="rId98"/>
    <p:sldId id="328" r:id="rId99"/>
    <p:sldId id="329" r:id="rId100"/>
    <p:sldId id="330" r:id="rId101"/>
    <p:sldId id="331" r:id="rId102"/>
    <p:sldId id="332" r:id="rId103"/>
    <p:sldId id="333" r:id="rId104"/>
    <p:sldId id="334" r:id="rId105"/>
    <p:sldId id="335" r:id="rId106"/>
    <p:sldId id="336" r:id="rId107"/>
    <p:sldId id="337" r:id="rId108"/>
  </p:sldIdLst>
  <p:sldSz cx="12192000" cy="6858000"/>
  <p:notesSz cx="6858000" cy="9144000"/>
  <p:embeddedFontLst>
    <p:embeddedFont>
      <p:font typeface="Segoe Sans Text" pitchFamily="2" charset="0"/>
      <p:regular r:id="rId10"/>
      <p:bold r:id="rId11"/>
      <p:italic r:id="rId12"/>
      <p:boldItalic r:id="rId13"/>
    </p:embeddedFont>
    <p:embeddedFont>
      <p:font typeface="Segoe Sans Text Semibold" pitchFamily="2" charset="0"/>
      <p:regular r:id="rId14"/>
      <p:bold r:id="rId15"/>
      <p:boldItalic r:id="rId16"/>
    </p:embeddedFont>
    <p:embeddedFont>
      <p:font typeface="Segoe UI" panose="020B0502040204020203" pitchFamily="34" charset="0"/>
      <p:regular r:id="rId17"/>
      <p:bold r:id="rId18"/>
      <p:italic r:id="rId19"/>
      <p:boldItalic r:id="rId20"/>
    </p:embeddedFont>
    <p:embeddedFont>
      <p:font typeface="Yu Gothic UI" panose="020B0500000000000000" pitchFamily="34" charset="-128"/>
      <p:regular r:id="rId21"/>
      <p:bold r:id="rId22"/>
    </p:embeddedFont>
  </p:embeddedFont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FA61D8-796F-555E-A395-B33F90AAF99E}" name="Monica Lueder" initials="ML" userId="S::monical@microsoft.com::75969e72-ba9c-4e32-a4ac-c8f3aeff9ba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364C"/>
    <a:srgbClr val="C03BC4"/>
    <a:srgbClr val="E8E6DF"/>
    <a:srgbClr val="F4F3F5"/>
    <a:srgbClr val="0078D4"/>
    <a:srgbClr val="F0F0F0"/>
    <a:srgbClr val="8C8279"/>
    <a:srgbClr val="FFB900"/>
    <a:srgbClr val="091F2C"/>
    <a:srgbClr val="2A4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ECBF74-D144-C640-BF81-1B86CF99FB24}" v="92" dt="2023-09-19T21:25:10.3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3" autoAdjust="0"/>
    <p:restoredTop sz="96328" autoAdjust="0"/>
  </p:normalViewPr>
  <p:slideViewPr>
    <p:cSldViewPr snapToGrid="0">
      <p:cViewPr varScale="1">
        <p:scale>
          <a:sx n="103" d="100"/>
          <a:sy n="103" d="100"/>
        </p:scale>
        <p:origin x="41" y="456"/>
      </p:cViewPr>
      <p:guideLst/>
    </p:cSldViewPr>
  </p:slideViewPr>
  <p:outlineViewPr>
    <p:cViewPr>
      <p:scale>
        <a:sx n="33" d="100"/>
        <a:sy n="33" d="100"/>
      </p:scale>
      <p:origin x="0" y="-2334"/>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0" d="100"/>
          <a:sy n="80" d="100"/>
        </p:scale>
        <p:origin x="306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 Id="rId18" Type="http://schemas.openxmlformats.org/officeDocument/2006/relationships/font" Target="fonts/font9.fntdata"/><Relationship Id="rId19" Type="http://schemas.openxmlformats.org/officeDocument/2006/relationships/font" Target="fonts/font10.fntdata"/><Relationship Id="rId20" Type="http://schemas.openxmlformats.org/officeDocument/2006/relationships/font" Target="fonts/font11.fntdata"/><Relationship Id="rId21" Type="http://schemas.openxmlformats.org/officeDocument/2006/relationships/font" Target="fonts/font12.fntdata"/><Relationship Id="rId22" Type="http://schemas.openxmlformats.org/officeDocument/2006/relationships/font" Target="fonts/font13.fntdata"/><Relationship Id="rId23" Type="http://schemas.openxmlformats.org/officeDocument/2006/relationships/commentAuthors" Target="commentAuthors.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5/10/relationships/revisionInfo" Target="revisionInfo.xml"/><Relationship Id="rId29" Type="http://schemas.microsoft.com/office/2018/10/relationships/authors" Target="authors.xml"/><Relationship Id="rId30" Type="http://schemas.openxmlformats.org/officeDocument/2006/relationships/slide" Target="slides/slide4.xml"/><Relationship Id="rId31" Type="http://schemas.openxmlformats.org/officeDocument/2006/relationships/slide" Target="slides/slide5.xml"/><Relationship Id="rId32" Type="http://schemas.openxmlformats.org/officeDocument/2006/relationships/slide" Target="slides/slide6.xml"/><Relationship Id="rId33" Type="http://schemas.openxmlformats.org/officeDocument/2006/relationships/slide" Target="slides/slide7.xml"/><Relationship Id="rId34" Type="http://schemas.openxmlformats.org/officeDocument/2006/relationships/slide" Target="slides/slide8.xml"/><Relationship Id="rId35" Type="http://schemas.openxmlformats.org/officeDocument/2006/relationships/slide" Target="slides/slide9.xml"/><Relationship Id="rId36" Type="http://schemas.openxmlformats.org/officeDocument/2006/relationships/slide" Target="slides/slide10.xml"/><Relationship Id="rId37" Type="http://schemas.openxmlformats.org/officeDocument/2006/relationships/slide" Target="slides/slide11.xml"/><Relationship Id="rId38" Type="http://schemas.openxmlformats.org/officeDocument/2006/relationships/slide" Target="slides/slide12.xml"/><Relationship Id="rId39" Type="http://schemas.openxmlformats.org/officeDocument/2006/relationships/slide" Target="slides/slide13.xml"/><Relationship Id="rId40" Type="http://schemas.openxmlformats.org/officeDocument/2006/relationships/slide" Target="slides/slide14.xml"/><Relationship Id="rId41" Type="http://schemas.openxmlformats.org/officeDocument/2006/relationships/slide" Target="slides/slide15.xml"/><Relationship Id="rId42" Type="http://schemas.openxmlformats.org/officeDocument/2006/relationships/slide" Target="slides/slide16.xml"/><Relationship Id="rId43" Type="http://schemas.openxmlformats.org/officeDocument/2006/relationships/slide" Target="slides/slide17.xml"/><Relationship Id="rId44" Type="http://schemas.openxmlformats.org/officeDocument/2006/relationships/slide" Target="slides/slide18.xml"/><Relationship Id="rId45" Type="http://schemas.openxmlformats.org/officeDocument/2006/relationships/slide" Target="slides/slide19.xml"/><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 Id="rId62" Type="http://schemas.openxmlformats.org/officeDocument/2006/relationships/slide" Target="slides/slide36.xml"/><Relationship Id="rId63" Type="http://schemas.openxmlformats.org/officeDocument/2006/relationships/slide" Target="slides/slide37.xml"/><Relationship Id="rId64" Type="http://schemas.openxmlformats.org/officeDocument/2006/relationships/slide" Target="slides/slide38.xml"/><Relationship Id="rId65" Type="http://schemas.openxmlformats.org/officeDocument/2006/relationships/slide" Target="slides/slide39.xml"/><Relationship Id="rId66" Type="http://schemas.openxmlformats.org/officeDocument/2006/relationships/slide" Target="slides/slide40.xml"/><Relationship Id="rId67" Type="http://schemas.openxmlformats.org/officeDocument/2006/relationships/slide" Target="slides/slide41.xml"/><Relationship Id="rId68" Type="http://schemas.openxmlformats.org/officeDocument/2006/relationships/slide" Target="slides/slide42.xml"/><Relationship Id="rId69" Type="http://schemas.openxmlformats.org/officeDocument/2006/relationships/slide" Target="slides/slide43.xml"/><Relationship Id="rId70" Type="http://schemas.openxmlformats.org/officeDocument/2006/relationships/slide" Target="slides/slide44.xml"/><Relationship Id="rId71" Type="http://schemas.openxmlformats.org/officeDocument/2006/relationships/slide" Target="slides/slide45.xml"/><Relationship Id="rId72" Type="http://schemas.openxmlformats.org/officeDocument/2006/relationships/slide" Target="slides/slide46.xml"/><Relationship Id="rId73" Type="http://schemas.openxmlformats.org/officeDocument/2006/relationships/slide" Target="slides/slide47.xml"/><Relationship Id="rId74" Type="http://schemas.openxmlformats.org/officeDocument/2006/relationships/slide" Target="slides/slide48.xml"/><Relationship Id="rId75" Type="http://schemas.openxmlformats.org/officeDocument/2006/relationships/slide" Target="slides/slide49.xml"/><Relationship Id="rId76" Type="http://schemas.openxmlformats.org/officeDocument/2006/relationships/slide" Target="slides/slide50.xml"/><Relationship Id="rId77" Type="http://schemas.openxmlformats.org/officeDocument/2006/relationships/slide" Target="slides/slide51.xml"/><Relationship Id="rId78" Type="http://schemas.openxmlformats.org/officeDocument/2006/relationships/slide" Target="slides/slide52.xml"/><Relationship Id="rId79" Type="http://schemas.openxmlformats.org/officeDocument/2006/relationships/slide" Target="slides/slide53.xml"/><Relationship Id="rId80" Type="http://schemas.openxmlformats.org/officeDocument/2006/relationships/slide" Target="slides/slide54.xml"/><Relationship Id="rId81" Type="http://schemas.openxmlformats.org/officeDocument/2006/relationships/slide" Target="slides/slide55.xml"/><Relationship Id="rId82" Type="http://schemas.openxmlformats.org/officeDocument/2006/relationships/slide" Target="slides/slide56.xml"/><Relationship Id="rId83" Type="http://schemas.openxmlformats.org/officeDocument/2006/relationships/slide" Target="slides/slide57.xml"/><Relationship Id="rId84" Type="http://schemas.openxmlformats.org/officeDocument/2006/relationships/slide" Target="slides/slide58.xml"/><Relationship Id="rId85" Type="http://schemas.openxmlformats.org/officeDocument/2006/relationships/slide" Target="slides/slide59.xml"/><Relationship Id="rId86" Type="http://schemas.openxmlformats.org/officeDocument/2006/relationships/slide" Target="slides/slide60.xml"/><Relationship Id="rId87" Type="http://schemas.openxmlformats.org/officeDocument/2006/relationships/slide" Target="slides/slide61.xml"/><Relationship Id="rId88" Type="http://schemas.openxmlformats.org/officeDocument/2006/relationships/slide" Target="slides/slide62.xml"/><Relationship Id="rId89" Type="http://schemas.openxmlformats.org/officeDocument/2006/relationships/slide" Target="slides/slide63.xml"/><Relationship Id="rId90" Type="http://schemas.openxmlformats.org/officeDocument/2006/relationships/slide" Target="slides/slide64.xml"/><Relationship Id="rId91" Type="http://schemas.openxmlformats.org/officeDocument/2006/relationships/slide" Target="slides/slide65.xml"/><Relationship Id="rId92" Type="http://schemas.openxmlformats.org/officeDocument/2006/relationships/slide" Target="slides/slide66.xml"/><Relationship Id="rId93" Type="http://schemas.openxmlformats.org/officeDocument/2006/relationships/slide" Target="slides/slide67.xml"/><Relationship Id="rId94" Type="http://schemas.openxmlformats.org/officeDocument/2006/relationships/slide" Target="slides/slide68.xml"/><Relationship Id="rId95" Type="http://schemas.openxmlformats.org/officeDocument/2006/relationships/slide" Target="slides/slide69.xml"/><Relationship Id="rId96" Type="http://schemas.openxmlformats.org/officeDocument/2006/relationships/slide" Target="slides/slide70.xml"/><Relationship Id="rId97" Type="http://schemas.openxmlformats.org/officeDocument/2006/relationships/slide" Target="slides/slide71.xml"/><Relationship Id="rId98" Type="http://schemas.openxmlformats.org/officeDocument/2006/relationships/slide" Target="slides/slide72.xml"/><Relationship Id="rId99" Type="http://schemas.openxmlformats.org/officeDocument/2006/relationships/slide" Target="slides/slide73.xml"/><Relationship Id="rId100" Type="http://schemas.openxmlformats.org/officeDocument/2006/relationships/slide" Target="slides/slide74.xml"/><Relationship Id="rId101" Type="http://schemas.openxmlformats.org/officeDocument/2006/relationships/slide" Target="slides/slide75.xml"/><Relationship Id="rId102" Type="http://schemas.openxmlformats.org/officeDocument/2006/relationships/slide" Target="slides/slide76.xml"/><Relationship Id="rId103" Type="http://schemas.openxmlformats.org/officeDocument/2006/relationships/slide" Target="slides/slide77.xml"/><Relationship Id="rId104" Type="http://schemas.openxmlformats.org/officeDocument/2006/relationships/slide" Target="slides/slide78.xml"/><Relationship Id="rId105" Type="http://schemas.openxmlformats.org/officeDocument/2006/relationships/slide" Target="slides/slide79.xml"/><Relationship Id="rId106" Type="http://schemas.openxmlformats.org/officeDocument/2006/relationships/slide" Target="slides/slide80.xml"/><Relationship Id="rId107" Type="http://schemas.openxmlformats.org/officeDocument/2006/relationships/slide" Target="slides/slide81.xml"/><Relationship Id="rId108" Type="http://schemas.openxmlformats.org/officeDocument/2006/relationships/slide" Target="slides/slide8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58A7A3D-F8D3-49CD-971A-AE485987F0DA}" type="datetime8">
              <a:rPr lang="en-US" smtClean="0">
                <a:latin typeface="Segoe UI" pitchFamily="34" charset="0"/>
              </a:rPr>
              <a:t>4/4/2026 12:04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31C1C56-4AA7-46EE-A81E-B453CF54EE00}" type="datetime8">
              <a:rPr lang="en-US" smtClean="0"/>
              <a:t>4/4/2026 12:04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978400" cy="1231106"/>
          </a:xfrm>
          <a:noFill/>
        </p:spPr>
        <p:txBody>
          <a:bodyPr wrap="square" lIns="0" tIns="0" rIns="0" bIns="0" anchor="b" anchorCtr="0">
            <a:spAutoFit/>
          </a:bodyPr>
          <a:lstStyle>
            <a:lvl1pPr>
              <a:defRPr sz="4000" spc="-50" baseline="0">
                <a:solidFill>
                  <a:schemeClr val="bg1"/>
                </a:solidFill>
                <a:latin typeface="Yu Gothic UI" panose="020B0500000000000000" pitchFamily="50" charset="-128"/>
                <a:ea typeface="Yu Gothic UI" panose="020B0500000000000000" pitchFamily="50" charset="-128"/>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4978400" cy="246221"/>
          </a:xfrm>
          <a:noFill/>
        </p:spPr>
        <p:txBody>
          <a:bodyPr wrap="square" lIns="0" tIns="0" rIns="0" bIns="0">
            <a:spAutoFit/>
          </a:bodyPr>
          <a:lstStyle>
            <a:lvl1pPr marL="0" indent="0">
              <a:spcBef>
                <a:spcPts val="0"/>
              </a:spcBef>
              <a:buNone/>
              <a:defRPr sz="1600" spc="0" baseline="0">
                <a:solidFill>
                  <a:schemeClr val="bg1"/>
                </a:solidFill>
                <a:latin typeface="Yu Gothic UI" panose="020B0500000000000000" pitchFamily="50" charset="-128"/>
                <a:ea typeface="Yu Gothic UI" panose="020B0500000000000000" pitchFamily="50" charset="-128"/>
                <a:cs typeface="Segoe UI" panose="020B0502040204020203" pitchFamily="34" charset="0"/>
              </a:defRPr>
            </a:lvl1pPr>
          </a:lstStyle>
          <a:p>
            <a:pPr lvl="0"/>
            <a:r>
              <a:rPr lang="en-US" dirty="0"/>
              <a:t>Speaker name or subtitle text</a:t>
            </a:r>
          </a:p>
        </p:txBody>
      </p:sp>
      <p:pic>
        <p:nvPicPr>
          <p:cNvPr id="4" name="MS logo white - EMF" descr="Microsoft logo white text version">
            <a:extLst>
              <a:ext uri="{FF2B5EF4-FFF2-40B4-BE49-F238E27FC236}">
                <a16:creationId xmlns:a16="http://schemas.microsoft.com/office/drawing/2014/main" id="{0BB37EE3-73AC-5546-F43B-FE5420C7D02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375136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32" userDrawn="1">
          <p15:clr>
            <a:srgbClr val="5ACBF0"/>
          </p15:clr>
        </p15:guide>
        <p15:guide id="2" orient="horz" pos="2520" userDrawn="1">
          <p15:clr>
            <a:srgbClr val="5ACBF0"/>
          </p15:clr>
        </p15:guide>
        <p15:guide id="3" pos="6144">
          <p15:clr>
            <a:srgbClr val="5ACBF0"/>
          </p15:clr>
        </p15:guide>
        <p15:guide id="4"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4518" y="240086"/>
            <a:ext cx="11018520" cy="553998"/>
          </a:xfrm>
        </p:spPr>
        <p:txBody>
          <a:bodyPr anchor="ctr"/>
          <a:lstStyle>
            <a:lvl1pPr>
              <a:defRPr>
                <a:solidFill>
                  <a:schemeClr val="tx1"/>
                </a:solidFill>
                <a:latin typeface="Yu Gothic UI" panose="020B0500000000000000" pitchFamily="50" charset="-128"/>
                <a:ea typeface="Yu Gothic UI" panose="020B0500000000000000" pitchFamily="50" charset="-128"/>
              </a:defRPr>
            </a:lvl1pPr>
          </a:lstStyle>
          <a:p>
            <a:r>
              <a:rPr lang="en-US" altLang="ja-JP" dirty="0"/>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518" y="939983"/>
            <a:ext cx="11018838" cy="1612749"/>
          </a:xfrm>
        </p:spPr>
        <p:txBody>
          <a:bodyPr/>
          <a:lstStyle>
            <a:lvl1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1pPr>
            <a:lvl2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2pPr>
            <a:lvl3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3pPr>
            <a:lvl4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4pPr>
            <a:lvl5pPr>
              <a:buFont typeface="Arial" panose="020B0604020202020204" pitchFamily="34" charset="0"/>
              <a:buChar char="•"/>
              <a:defRPr>
                <a:solidFill>
                  <a:schemeClr val="tx1"/>
                </a:solidFill>
                <a:latin typeface="Yu Gothic UI" panose="020B0500000000000000" pitchFamily="50" charset="-128"/>
                <a:ea typeface="Yu Gothic UI" panose="020B0500000000000000" pitchFamily="50" charset="-128"/>
              </a:defRPr>
            </a:lvl5pPr>
          </a:lstStyle>
          <a:p>
            <a:pPr lvl="0"/>
            <a:r>
              <a:rPr lang="en-US" altLang="ja-JP" dirty="0"/>
              <a:t>Click to edit Master text styles</a:t>
            </a:r>
          </a:p>
          <a:p>
            <a:pPr lvl="1"/>
            <a:r>
              <a:rPr lang="en-US" altLang="ja-JP" dirty="0"/>
              <a:t>Second level</a:t>
            </a:r>
          </a:p>
          <a:p>
            <a:pPr lvl="2"/>
            <a:r>
              <a:rPr lang="en-US" altLang="ja-JP" dirty="0"/>
              <a:t>Third level</a:t>
            </a:r>
          </a:p>
          <a:p>
            <a:pPr lvl="3"/>
            <a:r>
              <a:rPr lang="en-US" altLang="ja-JP" dirty="0"/>
              <a:t>Fourth level</a:t>
            </a:r>
          </a:p>
          <a:p>
            <a:pPr lvl="4"/>
            <a:r>
              <a:rPr lang="en-US" altLang="ja-JP" dirty="0"/>
              <a:t>Fifth level</a:t>
            </a:r>
            <a:endParaRPr lang="en-US" dirty="0"/>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5" name="Straight Connector 4">
            <a:extLst>
              <a:ext uri="{FF2B5EF4-FFF2-40B4-BE49-F238E27FC236}">
                <a16:creationId xmlns:a16="http://schemas.microsoft.com/office/drawing/2014/main" id="{B377CAB8-A073-AB6D-C504-22E1D1E3D82B}"/>
              </a:ext>
            </a:extLst>
          </p:cNvPr>
          <p:cNvCxnSpPr/>
          <p:nvPr userDrawn="1"/>
        </p:nvCxnSpPr>
        <p:spPr>
          <a:xfrm>
            <a:off x="584518" y="862796"/>
            <a:ext cx="11018520"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FD318CE-72EC-83B7-6937-85209655913B}"/>
              </a:ext>
            </a:extLst>
          </p:cNvPr>
          <p:cNvSpPr txBox="1"/>
          <p:nvPr userDrawn="1"/>
        </p:nvSpPr>
        <p:spPr>
          <a:xfrm>
            <a:off x="11603038" y="6464025"/>
            <a:ext cx="442822" cy="307777"/>
          </a:xfrm>
          <a:prstGeom prst="rect">
            <a:avLst/>
          </a:prstGeom>
          <a:noFill/>
        </p:spPr>
        <p:txBody>
          <a:bodyPr wrap="square" lIns="0" tIns="0" rIns="0" bIns="0" rtlCol="0">
            <a:spAutoFit/>
          </a:bodyPr>
          <a:lstStyle/>
          <a:p>
            <a:pPr algn="r"/>
            <a:fld id="{EC0794C1-EF0D-4FC1-8DED-114D42516E02}" type="slidenum">
              <a:rPr lang="en-US" sz="2000" smtClean="0"/>
              <a:pPr algn="r"/>
              <a:t>‹#›</a:t>
            </a:fld>
            <a:endParaRPr lang="en-US" sz="2000" dirty="0" err="1"/>
          </a:p>
        </p:txBody>
      </p:sp>
    </p:spTree>
    <p:extLst>
      <p:ext uri="{BB962C8B-B14F-4D97-AF65-F5344CB8AC3E}">
        <p14:creationId xmlns:p14="http://schemas.microsoft.com/office/powerpoint/2010/main" val="322482736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1"/>
            <a:ext cx="3182027" cy="553998"/>
          </a:xfrm>
        </p:spPr>
        <p:txBody>
          <a:bodyPr anchor="t"/>
          <a:lstStyle>
            <a:lvl1pPr>
              <a:defRPr>
                <a:solidFill>
                  <a:schemeClr val="tx2"/>
                </a:solidFill>
              </a:defRPr>
            </a:lvl1pPr>
          </a:lstStyle>
          <a:p>
            <a:r>
              <a:rPr lang="en-US" dirty="0"/>
              <a:t>Agenda</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ltLang="ja-JP"/>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dirty="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721736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2980408"/>
            <a:ext cx="9144000" cy="553998"/>
          </a:xfrm>
          <a:noFill/>
        </p:spPr>
        <p:txBody>
          <a:bodyPr vert="horz" wrap="square" lIns="0" tIns="0" rIns="0" bIns="0" rtlCol="0" anchor="b" anchorCtr="0">
            <a:spAutoFit/>
          </a:bodyPr>
          <a:lstStyle>
            <a:lvl1pPr>
              <a:defRPr lang="en-US" sz="4000" b="0" dirty="0">
                <a:latin typeface="+mj-lt"/>
              </a:defRPr>
            </a:lvl1pPr>
          </a:lstStyle>
          <a:p>
            <a:pPr lvl="0">
              <a:lnSpc>
                <a:spcPct val="90000"/>
              </a:lnSpc>
            </a:pPr>
            <a:r>
              <a:rPr lang="en-US" dirty="0"/>
              <a:t>Section title</a:t>
            </a:r>
          </a:p>
        </p:txBody>
      </p:sp>
    </p:spTree>
    <p:extLst>
      <p:ext uri="{BB962C8B-B14F-4D97-AF65-F5344CB8AC3E}">
        <p14:creationId xmlns:p14="http://schemas.microsoft.com/office/powerpoint/2010/main" val="9755566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3594519733"/>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ja-JP" altLang="en-US"/>
              <a:t>マスター タイトルの書式設定</a:t>
            </a:r>
            <a:endParaRPr lang="en-US" dirty="0"/>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3418689686"/>
      </p:ext>
    </p:extLst>
  </p:cSld>
  <p:clrMap bg1="lt1" tx1="dk1" bg2="lt2" tx2="dk2" accent1="accent1" accent2="accent2" accent3="accent3" accent4="accent4" accent5="accent5" accent6="accent6" hlink="hlink" folHlink="folHlink"/>
  <p:sldLayoutIdLst>
    <p:sldLayoutId id="2147485513" r:id="rId1"/>
    <p:sldLayoutId id="2147485452" r:id="rId2"/>
    <p:sldLayoutId id="2147485482" r:id="rId3"/>
    <p:sldLayoutId id="2147485491" r:id="rId4"/>
    <p:sldLayoutId id="2147485495" r:id="rId5"/>
  </p:sldLayoutIdLst>
  <p:transition>
    <p:fade/>
  </p:transition>
  <p:hf hdr="0" ftr="0" dt="0"/>
  <p:txStyles>
    <p:titleStyle>
      <a:lvl1pPr algn="l" defTabSz="932742" rtl="0" eaLnBrk="1" latinLnBrk="0" hangingPunct="1">
        <a:lnSpc>
          <a:spcPct val="100000"/>
        </a:lnSpc>
        <a:spcBef>
          <a:spcPct val="0"/>
        </a:spcBef>
        <a:buNone/>
        <a:defRPr kumimoji="1" lang="en-US" sz="3600" b="0" kern="1200" cap="none" spc="-50" baseline="0" dirty="0" smtClean="0">
          <a:ln w="3175">
            <a:noFill/>
          </a:ln>
          <a:solidFill>
            <a:schemeClr val="tx2"/>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kumimoji="1"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en-US"/>
      </a:defPPr>
      <a:lvl1pPr marL="0" algn="l" defTabSz="932742" rtl="0" eaLnBrk="1" latinLnBrk="0" hangingPunct="1">
        <a:defRPr kumimoji="1" sz="1800" kern="1200">
          <a:solidFill>
            <a:schemeClr val="tx1"/>
          </a:solidFill>
          <a:latin typeface="+mn-lt"/>
          <a:ea typeface="+mn-ea"/>
          <a:cs typeface="+mn-cs"/>
        </a:defRPr>
      </a:lvl1pPr>
      <a:lvl2pPr marL="466371" algn="l" defTabSz="932742" rtl="0" eaLnBrk="1" latinLnBrk="0" hangingPunct="1">
        <a:defRPr kumimoji="1" sz="1800" kern="1200">
          <a:solidFill>
            <a:schemeClr val="tx1"/>
          </a:solidFill>
          <a:latin typeface="+mn-lt"/>
          <a:ea typeface="+mn-ea"/>
          <a:cs typeface="+mn-cs"/>
        </a:defRPr>
      </a:lvl2pPr>
      <a:lvl3pPr marL="932742" algn="l" defTabSz="932742" rtl="0" eaLnBrk="1" latinLnBrk="0" hangingPunct="1">
        <a:defRPr kumimoji="1" sz="1800" kern="1200">
          <a:solidFill>
            <a:schemeClr val="tx1"/>
          </a:solidFill>
          <a:latin typeface="+mn-lt"/>
          <a:ea typeface="+mn-ea"/>
          <a:cs typeface="+mn-cs"/>
        </a:defRPr>
      </a:lvl3pPr>
      <a:lvl4pPr marL="1399113" algn="l" defTabSz="932742" rtl="0" eaLnBrk="1" latinLnBrk="0" hangingPunct="1">
        <a:defRPr kumimoji="1" sz="1800" kern="1200">
          <a:solidFill>
            <a:schemeClr val="tx1"/>
          </a:solidFill>
          <a:latin typeface="+mn-lt"/>
          <a:ea typeface="+mn-ea"/>
          <a:cs typeface="+mn-cs"/>
        </a:defRPr>
      </a:lvl4pPr>
      <a:lvl5pPr marL="1865484" algn="l" defTabSz="932742" rtl="0" eaLnBrk="1" latinLnBrk="0" hangingPunct="1">
        <a:defRPr kumimoji="1" sz="1800" kern="1200">
          <a:solidFill>
            <a:schemeClr val="tx1"/>
          </a:solidFill>
          <a:latin typeface="+mn-lt"/>
          <a:ea typeface="+mn-ea"/>
          <a:cs typeface="+mn-cs"/>
        </a:defRPr>
      </a:lvl5pPr>
      <a:lvl6pPr marL="2331856" algn="l" defTabSz="932742" rtl="0" eaLnBrk="1" latinLnBrk="0" hangingPunct="1">
        <a:defRPr kumimoji="1" sz="1800" kern="1200">
          <a:solidFill>
            <a:schemeClr val="tx1"/>
          </a:solidFill>
          <a:latin typeface="+mn-lt"/>
          <a:ea typeface="+mn-ea"/>
          <a:cs typeface="+mn-cs"/>
        </a:defRPr>
      </a:lvl6pPr>
      <a:lvl7pPr marL="2798226" algn="l" defTabSz="932742" rtl="0" eaLnBrk="1" latinLnBrk="0" hangingPunct="1">
        <a:defRPr kumimoji="1" sz="1800" kern="1200">
          <a:solidFill>
            <a:schemeClr val="tx1"/>
          </a:solidFill>
          <a:latin typeface="+mn-lt"/>
          <a:ea typeface="+mn-ea"/>
          <a:cs typeface="+mn-cs"/>
        </a:defRPr>
      </a:lvl7pPr>
      <a:lvl8pPr marL="3264597" algn="l" defTabSz="932742" rtl="0" eaLnBrk="1" latinLnBrk="0" hangingPunct="1">
        <a:defRPr kumimoji="1" sz="1800" kern="1200">
          <a:solidFill>
            <a:schemeClr val="tx1"/>
          </a:solidFill>
          <a:latin typeface="+mn-lt"/>
          <a:ea typeface="+mn-ea"/>
          <a:cs typeface="+mn-cs"/>
        </a:defRPr>
      </a:lvl8pPr>
      <a:lvl9pPr marL="3730969" algn="l" defTabSz="932742"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userDrawn="1">
          <p15:clr>
            <a:srgbClr val="C35EA4"/>
          </p15:clr>
        </p15:guide>
        <p15:guide id="17" pos="7320" userDrawn="1">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92" userDrawn="1">
          <p15:clr>
            <a:srgbClr val="A4A3A4"/>
          </p15:clr>
        </p15:guide>
        <p15:guide id="29" orient="horz" pos="4135">
          <p15:clr>
            <a:srgbClr val="A4A3A4"/>
          </p15:clr>
        </p15:guide>
        <p15:guide id="30" pos="7488" userDrawn="1">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01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772"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535"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17"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8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695"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66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527"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395"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77"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2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027"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247"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246"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8497"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8525"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854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09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3279"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49077"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1607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29"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67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552"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526"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02"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92"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12"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322"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62"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87"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882"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927"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276"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394"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406"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6085"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086"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767"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7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36"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46"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51"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65"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70"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21"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10"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141"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40"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504"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41"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84"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16"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927"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50"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660"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34"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45"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37234"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55"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69"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78"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164"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0519"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278"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406"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825"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656"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321"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9273"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8651"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557123"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zure.microsoft.com/updates/?id=49254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Azure Updates まとめ</a:t>
            </a:r>
          </a:p>
        </p:txBody>
      </p:sp>
      <p:sp>
        <p:nvSpPr>
          <p:cNvPr id="3" name="Text Placeholder 2"/>
          <p:cNvSpPr>
            <a:spLocks noGrp="1"/>
          </p:cNvSpPr>
          <p:nvPr>
            <p:ph type="body" idx="12" sz="quarter"/>
          </p:nvPr>
        </p:nvSpPr>
        <p:spPr/>
        <p:txBody>
          <a:bodyPr/>
          <a:lstStyle/>
          <a:p>
            <a:r>
              <a:rPr sz="2000" b="0">
                <a:solidFill>
                  <a:srgbClr val="FFFFFF"/>
                </a:solidFill>
                <a:latin typeface="Yu Gothic UI"/>
                <a:ea typeface="Yu Gothic UI"/>
              </a:rPr>
              <a:t>2026/03/09 〜 2026/04/03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a:solidFill>
                  <a:srgbClr val="0078D4"/>
                </a:solidFill>
                <a:latin typeface="Yu Gothic UI"/>
                <a:ea typeface="Yu Gothic UI"/>
              </a:rPr>
              <a:t>サマリー</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r>
              <a:rPr sz="2200" b="1">
                <a:solidFill>
                  <a:srgbClr val="0078D4"/>
                </a:solidFill>
                <a:latin typeface="Yu Gothic UI"/>
                <a:ea typeface="Yu Gothic UI"/>
              </a:rPr>
              <a:t>ステータス別件数</a:t>
            </a:r>
          </a:p>
          <a:p>
            <a:pPr lvl="1">
              <a:spcBef>
                <a:spcPts val="200"/>
              </a:spcBef>
            </a:pPr>
            <a:r>
              <a:rPr sz="1800" b="0">
                <a:solidFill>
                  <a:srgbClr val="107C10"/>
                </a:solidFill>
                <a:latin typeface="Yu Gothic UI"/>
                <a:ea typeface="Yu Gothic UI"/>
              </a:rPr>
              <a:t>一般提供開始: 30件</a:t>
            </a:r>
          </a:p>
          <a:p>
            <a:pPr lvl="1">
              <a:spcBef>
                <a:spcPts val="200"/>
              </a:spcBef>
            </a:pPr>
            <a:r>
              <a:rPr sz="1800" b="0">
                <a:solidFill>
                  <a:srgbClr val="CA5010"/>
                </a:solidFill>
                <a:latin typeface="Yu Gothic UI"/>
                <a:ea typeface="Yu Gothic UI"/>
              </a:rPr>
              <a:t>パブリックプレビュー: 23件</a:t>
            </a:r>
          </a:p>
          <a:p>
            <a:pPr lvl="1">
              <a:spcBef>
                <a:spcPts val="200"/>
              </a:spcBef>
            </a:pPr>
            <a:r>
              <a:rPr sz="1800" b="0">
                <a:solidFill>
                  <a:srgbClr val="D13438"/>
                </a:solidFill>
                <a:latin typeface="Yu Gothic UI"/>
                <a:ea typeface="Yu Gothic UI"/>
              </a:rPr>
              <a:t>廃止予定: 20件</a:t>
            </a:r>
          </a:p>
          <a:p>
            <a:pPr>
              <a:spcBef>
                <a:spcPts val="1600"/>
              </a:spcBef>
            </a:pPr>
            <a:r>
              <a:rPr sz="2200" b="1">
                <a:solidFill>
                  <a:srgbClr val="0078D4"/>
                </a:solidFill>
                <a:latin typeface="Yu Gothic UI"/>
                <a:ea typeface="Yu Gothic UI"/>
              </a:rPr>
              <a:t>ソリューションカテゴリ別件数</a:t>
            </a:r>
          </a:p>
          <a:p>
            <a:pPr lvl="1">
              <a:spcBef>
                <a:spcPts val="200"/>
              </a:spcBef>
            </a:pPr>
            <a:r>
              <a:rPr sz="1800" b="0">
                <a:solidFill>
                  <a:srgbClr val="333333"/>
                </a:solidFill>
                <a:latin typeface="Yu Gothic UI"/>
                <a:ea typeface="Yu Gothic UI"/>
              </a:rPr>
              <a:t>セキュリティ: 8件</a:t>
            </a:r>
          </a:p>
          <a:p>
            <a:pPr lvl="1">
              <a:spcBef>
                <a:spcPts val="200"/>
              </a:spcBef>
            </a:pPr>
            <a:r>
              <a:rPr sz="1800" b="0">
                <a:solidFill>
                  <a:srgbClr val="333333"/>
                </a:solidFill>
                <a:latin typeface="Yu Gothic UI"/>
                <a:ea typeface="Yu Gothic UI"/>
              </a:rPr>
              <a:t>ネットワーク: 3件</a:t>
            </a:r>
          </a:p>
          <a:p>
            <a:pPr lvl="1">
              <a:spcBef>
                <a:spcPts val="200"/>
              </a:spcBef>
            </a:pPr>
            <a:r>
              <a:rPr sz="1800" b="0">
                <a:solidFill>
                  <a:srgbClr val="333333"/>
                </a:solidFill>
                <a:latin typeface="Yu Gothic UI"/>
                <a:ea typeface="Yu Gothic UI"/>
              </a:rPr>
              <a:t>コンピューティング: 22件</a:t>
            </a:r>
          </a:p>
          <a:p>
            <a:pPr lvl="1">
              <a:spcBef>
                <a:spcPts val="200"/>
              </a:spcBef>
            </a:pPr>
            <a:r>
              <a:rPr sz="1800" b="0">
                <a:solidFill>
                  <a:srgbClr val="333333"/>
                </a:solidFill>
                <a:latin typeface="Yu Gothic UI"/>
                <a:ea typeface="Yu Gothic UI"/>
              </a:rPr>
              <a:t>データ &amp; AI: 22件</a:t>
            </a:r>
          </a:p>
          <a:p>
            <a:pPr lvl="1">
              <a:spcBef>
                <a:spcPts val="200"/>
              </a:spcBef>
            </a:pPr>
            <a:r>
              <a:rPr sz="1800" b="0">
                <a:solidFill>
                  <a:srgbClr val="333333"/>
                </a:solidFill>
                <a:latin typeface="Yu Gothic UI"/>
                <a:ea typeface="Yu Gothic UI"/>
              </a:rPr>
              <a:t>DevOps &amp; 開発者ツール: 8件</a:t>
            </a:r>
          </a:p>
          <a:p>
            <a:pPr lvl="1">
              <a:spcBef>
                <a:spcPts val="200"/>
              </a:spcBef>
            </a:pPr>
            <a:r>
              <a:rPr sz="1800" b="0">
                <a:solidFill>
                  <a:srgbClr val="333333"/>
                </a:solidFill>
                <a:latin typeface="Yu Gothic UI"/>
                <a:ea typeface="Yu Gothic UI"/>
              </a:rPr>
              <a:t>管理 &amp; ガバナンス: 8件</a:t>
            </a:r>
          </a:p>
          <a:p>
            <a:pPr lvl="1">
              <a:spcBef>
                <a:spcPts val="200"/>
              </a:spcBef>
            </a:pPr>
            <a:r>
              <a:rPr sz="1800" b="0">
                <a:solidFill>
                  <a:srgbClr val="333333"/>
                </a:solidFill>
                <a:latin typeface="Yu Gothic UI"/>
                <a:ea typeface="Yu Gothic UI"/>
              </a:rPr>
              <a:t>IoT: 2件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セキュリティ（8件）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Default Rule Set 2.2 およびルールセットサポートポリシーの更新</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Web Application Firewall (WAF) のマネージドルールセットサポートポリシーを更新</a:t>
            </a:r>
          </a:p>
          <a:p>
            <a:pPr lvl="1">
              <a:spcBef>
                <a:spcPts val="300"/>
              </a:spcBef>
            </a:pPr>
            <a:r>
              <a:rPr sz="1400" b="0">
                <a:solidFill>
                  <a:srgbClr val="333333"/>
                </a:solidFill>
                <a:latin typeface="Yu Gothic UI"/>
                <a:ea typeface="Yu Gothic UI"/>
              </a:rPr>
              <a:t>Azure Application Gateway および Azure Front Door で Default Rule Set (DRS) 2.2 が一般提供開始</a:t>
            </a:r>
          </a:p>
          <a:p>
            <a:pPr lvl="1">
              <a:spcBef>
                <a:spcPts val="300"/>
              </a:spcBef>
            </a:pPr>
            <a:r>
              <a:rPr sz="1400" b="0">
                <a:solidFill>
                  <a:srgbClr val="333333"/>
                </a:solidFill>
                <a:latin typeface="Yu Gothic UI"/>
                <a:ea typeface="Yu Gothic UI"/>
              </a:rPr>
              <a:t>今後、最新3バージョン (N, N-1, N-2) をサポートし、N-3 バージョンは1年間の最終サポート期間に入る</a:t>
            </a:r>
          </a:p>
          <a:p>
            <a:pPr lvl="1">
              <a:spcBef>
                <a:spcPts val="300"/>
              </a:spcBef>
            </a:pPr>
            <a:r>
              <a:rPr sz="1400" b="0">
                <a:solidFill>
                  <a:srgbClr val="333333"/>
                </a:solidFill>
                <a:latin typeface="Yu Gothic UI"/>
                <a:ea typeface="Yu Gothic UI"/>
              </a:rPr>
              <a:t>DRS 2.2 のリリースに伴い、CRS 3.1/3.0 (Application Gateway) および DRS 1.2/1.1/1.0 (Front Door) が2027年2月26日にサポート終了予定</a:t>
            </a:r>
          </a:p>
          <a:p>
            <a:pPr lvl="1">
              <a:spcBef>
                <a:spcPts val="300"/>
              </a:spcBef>
            </a:pPr>
            <a:r>
              <a:rPr sz="1400" b="0">
                <a:solidFill>
                  <a:srgbClr val="333333"/>
                </a:solidFill>
                <a:latin typeface="Yu Gothic UI"/>
                <a:ea typeface="Yu Gothic UI"/>
              </a:rPr>
              <a:t>サポート対象のルールセットへのアップグレードを推奨</a:t>
            </a:r>
          </a:p>
          <a:p>
            <a:pPr>
              <a:spcBef>
                <a:spcPts val="1400"/>
              </a:spcBef>
            </a:pPr>
            <a:r>
              <a:rPr sz="1300" b="1">
                <a:solidFill>
                  <a:srgbClr val="666666"/>
                </a:solidFill>
                <a:latin typeface="Yu Gothic UI"/>
                <a:ea typeface="Yu Gothic UI"/>
              </a:rPr>
              <a:t>対象製品: Application Gateway, Azure Front Door, Web Application Firewall</a:t>
            </a:r>
          </a:p>
          <a:p>
            <a:pPr>
              <a:spcBef>
                <a:spcPts val="200"/>
              </a:spcBef>
            </a:pPr>
            <a:r>
              <a:rPr sz="1300" b="0">
                <a:solidFill>
                  <a:srgbClr val="666666"/>
                </a:solidFill>
                <a:latin typeface="Yu Gothic UI"/>
                <a:ea typeface="Yu Gothic UI"/>
              </a:rPr>
              <a:t>作成日: 2026/03/17</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https://azure.microsoft.com/updates/?id=558016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 Box がセキュア消去証明書の自動生成によりコンプライアンスを強化</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 Box は、完了した注文ごとにダウンロード可能なセキュア消去証明書を自動生成するようになりました</a:t>
            </a:r>
          </a:p>
          <a:p>
            <a:pPr lvl="1">
              <a:spcBef>
                <a:spcPts val="300"/>
              </a:spcBef>
            </a:pPr>
            <a:r>
              <a:rPr sz="1400" b="0">
                <a:solidFill>
                  <a:srgbClr val="333333"/>
                </a:solidFill>
                <a:latin typeface="Yu Gothic UI"/>
                <a:ea typeface="Yu Gothic UI"/>
              </a:rPr>
              <a:t>デバイス上のすべてのデータが NIST 800-88 Revision 2 準拠で安全に消去されたことを検証できます</a:t>
            </a:r>
          </a:p>
          <a:p>
            <a:pPr lvl="1">
              <a:spcBef>
                <a:spcPts val="300"/>
              </a:spcBef>
            </a:pPr>
            <a:r>
              <a:rPr sz="1400" b="0">
                <a:solidFill>
                  <a:srgbClr val="333333"/>
                </a:solidFill>
                <a:latin typeface="Yu Gothic UI"/>
                <a:ea typeface="Yu Gothic UI"/>
              </a:rPr>
              <a:t>証明書は標準クリーンアッププロセスの一部として作成され、Azure ポータルから直接アクセスできます</a:t>
            </a:r>
          </a:p>
          <a:p>
            <a:pPr lvl="1">
              <a:spcBef>
                <a:spcPts val="300"/>
              </a:spcBef>
            </a:pPr>
            <a:r>
              <a:rPr sz="1400" b="0">
                <a:solidFill>
                  <a:srgbClr val="333333"/>
                </a:solidFill>
                <a:latin typeface="Yu Gothic UI"/>
                <a:ea typeface="Yu Gothic UI"/>
              </a:rPr>
              <a:t>監査の複雑さが軽減され、手動検証が不要になり、政府機関、法執行機関、金融サービスなど機密データを扱う組織のコンプライアンスが簡素化されます</a:t>
            </a:r>
          </a:p>
          <a:p>
            <a:pPr>
              <a:spcBef>
                <a:spcPts val="1400"/>
              </a:spcBef>
            </a:pPr>
            <a:r>
              <a:rPr sz="1300" b="1">
                <a:solidFill>
                  <a:srgbClr val="666666"/>
                </a:solidFill>
                <a:latin typeface="Yu Gothic UI"/>
                <a:ea typeface="Yu Gothic UI"/>
              </a:rPr>
              <a:t>対象製品: Azure Data Box</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https://azure.microsoft.com/updates/?id=559772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Tables、Azure Files、Azure Queues でのユーザー委任 SAS</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Tables、Azure Files、Azure Queues のユーザー委任 SAS が一般提供開始されました</a:t>
            </a:r>
          </a:p>
          <a:p>
            <a:pPr lvl="1">
              <a:spcBef>
                <a:spcPts val="300"/>
              </a:spcBef>
            </a:pPr>
            <a:r>
              <a:rPr sz="1400" b="0">
                <a:solidFill>
                  <a:srgbClr val="333333"/>
                </a:solidFill>
                <a:latin typeface="Yu Gothic UI"/>
                <a:ea typeface="Yu Gothic UI"/>
              </a:rPr>
              <a:t>ユーザー委任 SAS は、SAS トークンを委任者に関連付けることで、アカウント SAS やサービス SAS よりもセキュアなトークンを作成できます</a:t>
            </a:r>
          </a:p>
          <a:p>
            <a:pPr lvl="1">
              <a:spcBef>
                <a:spcPts val="300"/>
              </a:spcBef>
            </a:pPr>
            <a:r>
              <a:rPr sz="1400" b="0">
                <a:solidFill>
                  <a:srgbClr val="333333"/>
                </a:solidFill>
                <a:latin typeface="Yu Gothic UI"/>
                <a:ea typeface="Yu Gothic UI"/>
              </a:rPr>
              <a:t>テーブル、テーブルエンティティ、キュー、キューエンティティ、ファイルコンテナ、個別ファイルレベルで SAS トークンを設定可能です</a:t>
            </a:r>
          </a:p>
          <a:p>
            <a:pPr lvl="1">
              <a:spcBef>
                <a:spcPts val="300"/>
              </a:spcBef>
            </a:pPr>
            <a:r>
              <a:rPr sz="1400" b="0">
                <a:solidFill>
                  <a:srgbClr val="333333"/>
                </a:solidFill>
                <a:latin typeface="Yu Gothic UI"/>
                <a:ea typeface="Yu Gothic UI"/>
              </a:rPr>
              <a:t>上位レベルで設定したトークンは配下のすべてのエンティティへのアクセスを提供し、基本レベルでは個別エンティティのみへのアクセスを提供します</a:t>
            </a:r>
          </a:p>
          <a:p>
            <a:pPr lvl="1">
              <a:spcBef>
                <a:spcPts val="300"/>
              </a:spcBef>
            </a:pPr>
            <a:r>
              <a:rPr sz="1400" b="0">
                <a:solidFill>
                  <a:srgbClr val="333333"/>
                </a:solidFill>
                <a:latin typeface="Yu Gothic UI"/>
                <a:ea typeface="Yu Gothic UI"/>
              </a:rPr>
              <a:t>追加コストは発生せず、ストレージアカウントタイプの標準読み書きトランザクションコストに基づきます</a:t>
            </a:r>
          </a:p>
          <a:p>
            <a:pPr>
              <a:spcBef>
                <a:spcPts val="1400"/>
              </a:spcBef>
            </a:pPr>
            <a:r>
              <a:rPr sz="1300" b="1">
                <a:solidFill>
                  <a:srgbClr val="666666"/>
                </a:solidFill>
                <a:latin typeface="Yu Gothic UI"/>
                <a:ea typeface="Yu Gothic UI"/>
              </a:rPr>
              <a:t>対象製品: Azure Files, Queue Storage, Table Storage</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https://azure.microsoft.com/updates/?id=559535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Red Hat OpenShift のマネージド ID とワークロード ID</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Red Hat OpenShift がマネージド ID とワークロード ID を一般提供開始</a:t>
            </a:r>
          </a:p>
          <a:p>
            <a:pPr lvl="1">
              <a:spcBef>
                <a:spcPts val="300"/>
              </a:spcBef>
            </a:pPr>
            <a:r>
              <a:rPr sz="1400" b="0">
                <a:solidFill>
                  <a:srgbClr val="333333"/>
                </a:solidFill>
                <a:latin typeface="Yu Gothic UI"/>
                <a:ea typeface="Yu Gothic UI"/>
              </a:rPr>
              <a:t>長期間有効なサービスプリンシパル資格情報なしに OpenShift クラスターとアプリケーションを Azure 上で実行可能に</a:t>
            </a:r>
          </a:p>
          <a:p>
            <a:pPr lvl="1">
              <a:spcBef>
                <a:spcPts val="300"/>
              </a:spcBef>
            </a:pPr>
            <a:r>
              <a:rPr sz="1400" b="0">
                <a:solidFill>
                  <a:srgbClr val="333333"/>
                </a:solidFill>
                <a:latin typeface="Yu Gothic UI"/>
                <a:ea typeface="Yu Gothic UI"/>
              </a:rPr>
              <a:t>Azure 全体で使用される短期間トークンと最小権限の ID パターンに準拠しつつ、既存の Azure ID、アクセス、ガバナンスモデルとの統合を維持</a:t>
            </a:r>
          </a:p>
          <a:p>
            <a:pPr>
              <a:spcBef>
                <a:spcPts val="1400"/>
              </a:spcBef>
            </a:pPr>
            <a:r>
              <a:rPr sz="1300" b="1">
                <a:solidFill>
                  <a:srgbClr val="666666"/>
                </a:solidFill>
                <a:latin typeface="Yu Gothic UI"/>
                <a:ea typeface="Yu Gothic UI"/>
              </a:rPr>
              <a:t>対象製品: Azure Red Hat OpenShift</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SQL Database における透過的データ暗号化のバージョンレスキーサポート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SQL Database が透過的データ暗号化 (TDE) のバージョンレスキーをサポート</a:t>
            </a:r>
          </a:p>
          <a:p>
            <a:pPr lvl="1">
              <a:spcBef>
                <a:spcPts val="300"/>
              </a:spcBef>
            </a:pPr>
            <a:r>
              <a:rPr sz="1400" b="0">
                <a:solidFill>
                  <a:srgbClr val="333333"/>
                </a:solidFill>
                <a:latin typeface="Yu Gothic UI"/>
                <a:ea typeface="Yu Gothic UI"/>
              </a:rPr>
              <a:t>カスタマーマネージドキーで TDE を構成する際、Azure Key Vault または Managed HSM の特定のキーバージョンを参照する必要がなくなった</a:t>
            </a:r>
          </a:p>
          <a:p>
            <a:pPr lvl="1">
              <a:spcBef>
                <a:spcPts val="300"/>
              </a:spcBef>
            </a:pPr>
            <a:r>
              <a:rPr sz="1400" b="0">
                <a:solidFill>
                  <a:srgbClr val="333333"/>
                </a:solidFill>
                <a:latin typeface="Yu Gothic UI"/>
                <a:ea typeface="Yu Gothic UI"/>
              </a:rPr>
              <a:t>バージョンレスキー URI を指定するだけで、Azure SQL が自動的に最新バージョンを使用</a:t>
            </a:r>
          </a:p>
          <a:p>
            <a:pPr lvl="1">
              <a:spcBef>
                <a:spcPts val="300"/>
              </a:spcBef>
            </a:pPr>
            <a:r>
              <a:rPr sz="1400" b="0">
                <a:solidFill>
                  <a:srgbClr val="333333"/>
                </a:solidFill>
                <a:latin typeface="Yu Gothic UI"/>
                <a:ea typeface="Yu Gothic UI"/>
              </a:rPr>
              <a:t>運用オーバーヘッドと設定ミスのリスクを軽減しつつ、キーとローテーションポリシーの完全な制御を維持可能</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https://azure.microsoft.com/updates/?id=558183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Event Grid がよりスマートでセキュアなイベント駆動アーキテクチャ向け新機能を提供</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Event Grid がパブリックプレビューとして複数の機能を提供し、大規模分散システムの管理とセキュリティを強化します</a:t>
            </a:r>
          </a:p>
          <a:p>
            <a:pPr lvl="1">
              <a:spcBef>
                <a:spcPts val="300"/>
              </a:spcBef>
            </a:pPr>
            <a:r>
              <a:rPr sz="1400" b="0">
                <a:solidFill>
                  <a:srgbClr val="333333"/>
                </a:solidFill>
                <a:latin typeface="Yu Gothic UI"/>
                <a:ea typeface="Yu Gothic UI"/>
              </a:rPr>
              <a:t>主な機能: クロステナント Webhook 配信（Event Grid 名前空間でマネージド ID を使用したセキュアなクロステナント配信）、ネットワークセキュリティ境界（インバウンド/アウトバウンド通信ルールによるアクセス境界定義）、Webhook 用マネージド ID（自動セキュア認証）、MQTT OAuth 2.0 認証（OIDC 準拠プロバイダーの JWT によるアクセス）、MQTT カスタム Webhook 認証（外部 Webhook や Azure Functions によるクライアント動的認可）、MQTT 割り当てクライアント ID（セッション一貫性とトレーサビリティ向上）</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Preview 2025/May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https://azure.microsoft.com/updates/?id=559695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Blob Storage SFTP の Entra ID ベースアクセス</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Blob Storage SFTP に Microsoft Entra ID ベースのアクセスがパブリックプレビューとして追加</a:t>
            </a:r>
          </a:p>
          <a:p>
            <a:pPr lvl="1">
              <a:spcBef>
                <a:spcPts val="300"/>
              </a:spcBef>
            </a:pPr>
            <a:r>
              <a:rPr sz="1400" b="0">
                <a:solidFill>
                  <a:srgbClr val="333333"/>
                </a:solidFill>
                <a:latin typeface="Yu Gothic UI"/>
                <a:ea typeface="Yu Gothic UI"/>
              </a:rPr>
              <a:t>ローカルユーザーの作成・管理なしに Entra ID アイデンティティ（Entra External Identities 経由のゲストユーザー含む）で SFTP 接続が可能</a:t>
            </a:r>
          </a:p>
          <a:p>
            <a:pPr lvl="1">
              <a:spcBef>
                <a:spcPts val="300"/>
              </a:spcBef>
            </a:pPr>
            <a:r>
              <a:rPr sz="1400" b="0">
                <a:solidFill>
                  <a:srgbClr val="333333"/>
                </a:solidFill>
                <a:latin typeface="Yu Gothic UI"/>
                <a:ea typeface="Yu Gothic UI"/>
              </a:rPr>
              <a:t>SSO と MFA、条件付きアクセスポリシー、統合 ID ライフサイクル管理、外部 ID サポート、Azure RBAC/ABAC/ACL とのネイティブ統合を提供</a:t>
            </a:r>
          </a:p>
          <a:p>
            <a:pPr>
              <a:spcBef>
                <a:spcPts val="1400"/>
              </a:spcBef>
            </a:pPr>
            <a:r>
              <a:rPr sz="1300" b="1">
                <a:solidFill>
                  <a:srgbClr val="666666"/>
                </a:solidFill>
                <a:latin typeface="Yu Gothic UI"/>
                <a:ea typeface="Yu Gothic UI"/>
              </a:rPr>
              <a:t>対象製品: Azure Blob Storage</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Preview 2026/March, Private Preview 2025/December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https://azure.microsoft.com/updates/?id=558662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Database for PostgreSQL の Premium SSD v2 ディスクでカスタマーマネージド暗号化キーをサポート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Database for PostgreSQL の Premium SSD v2 ディスクでカスタマーマネージドキー (CMK) がパブリックプレビューとして利用可能に</a:t>
            </a:r>
          </a:p>
          <a:p>
            <a:pPr lvl="1">
              <a:spcBef>
                <a:spcPts val="300"/>
              </a:spcBef>
            </a:pPr>
            <a:r>
              <a:rPr sz="1400" b="0">
                <a:solidFill>
                  <a:srgbClr val="333333"/>
                </a:solidFill>
                <a:latin typeface="Yu Gothic UI"/>
                <a:ea typeface="Yu Gothic UI"/>
              </a:rPr>
              <a:t>Azure Key Vault に保存した独自の暗号化キーを使用して保存データの暗号化をより詳細に制御可能</a:t>
            </a:r>
          </a:p>
          <a:p>
            <a:pPr lvl="1">
              <a:spcBef>
                <a:spcPts val="300"/>
              </a:spcBef>
            </a:pPr>
            <a:r>
              <a:rPr sz="1400" b="0">
                <a:solidFill>
                  <a:srgbClr val="333333"/>
                </a:solidFill>
                <a:latin typeface="Yu Gothic UI"/>
                <a:ea typeface="Yu Gothic UI"/>
              </a:rPr>
              <a:t>規制対象業界やコンプライアンス要件がある環境で特に有用</a:t>
            </a:r>
          </a:p>
          <a:p>
            <a:pPr lvl="1">
              <a:spcBef>
                <a:spcPts val="300"/>
              </a:spcBef>
            </a:pPr>
            <a:r>
              <a:rPr sz="1400" b="0">
                <a:solidFill>
                  <a:srgbClr val="333333"/>
                </a:solidFill>
                <a:latin typeface="Yu Gothic UI"/>
                <a:ea typeface="Yu Gothic UI"/>
              </a:rPr>
              <a:t>キーローテーションとアクセスポリシーを組織の基準に従い管理しつつ、パフォーマンスや可用性を損なわずにセキュリティ態勢を強化</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https://azure.microsoft.com/updates/?id=557527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ネットワーク（3件）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Government および 21Vianet 運営の Microsoft Azure 向け手動登録 Azure VPN Client は 2029 年 3 月 31 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2029 年 3 月 31 日に、Azure Government および 21Vianet 運営の Microsoft Azure クラウドにおける Microsoft Entra ID 認証を使用したポイント対サイト接続用の手動登録 Azure VPN Client が廃止されます</a:t>
            </a:r>
          </a:p>
          <a:p>
            <a:pPr lvl="1">
              <a:spcBef>
                <a:spcPts val="300"/>
              </a:spcBef>
            </a:pPr>
            <a:r>
              <a:rPr sz="1400" b="0">
                <a:solidFill>
                  <a:srgbClr val="333333"/>
                </a:solidFill>
                <a:latin typeface="Yu Gothic UI"/>
                <a:ea typeface="Yu Gothic UI"/>
              </a:rPr>
              <a:t>サービス中断を防ぐため、2029 年 3 月 31 日までに Microsoft 登録 VPN Client に移行する必要があります</a:t>
            </a:r>
          </a:p>
          <a:p>
            <a:pPr lvl="1">
              <a:spcBef>
                <a:spcPts val="300"/>
              </a:spcBef>
            </a:pPr>
            <a:r>
              <a:rPr sz="1400" b="0">
                <a:solidFill>
                  <a:srgbClr val="333333"/>
                </a:solidFill>
                <a:latin typeface="Yu Gothic UI"/>
                <a:ea typeface="Yu Gothic UI"/>
              </a:rPr>
              <a:t>この日以降、セキュリティ向上のため Microsoft 登録 VPN Client のみがサポートされます</a:t>
            </a:r>
          </a:p>
          <a:p>
            <a:pPr>
              <a:spcBef>
                <a:spcPts val="1400"/>
              </a:spcBef>
            </a:pPr>
            <a:r>
              <a:rPr sz="1300" b="1">
                <a:solidFill>
                  <a:srgbClr val="666666"/>
                </a:solidFill>
                <a:latin typeface="Yu Gothic UI"/>
                <a:ea typeface="Yu Gothic UI"/>
              </a:rPr>
              <a:t>対象製品: VPN Gateway</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Retirement 2029/March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https://azure.microsoft.com/updates/?id=557395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Kubernetes Fleet Manager のクロスクラスターネットワーキング</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Kubernetes Fleet Manager がクロスクラスターネットワーキングを提供</a:t>
            </a:r>
          </a:p>
          <a:p>
            <a:pPr lvl="1">
              <a:spcBef>
                <a:spcPts val="300"/>
              </a:spcBef>
            </a:pPr>
            <a:r>
              <a:rPr sz="1400" b="0">
                <a:solidFill>
                  <a:srgbClr val="333333"/>
                </a:solidFill>
                <a:latin typeface="Yu Gothic UI"/>
                <a:ea typeface="Yu Gothic UI"/>
              </a:rPr>
              <a:t>マネージド Cilium クラスターメッシュにより、マルチクラスターネットワーキングの構成を簡素化し管理を一元化</a:t>
            </a:r>
          </a:p>
          <a:p>
            <a:pPr lvl="1">
              <a:spcBef>
                <a:spcPts val="300"/>
              </a:spcBef>
            </a:pPr>
            <a:r>
              <a:rPr sz="1400" b="0">
                <a:solidFill>
                  <a:srgbClr val="333333"/>
                </a:solidFill>
                <a:latin typeface="Yu Gothic UI"/>
                <a:ea typeface="Yu Gothic UI"/>
              </a:rPr>
              <a:t>AKS クラスター間の統合接続、クロスクラスターサービスディスカバリ用のグローバルサービスレジストリ、インテリジェントルーティングを実現</a:t>
            </a:r>
          </a:p>
          <a:p>
            <a:pPr lvl="1">
              <a:spcBef>
                <a:spcPts val="300"/>
              </a:spcBef>
            </a:pPr>
            <a:r>
              <a:rPr sz="1400" b="0">
                <a:solidFill>
                  <a:srgbClr val="333333"/>
                </a:solidFill>
                <a:latin typeface="Yu Gothic UI"/>
                <a:ea typeface="Yu Gothic UI"/>
              </a:rPr>
              <a:t>eBPF ベースのネットワーキングにより効率的なパケット処理と低レイテンシを提供</a:t>
            </a:r>
          </a:p>
          <a:p>
            <a:pPr>
              <a:spcBef>
                <a:spcPts val="1400"/>
              </a:spcBef>
            </a:pPr>
            <a:r>
              <a:rPr sz="1300" b="1">
                <a:solidFill>
                  <a:srgbClr val="666666"/>
                </a:solidFill>
                <a:latin typeface="Yu Gothic UI"/>
                <a:ea typeface="Yu Gothic UI"/>
              </a:rPr>
              <a:t>対象製品: Azure Kubernetes Fleet Manager,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https://azure.microsoft.com/updates/?id=557877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Microsoft Azure Kubernetes Application Network</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Kubernetes Application Network は、Kubernetes トラフィック向けのアプリケーション層抽象化を導入</a:t>
            </a:r>
          </a:p>
          <a:p>
            <a:pPr lvl="1">
              <a:spcBef>
                <a:spcPts val="300"/>
              </a:spcBef>
            </a:pPr>
            <a:r>
              <a:rPr sz="1400" b="0">
                <a:solidFill>
                  <a:srgbClr val="333333"/>
                </a:solidFill>
                <a:latin typeface="Yu Gothic UI"/>
                <a:ea typeface="Yu Gothic UI"/>
              </a:rPr>
              <a:t>Pod 間通信の mTLS、アプリケーション対応の認可ポリシー、イングレスおよびクラスター内通信の詳細トラフィックテレメトリ、ワンステップで構成可能なマルチリージョン接続を含む</a:t>
            </a:r>
          </a:p>
          <a:p>
            <a:pPr lvl="1">
              <a:spcBef>
                <a:spcPts val="300"/>
              </a:spcBef>
            </a:pPr>
            <a:r>
              <a:rPr sz="1400" b="0">
                <a:solidFill>
                  <a:srgbClr val="333333"/>
                </a:solidFill>
                <a:latin typeface="Yu Gothic UI"/>
                <a:ea typeface="Yu Gothic UI"/>
              </a:rPr>
              <a:t>フルサービスメッシュのデプロイ・運用なしに、ID 対応のセキュリティと詳細なトラフィックインサイトを実現</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コンピューティング（22件）</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App Service および Azure Functions の Windows 上での Python サポートは 2027 年 3 月 31 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 年 3 月 31 日以降、Windows 上の Azure App Service および Azure Functions でホストされている Python アプリケーションは動作しなくなります</a:t>
            </a:r>
          </a:p>
          <a:p>
            <a:pPr lvl="1">
              <a:spcBef>
                <a:spcPts val="300"/>
              </a:spcBef>
            </a:pPr>
            <a:r>
              <a:rPr sz="1400" b="0">
                <a:solidFill>
                  <a:srgbClr val="333333"/>
                </a:solidFill>
                <a:latin typeface="Yu Gothic UI"/>
                <a:ea typeface="Yu Gothic UI"/>
              </a:rPr>
              <a:t>この日以降、アプリケーションの構成とコンテンツは保持されますが、アプリは実行されず、テクニカルサポートも提供されません</a:t>
            </a:r>
          </a:p>
          <a:p>
            <a:pPr lvl="1">
              <a:spcBef>
                <a:spcPts val="300"/>
              </a:spcBef>
            </a:pPr>
            <a:r>
              <a:rPr sz="1400" b="0">
                <a:solidFill>
                  <a:srgbClr val="333333"/>
                </a:solidFill>
                <a:latin typeface="Yu Gothic UI"/>
                <a:ea typeface="Yu Gothic UI"/>
              </a:rPr>
              <a:t>Windows 上の App Service での Python は 2021 年 12 月以降サポート対象外でしたが、今回正式にランタイムが廃止されます</a:t>
            </a:r>
          </a:p>
          <a:p>
            <a:pPr lvl="1">
              <a:spcBef>
                <a:spcPts val="300"/>
              </a:spcBef>
            </a:pPr>
            <a:r>
              <a:rPr sz="1400" b="0">
                <a:solidFill>
                  <a:srgbClr val="333333"/>
                </a:solidFill>
                <a:latin typeface="Yu Gothic UI"/>
                <a:ea typeface="Yu Gothic UI"/>
              </a:rPr>
              <a:t>サービス中断を避けるため、2027 年 3 月 31 日までに Python アプリケーションを Linux に移行する必要があります</a:t>
            </a:r>
          </a:p>
          <a:p>
            <a:pPr lvl="1">
              <a:spcBef>
                <a:spcPts val="300"/>
              </a:spcBef>
            </a:pPr>
            <a:r>
              <a:rPr sz="1400" b="0">
                <a:solidFill>
                  <a:srgbClr val="333333"/>
                </a:solidFill>
                <a:latin typeface="Yu Gothic UI"/>
                <a:ea typeface="Yu Gothic UI"/>
              </a:rPr>
              <a:t>Microsoft は Azure App Service on Linux および Azure Functions on Linux での Python を完全にサポートしています</a:t>
            </a:r>
          </a:p>
          <a:p>
            <a:pPr>
              <a:spcBef>
                <a:spcPts val="1400"/>
              </a:spcBef>
            </a:pPr>
            <a:r>
              <a:rPr sz="1300" b="1">
                <a:solidFill>
                  <a:srgbClr val="666666"/>
                </a:solidFill>
                <a:latin typeface="Yu Gothic UI"/>
                <a:ea typeface="Yu Gothic UI"/>
              </a:rPr>
              <a:t>対象製品: App Service</a:t>
            </a:r>
          </a:p>
          <a:p>
            <a:pPr>
              <a:spcBef>
                <a:spcPts val="200"/>
              </a:spcBef>
            </a:pPr>
            <a:r>
              <a:rPr sz="1300" b="0">
                <a:solidFill>
                  <a:srgbClr val="666666"/>
                </a:solidFill>
                <a:latin typeface="Yu Gothic UI"/>
                <a:ea typeface="Yu Gothic UI"/>
              </a:rPr>
              <a:t>作成日: 2026/04/02</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https://azure.microsoft.com/updates/?id=558027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Service Fabric の Windows Server 2022 サポートは 2027 年 3 月 31 日に終了 - Windows Server 2025 へのアップグレードが必要</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Service Fabric は 2027 年 3 月 31 日に Windows Server 2022 上で実行されるすべてのクラスターのサポートを終了します</a:t>
            </a:r>
          </a:p>
          <a:p>
            <a:pPr lvl="1">
              <a:spcBef>
                <a:spcPts val="300"/>
              </a:spcBef>
            </a:pPr>
            <a:r>
              <a:rPr sz="1400" b="0">
                <a:solidFill>
                  <a:srgbClr val="333333"/>
                </a:solidFill>
                <a:latin typeface="Yu Gothic UI"/>
                <a:ea typeface="Yu Gothic UI"/>
              </a:rPr>
              <a:t>サポート対象を維持するため、この日までに Windows Server 2025 へのアップグレードが必要です</a:t>
            </a:r>
          </a:p>
          <a:p>
            <a:pPr lvl="1">
              <a:spcBef>
                <a:spcPts val="300"/>
              </a:spcBef>
            </a:pPr>
            <a:r>
              <a:rPr sz="1400" b="0">
                <a:solidFill>
                  <a:srgbClr val="333333"/>
                </a:solidFill>
                <a:latin typeface="Yu Gothic UI"/>
                <a:ea typeface="Yu Gothic UI"/>
              </a:rPr>
              <a:t>この変更は Service Fabric の Windows OS イメージサポートモデルをメインストリーム OS サポートのタイムラインに整合させるものです</a:t>
            </a:r>
          </a:p>
          <a:p>
            <a:pPr lvl="1">
              <a:spcBef>
                <a:spcPts val="300"/>
              </a:spcBef>
            </a:pPr>
            <a:r>
              <a:rPr sz="1400" b="0">
                <a:solidFill>
                  <a:srgbClr val="333333"/>
                </a:solidFill>
                <a:latin typeface="Yu Gothic UI"/>
                <a:ea typeface="Yu Gothic UI"/>
              </a:rPr>
              <a:t>セキュリティ態勢の強化、運用の複雑さの軽減、最新プラットフォームでの継続的イノベーションが可能になります</a:t>
            </a:r>
          </a:p>
          <a:p>
            <a:pPr lvl="1">
              <a:spcBef>
                <a:spcPts val="300"/>
              </a:spcBef>
            </a:pPr>
            <a:r>
              <a:rPr sz="1400" b="0">
                <a:solidFill>
                  <a:srgbClr val="333333"/>
                </a:solidFill>
                <a:latin typeface="Yu Gothic UI"/>
                <a:ea typeface="Yu Gothic UI"/>
              </a:rPr>
              <a:t>Virtual Machine Scale Sets は 2027 年 3 月 31 日以降も Windows Server 2022 上で動作しますが、Service Fabric のサポートは提供されません</a:t>
            </a:r>
          </a:p>
          <a:p>
            <a:pPr>
              <a:spcBef>
                <a:spcPts val="1400"/>
              </a:spcBef>
            </a:pPr>
            <a:r>
              <a:rPr sz="1300" b="1">
                <a:solidFill>
                  <a:srgbClr val="666666"/>
                </a:solidFill>
                <a:latin typeface="Yu Gothic UI"/>
                <a:ea typeface="Yu Gothic UI"/>
              </a:rPr>
              <a:t>対象製品: Azure Service Fabric</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https://azure.microsoft.com/updates/?id=558247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Service Fabric の Windows Server 2019 サポートは 2027 年 3 月 31 日に終了 - Windows Server 2025 へのアップグレードが必要</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Service Fabric は 2027 年 3 月 31 日に Windows Server 2019 上で実行されるすべてのクラスターのサポートを終了します</a:t>
            </a:r>
          </a:p>
          <a:p>
            <a:pPr lvl="1">
              <a:spcBef>
                <a:spcPts val="300"/>
              </a:spcBef>
            </a:pPr>
            <a:r>
              <a:rPr sz="1400" b="0">
                <a:solidFill>
                  <a:srgbClr val="333333"/>
                </a:solidFill>
                <a:latin typeface="Yu Gothic UI"/>
                <a:ea typeface="Yu Gothic UI"/>
              </a:rPr>
              <a:t>サポート対象を維持するため、この日までに Windows Server 2025 へのアップグレードが必要です</a:t>
            </a:r>
          </a:p>
          <a:p>
            <a:pPr lvl="1">
              <a:spcBef>
                <a:spcPts val="300"/>
              </a:spcBef>
            </a:pPr>
            <a:r>
              <a:rPr sz="1400" b="0">
                <a:solidFill>
                  <a:srgbClr val="333333"/>
                </a:solidFill>
                <a:latin typeface="Yu Gothic UI"/>
                <a:ea typeface="Yu Gothic UI"/>
              </a:rPr>
              <a:t>この変更は Service Fabric の Windows OS イメージサポートモデルをメインストリーム OS サポートのタイムラインに整合させるものです</a:t>
            </a:r>
          </a:p>
          <a:p>
            <a:pPr lvl="1">
              <a:spcBef>
                <a:spcPts val="300"/>
              </a:spcBef>
            </a:pPr>
            <a:r>
              <a:rPr sz="1400" b="0">
                <a:solidFill>
                  <a:srgbClr val="333333"/>
                </a:solidFill>
                <a:latin typeface="Yu Gothic UI"/>
                <a:ea typeface="Yu Gothic UI"/>
              </a:rPr>
              <a:t>セキュリティ態勢の強化、運用の複雑さの軽減、最新プラットフォームでの継続的イノベーションが可能になります</a:t>
            </a:r>
          </a:p>
          <a:p>
            <a:pPr lvl="1">
              <a:spcBef>
                <a:spcPts val="300"/>
              </a:spcBef>
            </a:pPr>
            <a:r>
              <a:rPr sz="1400" b="0">
                <a:solidFill>
                  <a:srgbClr val="333333"/>
                </a:solidFill>
                <a:latin typeface="Yu Gothic UI"/>
                <a:ea typeface="Yu Gothic UI"/>
              </a:rPr>
              <a:t>Virtual Machine Scale Sets は 2027 年 3 月 31 日以降も Windows Server 2019 上で動作しますが、Service Fabric のサポートは提供されません</a:t>
            </a:r>
          </a:p>
          <a:p>
            <a:pPr>
              <a:spcBef>
                <a:spcPts val="1400"/>
              </a:spcBef>
            </a:pPr>
            <a:r>
              <a:rPr sz="1300" b="1">
                <a:solidFill>
                  <a:srgbClr val="666666"/>
                </a:solidFill>
                <a:latin typeface="Yu Gothic UI"/>
                <a:ea typeface="Yu Gothic UI"/>
              </a:rPr>
              <a:t>対象製品: Azure Service Fabric</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https://azure.microsoft.com/updates/?id=558246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NP シリーズ Azure Virtual Machines は2027年5月31日に廃止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2027年5月31日に NP シリーズ VM（Standard_NP10s、Standard_NP20s、Standard_NP40s）が廃止</a:t>
            </a:r>
          </a:p>
          <a:p>
            <a:pPr lvl="1">
              <a:spcBef>
                <a:spcPts val="300"/>
              </a:spcBef>
            </a:pPr>
            <a:r>
              <a:rPr sz="1400" b="0">
                <a:solidFill>
                  <a:srgbClr val="333333"/>
                </a:solidFill>
                <a:latin typeface="Yu Gothic UI"/>
                <a:ea typeface="Yu Gothic UI"/>
              </a:rPr>
              <a:t>推奨移行先: NDv2 VM（GPU アクセラレーション AI/ML/HPC ワークロード向け）、NCads_H100_v5 VM（AI トレーニング・バッチ推論向け）、NCasT4_v3（リアルタイム推論・グラフィックス向け）</a:t>
            </a:r>
          </a:p>
          <a:p>
            <a:pPr lvl="1">
              <a:spcBef>
                <a:spcPts val="300"/>
              </a:spcBef>
            </a:pPr>
            <a:r>
              <a:rPr sz="1400" b="0">
                <a:solidFill>
                  <a:srgbClr val="333333"/>
                </a:solidFill>
                <a:latin typeface="Yu Gothic UI"/>
                <a:ea typeface="Yu Gothic UI"/>
              </a:rPr>
              <a:t>廃止後、残存 VM は割り当て解除状態となり、SLA・サポート対象外</a:t>
            </a:r>
          </a:p>
          <a:p>
            <a:pPr lvl="1">
              <a:spcBef>
                <a:spcPts val="300"/>
              </a:spcBef>
            </a:pPr>
            <a:r>
              <a:rPr sz="1400" b="0">
                <a:solidFill>
                  <a:srgbClr val="333333"/>
                </a:solidFill>
                <a:latin typeface="Yu Gothic UI"/>
                <a:ea typeface="Yu Gothic UI"/>
              </a:rPr>
              <a:t>1年・3年 RI 購入は2026年4月2日に終了</a:t>
            </a:r>
          </a:p>
          <a:p>
            <a:pPr>
              <a:spcBef>
                <a:spcPts val="1400"/>
              </a:spcBef>
            </a:pPr>
            <a:r>
              <a:rPr sz="1300" b="1">
                <a:solidFill>
                  <a:srgbClr val="666666"/>
                </a:solidFill>
                <a:latin typeface="Yu Gothic UI"/>
                <a:ea typeface="Yu Gothic UI"/>
              </a:rPr>
              <a:t>対象製品: Virtual Machines</a:t>
            </a:r>
          </a:p>
          <a:p>
            <a:pPr>
              <a:spcBef>
                <a:spcPts val="200"/>
              </a:spcBef>
            </a:pPr>
            <a:r>
              <a:rPr sz="1300" b="0">
                <a:solidFill>
                  <a:srgbClr val="666666"/>
                </a:solidFill>
                <a:latin typeface="Yu Gothic UI"/>
                <a:ea typeface="Yu Gothic UI"/>
              </a:rPr>
              <a:t>作成日: 2026/03/19</a:t>
            </a:r>
          </a:p>
          <a:p>
            <a:pPr>
              <a:spcBef>
                <a:spcPts val="200"/>
              </a:spcBef>
            </a:pPr>
            <a:r>
              <a:rPr sz="1300" b="0">
                <a:solidFill>
                  <a:srgbClr val="666666"/>
                </a:solidFill>
                <a:latin typeface="Yu Gothic UI"/>
                <a:ea typeface="Yu Gothic UI"/>
              </a:rPr>
              <a:t>可用性: Retirement 2027/May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https://azure.microsoft.com/updates/?id=548497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HBv2 シリーズ Azure Virtual Machines は2027年5月31日に廃止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2027年5月31日に HBv2 シリーズ VM（Standard_HB120rs_v2 等5サイズ）が廃止</a:t>
            </a:r>
          </a:p>
          <a:p>
            <a:pPr lvl="1">
              <a:spcBef>
                <a:spcPts val="300"/>
              </a:spcBef>
            </a:pPr>
            <a:r>
              <a:rPr sz="1400" b="0">
                <a:solidFill>
                  <a:srgbClr val="333333"/>
                </a:solidFill>
                <a:latin typeface="Yu Gothic UI"/>
                <a:ea typeface="Yu Gothic UI"/>
              </a:rPr>
              <a:t>推奨移行先: HBv5 シリーズ VM（最新の HB シリーズ、HBv4 を大幅に上回る性能とコストパフォーマンス）、HX シリーズ VM（高メモリ HPC ワークロード向け、HBv4 の2倍のメモリ容量）</a:t>
            </a:r>
          </a:p>
          <a:p>
            <a:pPr lvl="1">
              <a:spcBef>
                <a:spcPts val="300"/>
              </a:spcBef>
            </a:pPr>
            <a:r>
              <a:rPr sz="1400" b="0">
                <a:solidFill>
                  <a:srgbClr val="333333"/>
                </a:solidFill>
                <a:latin typeface="Yu Gothic UI"/>
                <a:ea typeface="Yu Gothic UI"/>
              </a:rPr>
              <a:t>廃止後、残存 VM は割り当て解除状態となり、SLA・サポート対象外</a:t>
            </a:r>
          </a:p>
          <a:p>
            <a:pPr lvl="1">
              <a:spcBef>
                <a:spcPts val="300"/>
              </a:spcBef>
            </a:pPr>
            <a:r>
              <a:rPr sz="1400" b="0">
                <a:solidFill>
                  <a:srgbClr val="333333"/>
                </a:solidFill>
                <a:latin typeface="Yu Gothic UI"/>
                <a:ea typeface="Yu Gothic UI"/>
              </a:rPr>
              <a:t>1年・3年 RI 購入は2026年4月2日に終了</a:t>
            </a:r>
          </a:p>
          <a:p>
            <a:pPr>
              <a:spcBef>
                <a:spcPts val="1400"/>
              </a:spcBef>
            </a:pPr>
            <a:r>
              <a:rPr sz="1300" b="1">
                <a:solidFill>
                  <a:srgbClr val="666666"/>
                </a:solidFill>
                <a:latin typeface="Yu Gothic UI"/>
                <a:ea typeface="Yu Gothic UI"/>
              </a:rPr>
              <a:t>対象製品: Virtual Machines</a:t>
            </a:r>
          </a:p>
          <a:p>
            <a:pPr>
              <a:spcBef>
                <a:spcPts val="200"/>
              </a:spcBef>
            </a:pPr>
            <a:r>
              <a:rPr sz="1300" b="0">
                <a:solidFill>
                  <a:srgbClr val="666666"/>
                </a:solidFill>
                <a:latin typeface="Yu Gothic UI"/>
                <a:ea typeface="Yu Gothic UI"/>
              </a:rPr>
              <a:t>作成日: 2026/03/19</a:t>
            </a:r>
          </a:p>
          <a:p>
            <a:pPr>
              <a:spcBef>
                <a:spcPts val="200"/>
              </a:spcBef>
            </a:pPr>
            <a:r>
              <a:rPr sz="1300" b="0">
                <a:solidFill>
                  <a:srgbClr val="666666"/>
                </a:solidFill>
                <a:latin typeface="Yu Gothic UI"/>
                <a:ea typeface="Yu Gothic UI"/>
              </a:rPr>
              <a:t>可用性: Retirement 2027/May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https://azure.microsoft.com/updates/?id=548525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HC シリーズ Azure Virtual Machines は2027年5月31日に廃止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2027年5月31日に HC シリーズ VM（Standard_HC44rs、Standard_HC44-16rs、Standard_HC44-32rs）が廃止</a:t>
            </a:r>
          </a:p>
          <a:p>
            <a:pPr lvl="1">
              <a:spcBef>
                <a:spcPts val="300"/>
              </a:spcBef>
            </a:pPr>
            <a:r>
              <a:rPr sz="1400" b="0">
                <a:solidFill>
                  <a:srgbClr val="333333"/>
                </a:solidFill>
                <a:latin typeface="Yu Gothic UI"/>
                <a:ea typeface="Yu Gothic UI"/>
              </a:rPr>
              <a:t>推奨移行先: HBv5 シリーズ VM（最新の HB シリーズ、高性能・高コストパフォーマンス）、HX シリーズ VM（高メモリ HPC ワークロード向け）</a:t>
            </a:r>
          </a:p>
          <a:p>
            <a:pPr lvl="1">
              <a:spcBef>
                <a:spcPts val="300"/>
              </a:spcBef>
            </a:pPr>
            <a:r>
              <a:rPr sz="1400" b="0">
                <a:solidFill>
                  <a:srgbClr val="333333"/>
                </a:solidFill>
                <a:latin typeface="Yu Gothic UI"/>
                <a:ea typeface="Yu Gothic UI"/>
              </a:rPr>
              <a:t>廃止後、残存 VM は割り当て解除状態となり、SLA・サポート対象外</a:t>
            </a:r>
          </a:p>
          <a:p>
            <a:pPr lvl="1">
              <a:spcBef>
                <a:spcPts val="300"/>
              </a:spcBef>
            </a:pPr>
            <a:r>
              <a:rPr sz="1400" b="0">
                <a:solidFill>
                  <a:srgbClr val="333333"/>
                </a:solidFill>
                <a:latin typeface="Yu Gothic UI"/>
                <a:ea typeface="Yu Gothic UI"/>
              </a:rPr>
              <a:t>1年・3年 RI 購入は2026年4月2日に終了</a:t>
            </a:r>
          </a:p>
          <a:p>
            <a:pPr>
              <a:spcBef>
                <a:spcPts val="1400"/>
              </a:spcBef>
            </a:pPr>
            <a:r>
              <a:rPr sz="1300" b="1">
                <a:solidFill>
                  <a:srgbClr val="666666"/>
                </a:solidFill>
                <a:latin typeface="Yu Gothic UI"/>
                <a:ea typeface="Yu Gothic UI"/>
              </a:rPr>
              <a:t>対象製品: Virtual Machines</a:t>
            </a:r>
          </a:p>
          <a:p>
            <a:pPr>
              <a:spcBef>
                <a:spcPts val="200"/>
              </a:spcBef>
            </a:pPr>
            <a:r>
              <a:rPr sz="1300" b="0">
                <a:solidFill>
                  <a:srgbClr val="666666"/>
                </a:solidFill>
                <a:latin typeface="Yu Gothic UI"/>
                <a:ea typeface="Yu Gothic UI"/>
              </a:rPr>
              <a:t>作成日: 2026/03/19</a:t>
            </a:r>
          </a:p>
          <a:p>
            <a:pPr>
              <a:spcBef>
                <a:spcPts val="200"/>
              </a:spcBef>
            </a:pPr>
            <a:r>
              <a:rPr sz="1300" b="0">
                <a:solidFill>
                  <a:srgbClr val="666666"/>
                </a:solidFill>
                <a:latin typeface="Yu Gothic UI"/>
                <a:ea typeface="Yu Gothic UI"/>
              </a:rPr>
              <a:t>可用性: Retirement 2027/May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https://azure.microsoft.com/updates/?id=548543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VMware Solution AV36P および AV52 ノードの2029年6月30日廃止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VMware Solution の AV36P および AV52 ノードが2029年6月30日に廃止予定</a:t>
            </a:r>
          </a:p>
          <a:p>
            <a:pPr lvl="1">
              <a:spcBef>
                <a:spcPts val="300"/>
              </a:spcBef>
            </a:pPr>
            <a:r>
              <a:rPr sz="1400" b="0">
                <a:solidFill>
                  <a:srgbClr val="333333"/>
                </a:solidFill>
                <a:latin typeface="Yu Gothic UI"/>
                <a:ea typeface="Yu Gothic UI"/>
              </a:rPr>
              <a:t>現在の Reserved Instance (RI) の条件には影響なし</a:t>
            </a:r>
          </a:p>
          <a:p>
            <a:pPr lvl="1">
              <a:spcBef>
                <a:spcPts val="300"/>
              </a:spcBef>
            </a:pPr>
            <a:r>
              <a:rPr sz="1400" b="0">
                <a:solidFill>
                  <a:srgbClr val="333333"/>
                </a:solidFill>
                <a:latin typeface="Yu Gothic UI"/>
                <a:ea typeface="Yu Gothic UI"/>
              </a:rPr>
              <a:t>AV36P/AV52 VCF BYOL の3年 RI は2026年6月30日まで、1年 RI は2028年6月30日まで購入可能</a:t>
            </a:r>
          </a:p>
          <a:p>
            <a:pPr lvl="1">
              <a:spcBef>
                <a:spcPts val="300"/>
              </a:spcBef>
            </a:pPr>
            <a:r>
              <a:rPr sz="1400" b="0">
                <a:solidFill>
                  <a:srgbClr val="333333"/>
                </a:solidFill>
                <a:latin typeface="Yu Gothic UI"/>
                <a:ea typeface="Yu Gothic UI"/>
              </a:rPr>
              <a:t>従量課金制サブスクリプションは AV48 または AV64 への移行が必要で、2029年6月30日までに完了すること</a:t>
            </a:r>
          </a:p>
          <a:p>
            <a:pPr lvl="1">
              <a:spcBef>
                <a:spcPts val="300"/>
              </a:spcBef>
            </a:pPr>
            <a:r>
              <a:rPr sz="1400" b="0">
                <a:solidFill>
                  <a:srgbClr val="333333"/>
                </a:solidFill>
                <a:latin typeface="Yu Gothic UI"/>
                <a:ea typeface="Yu Gothic UI"/>
              </a:rPr>
              <a:t>AVS AV48 および AV64 は引き続き AVS VCF BYOL オプションで利用可能</a:t>
            </a:r>
          </a:p>
          <a:p>
            <a:pPr>
              <a:spcBef>
                <a:spcPts val="1400"/>
              </a:spcBef>
            </a:pPr>
            <a:r>
              <a:rPr sz="1300" b="1">
                <a:solidFill>
                  <a:srgbClr val="666666"/>
                </a:solidFill>
                <a:latin typeface="Yu Gothic UI"/>
                <a:ea typeface="Yu Gothic UI"/>
              </a:rPr>
              <a:t>対象製品: Azure VMware Solution</a:t>
            </a:r>
          </a:p>
          <a:p>
            <a:pPr>
              <a:spcBef>
                <a:spcPts val="200"/>
              </a:spcBef>
            </a:pPr>
            <a:r>
              <a:rPr sz="1300" b="0">
                <a:solidFill>
                  <a:srgbClr val="666666"/>
                </a:solidFill>
                <a:latin typeface="Yu Gothic UI"/>
                <a:ea typeface="Yu Gothic UI"/>
              </a:rPr>
              <a:t>作成日: 2026/03/17</a:t>
            </a:r>
          </a:p>
          <a:p>
            <a:pPr>
              <a:spcBef>
                <a:spcPts val="200"/>
              </a:spcBef>
            </a:pPr>
            <a:r>
              <a:rPr sz="1300" b="0">
                <a:solidFill>
                  <a:srgbClr val="666666"/>
                </a:solidFill>
                <a:latin typeface="Yu Gothic UI"/>
                <a:ea typeface="Yu Gothic UI"/>
              </a:rPr>
              <a:t>可用性: Retirement 2029/June</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https://azure.microsoft.com/updates/?id=557094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Batch の低優先度 VM から Spot VM への移行（3月初旬）</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Batch は2025年9月30日に低優先度 VM を廃止し、2026年3月1日から Spot VM への自動移行を開始</a:t>
            </a:r>
          </a:p>
          <a:p>
            <a:pPr lvl="1">
              <a:spcBef>
                <a:spcPts val="300"/>
              </a:spcBef>
            </a:pPr>
            <a:r>
              <a:rPr sz="1400" b="0">
                <a:solidFill>
                  <a:srgbClr val="333333"/>
                </a:solidFill>
                <a:latin typeface="Yu Gothic UI"/>
                <a:ea typeface="Yu Gothic UI"/>
              </a:rPr>
              <a:t>移行は自動的に数日以内に完了し、既存ワークロードへの中断は見込まれない</a:t>
            </a:r>
          </a:p>
          <a:p>
            <a:pPr lvl="1">
              <a:spcBef>
                <a:spcPts val="300"/>
              </a:spcBef>
            </a:pPr>
            <a:r>
              <a:rPr sz="1400" b="0">
                <a:solidFill>
                  <a:srgbClr val="333333"/>
                </a:solidFill>
                <a:latin typeface="Yu Gothic UI"/>
                <a:ea typeface="Yu Gothic UI"/>
              </a:rPr>
              <a:t>3月の請求書から Spot ベースの課金が適用</a:t>
            </a:r>
          </a:p>
          <a:p>
            <a:pPr lvl="1">
              <a:spcBef>
                <a:spcPts val="300"/>
              </a:spcBef>
            </a:pPr>
            <a:r>
              <a:rPr sz="1400" b="0">
                <a:solidFill>
                  <a:srgbClr val="333333"/>
                </a:solidFill>
                <a:latin typeface="Yu Gothic UI"/>
                <a:ea typeface="Yu Gothic UI"/>
              </a:rPr>
              <a:t>Spot VM への移行を希望しない場合は2月末までに専用（オンデマンド）コンピューティングノードへの移行が必要</a:t>
            </a:r>
          </a:p>
          <a:p>
            <a:pPr lvl="1">
              <a:spcBef>
                <a:spcPts val="300"/>
              </a:spcBef>
            </a:pPr>
            <a:r>
              <a:rPr sz="1400" b="0">
                <a:solidFill>
                  <a:srgbClr val="333333"/>
                </a:solidFill>
                <a:latin typeface="Yu Gothic UI"/>
                <a:ea typeface="Yu Gothic UI"/>
              </a:rPr>
              <a:t>既存の API/SDK による低優先度 VM プロパティの参照は自動的に Spot 容量を割り当てる</a:t>
            </a:r>
          </a:p>
          <a:p>
            <a:pPr>
              <a:spcBef>
                <a:spcPts val="1400"/>
              </a:spcBef>
            </a:pPr>
            <a:r>
              <a:rPr sz="1300" b="1">
                <a:solidFill>
                  <a:srgbClr val="666666"/>
                </a:solidFill>
                <a:latin typeface="Yu Gothic UI"/>
                <a:ea typeface="Yu Gothic UI"/>
              </a:rPr>
              <a:t>対象製品: Batch</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Retirement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https://azure.microsoft.com/updates/?id=543279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Batch プールでの Windows Server 2016 Marketplace イメージのサポートが2027年1月12日に終了</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Batch プールで Windows Server 2016 Marketplace イメージのサポートが2027年1月12日に終了予定</a:t>
            </a:r>
          </a:p>
          <a:p>
            <a:pPr lvl="1">
              <a:spcBef>
                <a:spcPts val="300"/>
              </a:spcBef>
            </a:pPr>
            <a:r>
              <a:rPr sz="1400" b="0">
                <a:solidFill>
                  <a:srgbClr val="333333"/>
                </a:solidFill>
                <a:latin typeface="Yu Gothic UI"/>
                <a:ea typeface="Yu Gothic UI"/>
              </a:rPr>
              <a:t>対象 SKU には 2016-datacenter-gensecond、2016-datacenter、2016-datacenter-gs 等が含まれる</a:t>
            </a:r>
          </a:p>
          <a:p>
            <a:pPr lvl="1">
              <a:spcBef>
                <a:spcPts val="300"/>
              </a:spcBef>
            </a:pPr>
            <a:r>
              <a:rPr sz="1400" b="0">
                <a:solidFill>
                  <a:srgbClr val="333333"/>
                </a:solidFill>
                <a:latin typeface="Yu Gothic UI"/>
                <a:ea typeface="Yu Gothic UI"/>
              </a:rPr>
              <a:t>サポート対象の Windows Server イメージへの移行が必要</a:t>
            </a:r>
          </a:p>
          <a:p>
            <a:pPr lvl="1">
              <a:spcBef>
                <a:spcPts val="300"/>
              </a:spcBef>
            </a:pPr>
            <a:r>
              <a:rPr sz="1400" b="0">
                <a:solidFill>
                  <a:srgbClr val="333333"/>
                </a:solidFill>
                <a:latin typeface="Yu Gothic UI"/>
                <a:ea typeface="Yu Gothic UI"/>
              </a:rPr>
              <a:t>Windows Server 2016 が引き続き必要な場合は、適切なライセンスと Azure ESU を使用したカスタムイメージへの移行も選択肢</a:t>
            </a:r>
          </a:p>
          <a:p>
            <a:pPr lvl="1">
              <a:spcBef>
                <a:spcPts val="300"/>
              </a:spcBef>
            </a:pPr>
            <a:r>
              <a:rPr sz="1400" b="0">
                <a:solidFill>
                  <a:srgbClr val="333333"/>
                </a:solidFill>
                <a:latin typeface="Yu Gothic UI"/>
                <a:ea typeface="Yu Gothic UI"/>
              </a:rPr>
              <a:t>最新バージョンの Windows Server へのアップグレードを推奨</a:t>
            </a:r>
          </a:p>
          <a:p>
            <a:pPr>
              <a:spcBef>
                <a:spcPts val="1400"/>
              </a:spcBef>
            </a:pPr>
            <a:r>
              <a:rPr sz="1300" b="1">
                <a:solidFill>
                  <a:srgbClr val="666666"/>
                </a:solidFill>
                <a:latin typeface="Yu Gothic UI"/>
                <a:ea typeface="Yu Gothic UI"/>
              </a:rPr>
              <a:t>対象製品: Batch</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Retirement 2027/January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https://azure.microsoft.com/updates/?id=549077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Batch プールにおける NVv3 および NVv4 シリーズ仮想マシンのサポート終了リマインダー</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Batch プールにおける NVv3 シリーズ (NVIDIA Tesla M60 GPU) および NVv4 シリーズ (AMD Radeon Instinct MI25 GPU) VM のサポートが2026年9月30日に終了予定</a:t>
            </a:r>
          </a:p>
          <a:p>
            <a:pPr lvl="1">
              <a:spcBef>
                <a:spcPts val="300"/>
              </a:spcBef>
            </a:pPr>
            <a:r>
              <a:rPr sz="1400" b="0">
                <a:solidFill>
                  <a:srgbClr val="333333"/>
                </a:solidFill>
                <a:latin typeface="Yu Gothic UI"/>
                <a:ea typeface="Yu Gothic UI"/>
              </a:rPr>
              <a:t>対象サイズには Standard_NV12s_v3、Standard_NV4as_v4 等が含まれる</a:t>
            </a:r>
          </a:p>
          <a:p>
            <a:pPr lvl="1">
              <a:spcBef>
                <a:spcPts val="300"/>
              </a:spcBef>
            </a:pPr>
            <a:r>
              <a:rPr sz="1400" b="0">
                <a:solidFill>
                  <a:srgbClr val="333333"/>
                </a:solidFill>
                <a:latin typeface="Yu Gothic UI"/>
                <a:ea typeface="Yu Gothic UI"/>
              </a:rPr>
              <a:t>同一 NC プロダクトラインの新しい VM シリーズまたは適切な Batch 対応 VM サイズへの移行が必要</a:t>
            </a:r>
          </a:p>
          <a:p>
            <a:pPr lvl="1">
              <a:spcBef>
                <a:spcPts val="300"/>
              </a:spcBef>
            </a:pPr>
            <a:r>
              <a:rPr sz="1400" b="0">
                <a:solidFill>
                  <a:srgbClr val="333333"/>
                </a:solidFill>
                <a:latin typeface="Yu Gothic UI"/>
                <a:ea typeface="Yu Gothic UI"/>
              </a:rPr>
              <a:t>廃止後は新規プール作成不可、既存プールもゼロノードへの強制リサイズ対象となる</a:t>
            </a:r>
          </a:p>
          <a:p>
            <a:pPr>
              <a:spcBef>
                <a:spcPts val="1400"/>
              </a:spcBef>
            </a:pPr>
            <a:r>
              <a:rPr sz="1300" b="1">
                <a:solidFill>
                  <a:srgbClr val="666666"/>
                </a:solidFill>
                <a:latin typeface="Yu Gothic UI"/>
                <a:ea typeface="Yu Gothic UI"/>
              </a:rPr>
              <a:t>対象製品: Batch</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Retirement 2026/September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https://azure.microsoft.com/updates/?id=516070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AKS 向け Flatcar Container Linux (プレビュー)</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AKS 向け Flatcar Container Linux (プレビュー) のサポートが2026年6月8日に廃止予定</a:t>
            </a:r>
          </a:p>
          <a:p>
            <a:pPr lvl="1">
              <a:spcBef>
                <a:spcPts val="300"/>
              </a:spcBef>
            </a:pPr>
            <a:r>
              <a:rPr sz="1400" b="0">
                <a:solidFill>
                  <a:srgbClr val="333333"/>
                </a:solidFill>
                <a:latin typeface="Yu Gothic UI"/>
                <a:ea typeface="Yu Gothic UI"/>
              </a:rPr>
              <a:t>同日以降、新規ノードプールの作成不可、新規ノードイメージの提供およびセキュリティパッチの適用が停止</a:t>
            </a:r>
          </a:p>
          <a:p>
            <a:pPr lvl="1">
              <a:spcBef>
                <a:spcPts val="300"/>
              </a:spcBef>
            </a:pPr>
            <a:r>
              <a:rPr sz="1400" b="0">
                <a:solidFill>
                  <a:srgbClr val="333333"/>
                </a:solidFill>
                <a:latin typeface="Yu Gothic UI"/>
                <a:ea typeface="Yu Gothic UI"/>
              </a:rPr>
              <a:t>2026年9月8日にはノードイメージと既存コードが削除され、スケーリングや修復操作が失敗する</a:t>
            </a:r>
          </a:p>
          <a:p>
            <a:pPr lvl="1">
              <a:spcBef>
                <a:spcPts val="300"/>
              </a:spcBef>
            </a:pPr>
            <a:r>
              <a:rPr sz="1400" b="0">
                <a:solidFill>
                  <a:srgbClr val="333333"/>
                </a:solidFill>
                <a:latin typeface="Yu Gothic UI"/>
                <a:ea typeface="Yu Gothic UI"/>
              </a:rPr>
              <a:t>代替として Ubuntu または Azure Linux への移行を推奨</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2026/03/16</a:t>
            </a:r>
          </a:p>
          <a:p>
            <a:pPr>
              <a:spcBef>
                <a:spcPts val="200"/>
              </a:spcBef>
            </a:pPr>
            <a:r>
              <a:rPr sz="1300" b="0">
                <a:solidFill>
                  <a:srgbClr val="666666"/>
                </a:solidFill>
                <a:latin typeface="Yu Gothic UI"/>
                <a:ea typeface="Yu Gothic UI"/>
              </a:rPr>
              <a:t>可用性: Retirement 2026/June</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Premium SSD v2 Disk が US Gov Arizona 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Premium SSD v2 が US Gov Arizona（可用性ゾーンのないリージョン）で利用可能になりました</a:t>
            </a:r>
          </a:p>
          <a:p>
            <a:pPr lvl="1">
              <a:spcBef>
                <a:spcPts val="300"/>
              </a:spcBef>
            </a:pPr>
            <a:r>
              <a:rPr sz="1400" b="0">
                <a:solidFill>
                  <a:srgbClr val="333333"/>
                </a:solidFill>
                <a:latin typeface="Yu Gothic UI"/>
                <a:ea typeface="Yu Gothic UI"/>
              </a:rPr>
              <a:t>Premium SSD v2 は Azure 仮想マシン向けの次世代汎用ブロックストレージで、サブミリ秒のレイテンシと IO 集約型ワークロードに対する優れたコストパフォーマンスを低コストで提供します</a:t>
            </a:r>
          </a:p>
          <a:p>
            <a:pPr lvl="1">
              <a:spcBef>
                <a:spcPts val="300"/>
              </a:spcBef>
            </a:pPr>
            <a:r>
              <a:rPr sz="1400" b="0">
                <a:solidFill>
                  <a:srgbClr val="333333"/>
                </a:solidFill>
                <a:latin typeface="Yu Gothic UI"/>
                <a:ea typeface="Yu Gothic UI"/>
              </a:rPr>
              <a:t>SQL Server、Oracle、MariaDB、SAP、Cassandra、MongoDB、ビッグデータ/分析、ゲーミングなど幅広いエンタープライズ本番シナリオに適しています</a:t>
            </a:r>
          </a:p>
          <a:p>
            <a:pPr>
              <a:spcBef>
                <a:spcPts val="1400"/>
              </a:spcBef>
            </a:pPr>
            <a:r>
              <a:rPr sz="1300" b="1">
                <a:solidFill>
                  <a:srgbClr val="666666"/>
                </a:solidFill>
                <a:latin typeface="Yu Gothic UI"/>
                <a:ea typeface="Yu Gothic UI"/>
              </a:rPr>
              <a:t>対象製品: Azure Disk Storage, Virtual Machines</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https://azure.microsoft.com/updates/?id=559677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Red Hat OpenShift が Indonesia Central 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Red Hat OpenShift (ARO) が Indonesia Central リージョンで一般提供開始されました</a:t>
            </a:r>
          </a:p>
          <a:p>
            <a:pPr lvl="1">
              <a:spcBef>
                <a:spcPts val="300"/>
              </a:spcBef>
            </a:pPr>
            <a:r>
              <a:rPr sz="1400" b="0">
                <a:solidFill>
                  <a:srgbClr val="333333"/>
                </a:solidFill>
                <a:latin typeface="Yu Gothic UI"/>
                <a:ea typeface="Yu Gothic UI"/>
              </a:rPr>
              <a:t>インドネシアおよび東南アジアのお客様が Azure の統合セキュリティ、ネットワーキング、運用機能を備えたフルマネージド Red Hat OpenShift クラスターをデプロイできます</a:t>
            </a:r>
          </a:p>
          <a:p>
            <a:pPr lvl="1">
              <a:spcBef>
                <a:spcPts val="300"/>
              </a:spcBef>
            </a:pPr>
            <a:r>
              <a:rPr sz="1400" b="0">
                <a:solidFill>
                  <a:srgbClr val="333333"/>
                </a:solidFill>
                <a:latin typeface="Yu Gothic UI"/>
                <a:ea typeface="Yu Gothic UI"/>
              </a:rPr>
              <a:t>規制対象ワークロードやレイテンシに敏感なワークロードをエンドユーザーに近い場所で実行でき、ローカルデータレジデンシー要件にも対応します</a:t>
            </a:r>
          </a:p>
          <a:p>
            <a:pPr lvl="1">
              <a:spcBef>
                <a:spcPts val="300"/>
              </a:spcBef>
            </a:pPr>
            <a:r>
              <a:rPr sz="1400" b="0">
                <a:solidFill>
                  <a:srgbClr val="333333"/>
                </a:solidFill>
                <a:latin typeface="Yu Gothic UI"/>
                <a:ea typeface="Yu Gothic UI"/>
              </a:rPr>
              <a:t>アップグレード、パッチ適用、クラスター管理などの Day-2 運用は Microsoft と Red Hat が共同で管理します</a:t>
            </a:r>
          </a:p>
          <a:p>
            <a:pPr lvl="1">
              <a:spcBef>
                <a:spcPts val="300"/>
              </a:spcBef>
            </a:pPr>
            <a:r>
              <a:rPr sz="1400" b="0">
                <a:solidFill>
                  <a:srgbClr val="333333"/>
                </a:solidFill>
                <a:latin typeface="Yu Gothic UI"/>
                <a:ea typeface="Yu Gothic UI"/>
              </a:rPr>
              <a:t>このリージョン拡張により、エンタープライズグレードの OpenShift サービスを用いたアプリケーションモダナイゼーションとハイブリッドクラウド戦略を加速できます</a:t>
            </a:r>
          </a:p>
          <a:p>
            <a:pPr>
              <a:spcBef>
                <a:spcPts val="1400"/>
              </a:spcBef>
            </a:pPr>
            <a:r>
              <a:rPr sz="1300" b="1">
                <a:solidFill>
                  <a:srgbClr val="666666"/>
                </a:solidFill>
                <a:latin typeface="Yu Gothic UI"/>
                <a:ea typeface="Yu Gothic UI"/>
              </a:rPr>
              <a:t>対象製品: Azure Red Hat OpenShift</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https://azure.microsoft.com/updates/?id=559552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Premium SSD v2 Disk が South India 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Premium SSD v2 が South India（可用性ゾーンのないリージョン）で利用可能になりました</a:t>
            </a:r>
          </a:p>
          <a:p>
            <a:pPr lvl="1">
              <a:spcBef>
                <a:spcPts val="300"/>
              </a:spcBef>
            </a:pPr>
            <a:r>
              <a:rPr sz="1400" b="0">
                <a:solidFill>
                  <a:srgbClr val="333333"/>
                </a:solidFill>
                <a:latin typeface="Yu Gothic UI"/>
                <a:ea typeface="Yu Gothic UI"/>
              </a:rPr>
              <a:t>Premium SSD v2 は Azure 仮想マシン向けの次世代汎用ブロックストレージで、サブミリ秒のレイテンシと IO 集約型ワークロードに対する優れたコストパフォーマンスを低コストで提供します</a:t>
            </a:r>
          </a:p>
          <a:p>
            <a:pPr lvl="1">
              <a:spcBef>
                <a:spcPts val="300"/>
              </a:spcBef>
            </a:pPr>
            <a:r>
              <a:rPr sz="1400" b="0">
                <a:solidFill>
                  <a:srgbClr val="333333"/>
                </a:solidFill>
                <a:latin typeface="Yu Gothic UI"/>
                <a:ea typeface="Yu Gothic UI"/>
              </a:rPr>
              <a:t>SQL Server、Oracle、MariaDB、SAP、Cassandra、MongoDB、ビッグデータ/分析、ゲーミングなど幅広いエンタープライズ本番シナリオに適しています</a:t>
            </a:r>
          </a:p>
          <a:p>
            <a:pPr>
              <a:spcBef>
                <a:spcPts val="1400"/>
              </a:spcBef>
            </a:pPr>
            <a:r>
              <a:rPr sz="1300" b="1">
                <a:solidFill>
                  <a:srgbClr val="666666"/>
                </a:solidFill>
                <a:latin typeface="Yu Gothic UI"/>
                <a:ea typeface="Yu Gothic UI"/>
              </a:rPr>
              <a:t>対象製品: Azure Disk Storage, Virtual Machines</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https://azure.microsoft.com/updates/?id=559526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AKS のコンテナーネットワークメトリクスフィルタリング</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Container Networking Services (ACNS) のコンテナーネットワークメトリクスフィルタリングにより、Kubernetes カスタムリソースを使用して収集するコンテナーレベルのネットワークメトリクスを動的に制御可能に</a:t>
            </a:r>
          </a:p>
          <a:p>
            <a:pPr lvl="1">
              <a:spcBef>
                <a:spcPts val="300"/>
              </a:spcBef>
            </a:pPr>
            <a:r>
              <a:rPr sz="1400" b="0">
                <a:solidFill>
                  <a:srgbClr val="333333"/>
                </a:solidFill>
                <a:latin typeface="Yu Gothic UI"/>
                <a:ea typeface="Yu Gothic UI"/>
              </a:rPr>
              <a:t>監視ノイズの削減、データ量の管理、ダッシュボードのアクション可能なシグナルへの集中を支援</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https://azure.microsoft.com/updates/?id=557902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AKS のコンテナーネットワークログ</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AKS のコンテナーネットワークログが一般提供開始</a:t>
            </a:r>
          </a:p>
          <a:p>
            <a:pPr lvl="1">
              <a:spcBef>
                <a:spcPts val="300"/>
              </a:spcBef>
            </a:pPr>
            <a:r>
              <a:rPr sz="1400" b="0">
                <a:solidFill>
                  <a:srgbClr val="333333"/>
                </a:solidFill>
                <a:latin typeface="Yu Gothic UI"/>
                <a:ea typeface="Yu Gothic UI"/>
              </a:rPr>
              <a:t>IP、ポート、名前空間、Pod・サービス名、フロー方向、ポリシー判定など、L3/L4 および HTTP、gRPC、Kafka を含む L7 プロトコルのフローごとの詳細メタデータをキャプチャし、コンテキストリッチな可視性を提供</a:t>
            </a:r>
          </a:p>
          <a:p>
            <a:pPr lvl="1">
              <a:spcBef>
                <a:spcPts val="300"/>
              </a:spcBef>
            </a:pPr>
            <a:r>
              <a:rPr sz="1400" b="0">
                <a:solidFill>
                  <a:srgbClr val="333333"/>
                </a:solidFill>
                <a:latin typeface="Yu Gothic UI"/>
                <a:ea typeface="Yu Gothic UI"/>
              </a:rPr>
              <a:t>継続的なフィルタベース収集用の保存ログと、ターゲットスナップショット用のオンデマンドログの両方をサポート</a:t>
            </a:r>
          </a:p>
          <a:p>
            <a:pPr lvl="1">
              <a:spcBef>
                <a:spcPts val="300"/>
              </a:spcBef>
            </a:pPr>
            <a:r>
              <a:rPr sz="1400" b="0">
                <a:solidFill>
                  <a:srgbClr val="333333"/>
                </a:solidFill>
                <a:latin typeface="Yu Gothic UI"/>
                <a:ea typeface="Yu Gothic UI"/>
              </a:rPr>
              <a:t>Azure Monitor の組み込みダッシュボードでデータの利用を簡素化</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https://azure.microsoft.com/updates/?id=557892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Container Storage v2.1.0 - Elastic SAN 統合とオンデマンドインストール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Container Storage と Elastic SAN の統合により、Kubernetes クラスターが共有プールからストレージ容量とパフォーマンスを利用可能に</a:t>
            </a:r>
          </a:p>
          <a:p>
            <a:pPr lvl="1">
              <a:spcBef>
                <a:spcPts val="300"/>
              </a:spcBef>
            </a:pPr>
            <a:r>
              <a:rPr sz="1400" b="0">
                <a:solidFill>
                  <a:srgbClr val="333333"/>
                </a:solidFill>
                <a:latin typeface="Yu Gothic UI"/>
                <a:ea typeface="Yu Gothic UI"/>
              </a:rPr>
              <a:t>プロビジョニングの簡素化、使用率の向上、一元管理されたストレージモデルによる可変ストレージ需要への対応を実現</a:t>
            </a:r>
          </a:p>
          <a:p>
            <a:pPr>
              <a:spcBef>
                <a:spcPts val="1400"/>
              </a:spcBef>
            </a:pPr>
            <a:r>
              <a:rPr sz="1300" b="1">
                <a:solidFill>
                  <a:srgbClr val="666666"/>
                </a:solidFill>
                <a:latin typeface="Yu Gothic UI"/>
                <a:ea typeface="Yu Gothic UI"/>
              </a:rPr>
              <a:t>対象製品: Azure Container Storage,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https://azure.microsoft.com/updates/?id=557912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VM/VMSS 向けフルキャッシング対応エフェメラル OS ディスク</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VM/VMSS 向けのフルキャッシング対応エフェメラル OS ディスクがパブリックプレビューとして提供開始されました</a:t>
            </a:r>
          </a:p>
          <a:p>
            <a:pPr lvl="1">
              <a:spcBef>
                <a:spcPts val="300"/>
              </a:spcBef>
            </a:pPr>
            <a:r>
              <a:rPr sz="1400" b="0">
                <a:solidFill>
                  <a:srgbClr val="333333"/>
                </a:solidFill>
                <a:latin typeface="Yu Gothic UI"/>
                <a:ea typeface="Yu Gothic UI"/>
              </a:rPr>
              <a:t>OS ディスクイメージ全体をローカル VM ストレージ（キャッシュディスク、リソースディスク、NVMe ディスク）にキャッシュすることで、一貫した低レイテンシでの IO パフォーマンス向上とリモートストレージ障害時の耐障害性を実現します</a:t>
            </a:r>
          </a:p>
          <a:p>
            <a:pPr lvl="1">
              <a:spcBef>
                <a:spcPts val="300"/>
              </a:spcBef>
            </a:pPr>
            <a:r>
              <a:rPr sz="1400" b="0">
                <a:solidFill>
                  <a:srgbClr val="333333"/>
                </a:solidFill>
                <a:latin typeface="Yu Gothic UI"/>
                <a:ea typeface="Yu Gothic UI"/>
              </a:rPr>
              <a:t>AI ワークロード、クォーラムベースのデータベース、データ分析、大規模ステートレスサービスなど、ステートレスで IO に敏感なワークロードに最適です</a:t>
            </a:r>
          </a:p>
          <a:p>
            <a:pPr lvl="1">
              <a:spcBef>
                <a:spcPts val="300"/>
              </a:spcBef>
            </a:pPr>
            <a:r>
              <a:rPr sz="1400" b="0">
                <a:solidFill>
                  <a:srgbClr val="333333"/>
                </a:solidFill>
                <a:latin typeface="Yu Gothic UI"/>
                <a:ea typeface="Yu Gothic UI"/>
              </a:rPr>
              <a:t>Central US のほとんどの汎用 VM SKU（2 コアおよび 4 コア VM を除く）で利用可能です</a:t>
            </a:r>
          </a:p>
          <a:p>
            <a:pPr>
              <a:spcBef>
                <a:spcPts val="1400"/>
              </a:spcBef>
            </a:pPr>
            <a:r>
              <a:rPr sz="1300" b="1">
                <a:solidFill>
                  <a:srgbClr val="666666"/>
                </a:solidFill>
                <a:latin typeface="Yu Gothic UI"/>
                <a:ea typeface="Yu Gothic UI"/>
              </a:rPr>
              <a:t>対象製品: Virtual Machine Scale Sets, Virtual Machines</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https://azure.microsoft.com/updates/?id=559322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AKS でのブルーグリーンエージェントプールアップグレード</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インプレースのノードプールアップグレードは実行中の環境に直接変更を適用するリスクがあります</a:t>
            </a:r>
          </a:p>
          <a:p>
            <a:pPr lvl="1">
              <a:spcBef>
                <a:spcPts val="300"/>
              </a:spcBef>
            </a:pPr>
            <a:r>
              <a:rPr sz="1400" b="0">
                <a:solidFill>
                  <a:srgbClr val="333333"/>
                </a:solidFill>
                <a:latin typeface="Yu Gothic UI"/>
                <a:ea typeface="Yu Gothic UI"/>
              </a:rPr>
              <a:t>ブルーグリーンエージェントプールアップグレードは新しい構成で並列ノードプールを作成し、ワークロードを移行する前に検証でき、明確なロールバックパスを提供します</a:t>
            </a:r>
          </a:p>
          <a:p>
            <a:pPr lvl="1">
              <a:spcBef>
                <a:spcPts val="300"/>
              </a:spcBef>
            </a:pPr>
            <a:r>
              <a:rPr sz="1400" b="0">
                <a:solidFill>
                  <a:srgbClr val="333333"/>
                </a:solidFill>
                <a:latin typeface="Yu Gothic UI"/>
                <a:ea typeface="Yu Gothic UI"/>
              </a:rPr>
              <a:t>これによりアップグレードリスクが軽減され、より制御されたクラスターライフサイクル管理をサポートします</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https://azure.microsoft.com/updates/?id=557862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コンテナーネットワークトラブルシューティング用 AI エージェント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コンテナーネットワーキングエージェントは、自然言語での問題記述をライブクラスターテレメトリを使用した読み取り専用の診断に変換する軽量な Web ベースインターフェースを提供</a:t>
            </a:r>
          </a:p>
          <a:p>
            <a:pPr lvl="1">
              <a:spcBef>
                <a:spcPts val="300"/>
              </a:spcBef>
            </a:pPr>
            <a:r>
              <a:rPr sz="1400" b="0">
                <a:solidFill>
                  <a:srgbClr val="333333"/>
                </a:solidFill>
                <a:latin typeface="Yu Gothic UI"/>
                <a:ea typeface="Yu Gothic UI"/>
              </a:rPr>
              <a:t>ネットワーキングのインサイトを統合し、構造化された修復ガイダンスとともに調査結果を要約することで、調査時間を短縮し、構成変更なしにトラブルシューティングの一貫性を向上</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https://azure.microsoft.com/updates/?id=557887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Monitor での AKS マネージド GPU メトリクス</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AKS マネージド GPU メトリクスにより、NVIDIA GPU 対応ノードプールのパフォーマンスと使用率データがマネージド Prometheus および Grafana 環境に自動的に公開される</a:t>
            </a:r>
          </a:p>
          <a:p>
            <a:pPr lvl="1">
              <a:spcBef>
                <a:spcPts val="300"/>
              </a:spcBef>
            </a:pPr>
            <a:r>
              <a:rPr sz="1400" b="0">
                <a:solidFill>
                  <a:srgbClr val="333333"/>
                </a:solidFill>
                <a:latin typeface="Yu Gothic UI"/>
                <a:ea typeface="Yu Gothic UI"/>
              </a:rPr>
              <a:t>GPU テレメトリをクラスターメトリクスと同じオブザーバビリティスタックに統合し、手動でのエクスポーター設定なしにキャパシティプランニングと運用監視をサポート</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https://azure.microsoft.com/updates/?id=557882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AKS でのメッシュレス Istio によるアプリケーションルーティング</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ingress-nginx の非推奨化に伴い、フルサービスメッシュの複雑さなしにイングレスの標準準拠移行パスを提供</a:t>
            </a:r>
          </a:p>
          <a:p>
            <a:pPr lvl="1">
              <a:spcBef>
                <a:spcPts val="300"/>
              </a:spcBef>
            </a:pPr>
            <a:r>
              <a:rPr sz="1400" b="0">
                <a:solidFill>
                  <a:srgbClr val="333333"/>
                </a:solidFill>
                <a:latin typeface="Yu Gothic UI"/>
                <a:ea typeface="Yu Gothic UI"/>
              </a:rPr>
              <a:t>メッシュレス Istio によるアプリケーションルーティングにより、サイドカーベースのアーキテクチャを回避しつつ Kubernetes Gateway API を採用可能</a:t>
            </a:r>
          </a:p>
          <a:p>
            <a:pPr lvl="1">
              <a:spcBef>
                <a:spcPts val="300"/>
              </a:spcBef>
            </a:pPr>
            <a:r>
              <a:rPr sz="1400" b="0">
                <a:solidFill>
                  <a:srgbClr val="333333"/>
                </a:solidFill>
                <a:latin typeface="Yu Gothic UI"/>
                <a:ea typeface="Yu Gothic UI"/>
              </a:rPr>
              <a:t>既存の ingress-nginx ベースのアプリケーションルーティングのサポートも延長され、段階的なイングレス構成の近代化を実現</a:t>
            </a:r>
          </a:p>
          <a:p>
            <a:pPr>
              <a:spcBef>
                <a:spcPts val="1400"/>
              </a:spcBef>
            </a:pPr>
            <a:r>
              <a:rPr sz="1300" b="1">
                <a:solidFill>
                  <a:srgbClr val="666666"/>
                </a:solidFill>
                <a:latin typeface="Yu Gothic UI"/>
                <a:ea typeface="Yu Gothic UI"/>
              </a:rPr>
              <a:t>対象製品: Azure Kubernetes Service (AKS)</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https://azure.microsoft.com/updates/?id=557927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データ &amp; AI（22件）</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ストレージアカウントの AzureDnsEndpoints は 2027 年 3 月に廃止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Blob ストレージアカウントの AzureDnsZone エンドポイント（プレビュー）は 2027 年 3 月に廃止されます</a:t>
            </a:r>
          </a:p>
          <a:p>
            <a:pPr lvl="1">
              <a:spcBef>
                <a:spcPts val="300"/>
              </a:spcBef>
            </a:pPr>
            <a:r>
              <a:rPr sz="1400" b="0">
                <a:solidFill>
                  <a:srgbClr val="333333"/>
                </a:solidFill>
                <a:latin typeface="Yu Gothic UI"/>
                <a:ea typeface="Yu Gothic UI"/>
              </a:rPr>
              <a:t>AzureDnsZone エンドポイントを利用中のお客様は、2027 年 4 月 1 日までにすべての Blob ストレージアカウントデプロイメントを Standard エンドポイントに移行する必要があります</a:t>
            </a:r>
          </a:p>
          <a:p>
            <a:pPr lvl="1">
              <a:spcBef>
                <a:spcPts val="300"/>
              </a:spcBef>
            </a:pPr>
            <a:r>
              <a:rPr sz="1400" b="0">
                <a:solidFill>
                  <a:srgbClr val="333333"/>
                </a:solidFill>
                <a:latin typeface="Yu Gothic UI"/>
                <a:ea typeface="Yu Gothic UI"/>
              </a:rPr>
              <a:t>Standard エンドポイントは一般提供済みで、本番ワークロードに完全対応しています</a:t>
            </a:r>
          </a:p>
          <a:p>
            <a:pPr lvl="1">
              <a:spcBef>
                <a:spcPts val="300"/>
              </a:spcBef>
            </a:pPr>
            <a:r>
              <a:rPr sz="1400" b="0">
                <a:solidFill>
                  <a:srgbClr val="333333"/>
                </a:solidFill>
                <a:latin typeface="Yu Gothic UI"/>
                <a:ea typeface="Yu Gothic UI"/>
              </a:rPr>
              <a:t>既存のストレージアカウントは影響を受けず削除されません</a:t>
            </a:r>
          </a:p>
          <a:p>
            <a:pPr lvl="1">
              <a:spcBef>
                <a:spcPts val="300"/>
              </a:spcBef>
            </a:pPr>
            <a:r>
              <a:rPr sz="1400" b="0">
                <a:solidFill>
                  <a:srgbClr val="333333"/>
                </a:solidFill>
                <a:latin typeface="Yu Gothic UI"/>
                <a:ea typeface="Yu Gothic UI"/>
              </a:rPr>
              <a:t>今後数か月で AzureDnsZone エンドポイントでの新規ストレージアカウント作成機能が削除されます</a:t>
            </a:r>
          </a:p>
          <a:p>
            <a:pPr>
              <a:spcBef>
                <a:spcPts val="1400"/>
              </a:spcBef>
            </a:pPr>
            <a:r>
              <a:rPr sz="1300" b="1">
                <a:solidFill>
                  <a:srgbClr val="666666"/>
                </a:solidFill>
                <a:latin typeface="Yu Gothic UI"/>
                <a:ea typeface="Yu Gothic UI"/>
              </a:rPr>
              <a:t>対象製品: Azure Blob Storage</a:t>
            </a:r>
          </a:p>
          <a:p>
            <a:pPr>
              <a:spcBef>
                <a:spcPts val="200"/>
              </a:spcBef>
            </a:pPr>
            <a:r>
              <a:rPr sz="1300" b="0">
                <a:solidFill>
                  <a:srgbClr val="666666"/>
                </a:solidFill>
                <a:latin typeface="Yu Gothic UI"/>
                <a:ea typeface="Yu Gothic UI"/>
              </a:rPr>
              <a:t>作成日: 2026/04/02</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https://azure.microsoft.com/updates/?id=558276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AI Language の一部機能の廃止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2029 年 3 月 20 日に、Azure AI Language の以下の 8 機能が廃止されます: キーフレーズ抽出、感情分析とオピニオンマイニング、カスタムテキスト分類、会話型言語理解 (CLU)、カスタム質問応答 (CQA)、オーケストレーションワークフロー、要約（抽出型・生成型、ドキュメント・会話用）、エンティティリンキング</a:t>
            </a:r>
          </a:p>
          <a:p>
            <a:pPr lvl="1">
              <a:spcBef>
                <a:spcPts val="300"/>
              </a:spcBef>
            </a:pPr>
            <a:r>
              <a:rPr sz="1400" b="0">
                <a:solidFill>
                  <a:srgbClr val="333333"/>
                </a:solidFill>
                <a:latin typeface="Yu Gothic UI"/>
                <a:ea typeface="Yu Gothic UI"/>
              </a:rPr>
              <a:t>廃止後はこれらの機能へのリクエストはエラーを返します</a:t>
            </a:r>
          </a:p>
          <a:p>
            <a:pPr lvl="1">
              <a:spcBef>
                <a:spcPts val="300"/>
              </a:spcBef>
            </a:pPr>
            <a:r>
              <a:rPr sz="1400" b="0">
                <a:solidFill>
                  <a:srgbClr val="333333"/>
                </a:solidFill>
                <a:latin typeface="Yu Gothic UI"/>
                <a:ea typeface="Yu Gothic UI"/>
              </a:rPr>
              <a:t>Language Studio、Microsoft Foundry、REST API の関連する作成・ランタイム機能も利用不可になります</a:t>
            </a:r>
          </a:p>
          <a:p>
            <a:pPr lvl="1">
              <a:spcBef>
                <a:spcPts val="300"/>
              </a:spcBef>
            </a:pPr>
            <a:r>
              <a:rPr sz="1400" b="0">
                <a:solidFill>
                  <a:srgbClr val="333333"/>
                </a:solidFill>
                <a:latin typeface="Yu Gothic UI"/>
                <a:ea typeface="Yu Gothic UI"/>
              </a:rPr>
              <a:t>Microsoft Foundry のサポート対象の代替機能への移行計画を早期に開始することを推奨します</a:t>
            </a:r>
          </a:p>
          <a:p>
            <a:pPr lvl="1">
              <a:spcBef>
                <a:spcPts val="300"/>
              </a:spcBef>
            </a:pPr>
            <a:r>
              <a:rPr sz="1400" b="0">
                <a:solidFill>
                  <a:srgbClr val="333333"/>
                </a:solidFill>
                <a:latin typeface="Yu Gothic UI"/>
                <a:ea typeface="Yu Gothic UI"/>
              </a:rPr>
              <a:t>Language Detection、PII Detection、Text Analytics for Health、Prebuilt NER、Custom NER は引き続きサポートされます</a:t>
            </a:r>
          </a:p>
          <a:p>
            <a:pPr>
              <a:spcBef>
                <a:spcPts val="1400"/>
              </a:spcBef>
            </a:pPr>
            <a:r>
              <a:rPr sz="1300" b="1">
                <a:solidFill>
                  <a:srgbClr val="666666"/>
                </a:solidFill>
                <a:latin typeface="Yu Gothic UI"/>
                <a:ea typeface="Yu Gothic UI"/>
              </a:rPr>
              <a:t>対象製品: Azure AI Language</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Retirement 2029/March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https://azure.microsoft.com/updates/?id=557394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Machine Learning の外部データインポートおよびデータ接続は 2026 年 9 月 30 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Machine Learning の外部ソースからのデータインポート（プレビュー）— S3、Snowflake、Azure SQL DB、および外部データ接続（プレビュー）が廃止されます</a:t>
            </a:r>
          </a:p>
          <a:p>
            <a:pPr lvl="1">
              <a:spcBef>
                <a:spcPts val="300"/>
              </a:spcBef>
            </a:pPr>
            <a:r>
              <a:rPr sz="1400" b="0">
                <a:solidFill>
                  <a:srgbClr val="333333"/>
                </a:solidFill>
                <a:latin typeface="Yu Gothic UI"/>
                <a:ea typeface="Yu Gothic UI"/>
              </a:rPr>
              <a:t>2026 年 9 月 30 日以降、これらの機能は利用できなくなります</a:t>
            </a:r>
          </a:p>
          <a:p>
            <a:pPr lvl="1">
              <a:spcBef>
                <a:spcPts val="300"/>
              </a:spcBef>
            </a:pPr>
            <a:r>
              <a:rPr sz="1400" b="0">
                <a:solidFill>
                  <a:srgbClr val="333333"/>
                </a:solidFill>
                <a:latin typeface="Yu Gothic UI"/>
                <a:ea typeface="Yu Gothic UI"/>
              </a:rPr>
              <a:t>既存の外部データ接続は使用不可になり、新しいデータインポートや外部データ接続の追加もできなくなります</a:t>
            </a:r>
          </a:p>
          <a:p>
            <a:pPr lvl="1">
              <a:spcBef>
                <a:spcPts val="300"/>
              </a:spcBef>
            </a:pPr>
            <a:r>
              <a:rPr sz="1400" b="0">
                <a:solidFill>
                  <a:srgbClr val="333333"/>
                </a:solidFill>
                <a:latin typeface="Yu Gothic UI"/>
                <a:ea typeface="Yu Gothic UI"/>
              </a:rPr>
              <a:t>既存のインポート済みアセットは引き続き利用可能ですが、スケジュールされた更新は動作しなくなります</a:t>
            </a:r>
          </a:p>
          <a:p>
            <a:pPr lvl="1">
              <a:spcBef>
                <a:spcPts val="300"/>
              </a:spcBef>
            </a:pPr>
            <a:r>
              <a:rPr sz="1400" b="0">
                <a:solidFill>
                  <a:srgbClr val="333333"/>
                </a:solidFill>
                <a:latin typeface="Yu Gothic UI"/>
                <a:ea typeface="Yu Gothic UI"/>
              </a:rPr>
              <a:t>ML パイプラインの中断を避けるため、外部データインポートを Microsoft Fabric に移行し、AzureML データストアを使用してデータを利用可能にすることを推奨します</a:t>
            </a:r>
          </a:p>
          <a:p>
            <a:pPr>
              <a:spcBef>
                <a:spcPts val="1400"/>
              </a:spcBef>
            </a:pPr>
            <a:r>
              <a:rPr sz="1300" b="1">
                <a:solidFill>
                  <a:srgbClr val="666666"/>
                </a:solidFill>
                <a:latin typeface="Yu Gothic UI"/>
                <a:ea typeface="Yu Gothic UI"/>
              </a:rPr>
              <a:t>対象製品: Azure Machine Learning</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Retirement 2026/September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https://azure.microsoft.com/updates/?id=557406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Cosmos DB for PostgreSQL は 2029 年 3 月 31 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2029 年 3 月 31 日に Azure Cosmos DB for PostgreSQL が廃止されるため、Azure Database for PostgreSQL Elastic Cluster への移行が必要です</a:t>
            </a:r>
          </a:p>
          <a:p>
            <a:pPr lvl="1">
              <a:spcBef>
                <a:spcPts val="300"/>
              </a:spcBef>
            </a:pPr>
            <a:r>
              <a:rPr sz="1400" b="0">
                <a:solidFill>
                  <a:srgbClr val="333333"/>
                </a:solidFill>
                <a:latin typeface="Yu Gothic UI"/>
                <a:ea typeface="Yu Gothic UI"/>
              </a:rPr>
              <a:t>Elastic Cluster は Citus 拡張機能に基づき、Azure Cosmos DB for PostgreSQL と同じ分散 PostgreSQL 機能を完全な機能パリティで提供します</a:t>
            </a:r>
          </a:p>
          <a:p>
            <a:pPr lvl="1">
              <a:spcBef>
                <a:spcPts val="300"/>
              </a:spcBef>
            </a:pPr>
            <a:r>
              <a:rPr sz="1400" b="0">
                <a:solidFill>
                  <a:srgbClr val="333333"/>
                </a:solidFill>
                <a:latin typeface="Yu Gothic UI"/>
                <a:ea typeface="Yu Gothic UI"/>
              </a:rPr>
              <a:t>よりシンプルで透明性の高い価格モデル、幅広いコンピューティング選択肢、新しい PostgreSQL バージョンのサポートに加え、組み込みの高可用性、自動バックアップ、ポイントインタイムリストア、災害復旧を提供します</a:t>
            </a:r>
          </a:p>
          <a:p>
            <a:pPr lvl="1">
              <a:spcBef>
                <a:spcPts val="300"/>
              </a:spcBef>
            </a:pPr>
            <a:r>
              <a:rPr sz="1400" b="0">
                <a:solidFill>
                  <a:srgbClr val="333333"/>
                </a:solidFill>
                <a:latin typeface="Yu Gothic UI"/>
                <a:ea typeface="Yu Gothic UI"/>
              </a:rPr>
              <a:t>アプリケーションコードの変更は不要で、提供されている移行ツールによるシームレスな移行が可能です</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Retirement 2029/March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https://azure.microsoft.com/updates/?id=556085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SQL Elastic Query - Shard_Map_Manager モード</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2027年3月31日より、Shard_Map_Manager 外部データソースタイプを使用した Elastic Query のサポートが終了</a:t>
            </a:r>
          </a:p>
          <a:p>
            <a:pPr lvl="1">
              <a:spcBef>
                <a:spcPts val="300"/>
              </a:spcBef>
            </a:pPr>
            <a:r>
              <a:rPr sz="1400" b="0">
                <a:solidFill>
                  <a:srgbClr val="333333"/>
                </a:solidFill>
                <a:latin typeface="Yu Gothic UI"/>
                <a:ea typeface="Yu Gothic UI"/>
              </a:rPr>
              <a:t>既存のワークロードは引き続き実行可能だが、Microsoft からの更新やサポートは提供されなくなる</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2026/03/20</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https://azure.microsoft.com/updates/?id=558086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 Box が Azure Files Provisioned v2 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 Box が Azure Files Provisioned v2 ストレージアカウントへのデータ取り込みをサポートしました</a:t>
            </a:r>
          </a:p>
          <a:p>
            <a:pPr lvl="1">
              <a:spcBef>
                <a:spcPts val="300"/>
              </a:spcBef>
            </a:pPr>
            <a:r>
              <a:rPr sz="1400" b="0">
                <a:solidFill>
                  <a:srgbClr val="333333"/>
                </a:solidFill>
                <a:latin typeface="Yu Gothic UI"/>
                <a:ea typeface="Yu Gothic UI"/>
              </a:rPr>
              <a:t>Azure Files Provisioned v2 は、容量・IOPS・スループットを個別にプロビジョニングして支払う課金モデルで、ファイル共有ワークロードに対してより柔軟なコスト管理を提供します</a:t>
            </a:r>
          </a:p>
          <a:p>
            <a:pPr lvl="1">
              <a:spcBef>
                <a:spcPts val="300"/>
              </a:spcBef>
            </a:pPr>
            <a:r>
              <a:rPr sz="1400" b="0">
                <a:solidFill>
                  <a:srgbClr val="333333"/>
                </a:solidFill>
                <a:latin typeface="Yu Gothic UI"/>
                <a:ea typeface="Yu Gothic UI"/>
              </a:rPr>
              <a:t>このアップデートにより、ほとんどのパブリックリージョンで Azure Data Box を使用して Azure Files Provisioned v2 ストレージアカウントに直接データ転送が可能になります</a:t>
            </a:r>
          </a:p>
          <a:p>
            <a:pPr>
              <a:spcBef>
                <a:spcPts val="1400"/>
              </a:spcBef>
            </a:pPr>
            <a:r>
              <a:rPr sz="1300" b="1">
                <a:solidFill>
                  <a:srgbClr val="666666"/>
                </a:solidFill>
                <a:latin typeface="Yu Gothic UI"/>
                <a:ea typeface="Yu Gothic UI"/>
              </a:rPr>
              <a:t>対象製品: Azure Data Box</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General Availability 2026/April</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https://azure.microsoft.com/updates/?id=559767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SQL 2026 年 3 月下旬のアップデート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2026 年 3 月下旬に Azure SQL に以下の更新が行われました</a:t>
            </a:r>
          </a:p>
          <a:p>
            <a:pPr lvl="1">
              <a:spcBef>
                <a:spcPts val="300"/>
              </a:spcBef>
            </a:pPr>
            <a:r>
              <a:rPr sz="1400" b="0">
                <a:solidFill>
                  <a:srgbClr val="333333"/>
                </a:solidFill>
                <a:latin typeface="Yu Gothic UI"/>
                <a:ea typeface="Yu Gothic UI"/>
              </a:rPr>
              <a:t>プロジェクト XML を編集せずに組み込み SQL コード分析ルールと重大度設定を構成可能に</a:t>
            </a:r>
          </a:p>
          <a:p>
            <a:pPr lvl="1">
              <a:spcBef>
                <a:spcPts val="300"/>
              </a:spcBef>
            </a:pPr>
            <a:r>
              <a:rPr sz="1400" b="0">
                <a:solidFill>
                  <a:srgbClr val="333333"/>
                </a:solidFill>
                <a:latin typeface="Yu Gothic UI"/>
                <a:ea typeface="Yu Gothic UI"/>
              </a:rPr>
              <a:t>MSSQL 拡張機能で Fabric 接続およびプロビジョニングオプションを使用して Fabric ワークスペースとデータベースに接続し、新しいデータベースの作成も可能に</a:t>
            </a:r>
          </a:p>
          <a:p>
            <a:pPr lvl="1">
              <a:spcBef>
                <a:spcPts val="300"/>
              </a:spcBef>
            </a:pPr>
            <a:r>
              <a:rPr sz="1400" b="0">
                <a:solidFill>
                  <a:srgbClr val="333333"/>
                </a:solidFill>
                <a:latin typeface="Yu Gothic UI"/>
                <a:ea typeface="Yu Gothic UI"/>
              </a:rPr>
              <a:t>MSSQL 拡張機能で Data-tier Application を使用して .dacpac および .bacpac ファイルのインポート/エクスポートが可能に</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2026/03/26</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https://azure.microsoft.com/updates/?id=558879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Microsoft Fabric での Cosmos DB ミラーリングがプライベートエンドポイントをサポート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Microsoft Fabric での Azure Cosmos DB ミラーリングのプライベートエンドポイントサポートが一般提供開始されました</a:t>
            </a:r>
          </a:p>
          <a:p>
            <a:pPr lvl="1">
              <a:spcBef>
                <a:spcPts val="300"/>
              </a:spcBef>
            </a:pPr>
            <a:r>
              <a:rPr sz="1400" b="0">
                <a:solidFill>
                  <a:srgbClr val="333333"/>
                </a:solidFill>
                <a:latin typeface="Yu Gothic UI"/>
                <a:ea typeface="Yu Gothic UI"/>
              </a:rPr>
              <a:t>ネットワークセキュリティ態勢を維持しながら、オペレーショナルデータに対する強力な分析が可能になります</a:t>
            </a:r>
          </a:p>
          <a:p>
            <a:pPr lvl="1">
              <a:spcBef>
                <a:spcPts val="300"/>
              </a:spcBef>
            </a:pPr>
            <a:r>
              <a:rPr sz="1400" b="0">
                <a:solidFill>
                  <a:srgbClr val="333333"/>
                </a:solidFill>
                <a:latin typeface="Yu Gothic UI"/>
                <a:ea typeface="Yu Gothic UI"/>
              </a:rPr>
              <a:t>仮想ネットワーク制限の構成、プライベートエンドポイントのセットアップにより、データが Fabric ワークスペースにレプリケートされる際もプライベートネットワーク境界内で保護されます</a:t>
            </a:r>
          </a:p>
          <a:p>
            <a:pPr lvl="1">
              <a:spcBef>
                <a:spcPts val="300"/>
              </a:spcBef>
            </a:pPr>
            <a:r>
              <a:rPr sz="1400" b="0">
                <a:solidFill>
                  <a:srgbClr val="333333"/>
                </a:solidFill>
                <a:latin typeface="Yu Gothic UI"/>
                <a:ea typeface="Yu Gothic UI"/>
              </a:rPr>
              <a:t>Azure Cosmos DB のネットワークアクセス制御リスト機能で特定の Fabric ワークスペース ID を信頼された接続として承認できます</a:t>
            </a:r>
          </a:p>
          <a:p>
            <a:pPr lvl="1">
              <a:spcBef>
                <a:spcPts val="300"/>
              </a:spcBef>
            </a:pPr>
            <a:r>
              <a:rPr sz="1400" b="0">
                <a:solidFill>
                  <a:srgbClr val="333333"/>
                </a:solidFill>
                <a:latin typeface="Yu Gothic UI"/>
                <a:ea typeface="Yu Gothic UI"/>
              </a:rPr>
              <a:t>規制業界や機密データを扱う組織でネットワーク分離が必要な場合に不可欠な機能です</a:t>
            </a:r>
          </a:p>
          <a:p>
            <a:pPr>
              <a:spcBef>
                <a:spcPts val="1400"/>
              </a:spcBef>
            </a:pPr>
            <a:r>
              <a:rPr sz="1300" b="1">
                <a:solidFill>
                  <a:srgbClr val="666666"/>
                </a:solidFill>
                <a:latin typeface="Yu Gothic UI"/>
                <a:ea typeface="Yu Gothic UI"/>
              </a:rPr>
              <a:t>対象製品: Azure Cosmos DB</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https://azure.microsoft.com/updates/?id=558836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オンライン移行で pgoutput プラグインを使用</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オンライン（最小ダウンタイム）移行で pgoutput を活用できるようになり、信頼性とパフォーマンスが向上</a:t>
            </a:r>
          </a:p>
          <a:p>
            <a:pPr lvl="1">
              <a:spcBef>
                <a:spcPts val="300"/>
              </a:spcBef>
            </a:pPr>
            <a:r>
              <a:rPr sz="1400" b="0">
                <a:solidFill>
                  <a:srgbClr val="333333"/>
                </a:solidFill>
                <a:latin typeface="Yu Gothic UI"/>
                <a:ea typeface="Yu Gothic UI"/>
              </a:rPr>
              <a:t>PostgreSQL のネイティブ論理レプリケーションフレームワークに準拠することで、最新の PostgreSQL デプロイとのエコシステム互換性が向上し、レガシーデコーディングメカニズムへの依存が削減される</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https://azure.microsoft.com/updates/?id=558846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PostgreSQL 移行サービスが Google AlloyDB から Azure Database for PostgreSQL への移行をサポート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Google AlloyDB が Azure Database for PostgreSQL への移行ソースとしてサポートされるようになった</a:t>
            </a:r>
          </a:p>
          <a:p>
            <a:pPr lvl="1">
              <a:spcBef>
                <a:spcPts val="300"/>
              </a:spcBef>
            </a:pPr>
            <a:r>
              <a:rPr sz="1400" b="0">
                <a:solidFill>
                  <a:srgbClr val="333333"/>
                </a:solidFill>
                <a:latin typeface="Yu Gothic UI"/>
                <a:ea typeface="Yu Gothic UI"/>
              </a:rPr>
              <a:t>最小ダウンタイムを実現するセキュアで信頼性の高いワークフローを使用し、Google AlloyDB から Azure へ PostgreSQL 資産を移行・統合できる</a:t>
            </a:r>
          </a:p>
          <a:p>
            <a:pPr lvl="1">
              <a:spcBef>
                <a:spcPts val="300"/>
              </a:spcBef>
            </a:pPr>
            <a:r>
              <a:rPr sz="1400" b="0">
                <a:solidFill>
                  <a:srgbClr val="333333"/>
                </a:solidFill>
                <a:latin typeface="Yu Gothic UI"/>
                <a:ea typeface="Yu Gothic UI"/>
              </a:rPr>
              <a:t>エンドツーエンドでネイティブ PostgreSQL 互換性を維持</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https://azure.microsoft.com/updates/?id=558851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PostgreSQL 移行サービスが EDB ワークロードから Azure Database for PostgreSQL への移行をサポート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EDB PostgreSQL が Azure Database for PostgreSQL への移行ソースとしてサポートされるようになった</a:t>
            </a:r>
          </a:p>
          <a:p>
            <a:pPr lvl="1">
              <a:spcBef>
                <a:spcPts val="300"/>
              </a:spcBef>
            </a:pPr>
            <a:r>
              <a:rPr sz="1400" b="0">
                <a:solidFill>
                  <a:srgbClr val="333333"/>
                </a:solidFill>
                <a:latin typeface="Yu Gothic UI"/>
                <a:ea typeface="Yu Gothic UI"/>
              </a:rPr>
              <a:t>最小ダウンタイムを実現するセキュアで信頼性の高いワークフローを使用し、EDB Postgres Extended Server から Azure へ PostgreSQL 資産を移行・統合できる</a:t>
            </a:r>
          </a:p>
          <a:p>
            <a:pPr lvl="1">
              <a:spcBef>
                <a:spcPts val="300"/>
              </a:spcBef>
            </a:pPr>
            <a:r>
              <a:rPr sz="1400" b="0">
                <a:solidFill>
                  <a:srgbClr val="333333"/>
                </a:solidFill>
                <a:latin typeface="Yu Gothic UI"/>
                <a:ea typeface="Yu Gothic UI"/>
              </a:rPr>
              <a:t>エンドツーエンドでネイティブ PostgreSQL 互換性を維持</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https://azure.microsoft.com/updates/?id=558865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Database for PostgreSQL で pg_cron のカスタムタイムゾーンサポート（cron.timezone）</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Database for PostgreSQL で cron.timezone サーバーパラメーターを変更可能に</a:t>
            </a:r>
          </a:p>
          <a:p>
            <a:pPr lvl="1">
              <a:spcBef>
                <a:spcPts val="300"/>
              </a:spcBef>
            </a:pPr>
            <a:r>
              <a:rPr sz="1400" b="0">
                <a:solidFill>
                  <a:srgbClr val="333333"/>
                </a:solidFill>
                <a:latin typeface="Yu Gothic UI"/>
                <a:ea typeface="Yu Gothic UI"/>
              </a:rPr>
              <a:t>pg_cron がスケジュールジョブを評価する際のタイムゾーンを制御でき、サーバーのデフォルト設定ではなく任意のタイムゾーンでジョブを実行できる</a:t>
            </a:r>
          </a:p>
          <a:p>
            <a:pPr lvl="1">
              <a:spcBef>
                <a:spcPts val="300"/>
              </a:spcBef>
            </a:pPr>
            <a:r>
              <a:rPr sz="1400" b="0">
                <a:solidFill>
                  <a:srgbClr val="333333"/>
                </a:solidFill>
                <a:latin typeface="Yu Gothic UI"/>
                <a:ea typeface="Yu Gothic UI"/>
              </a:rPr>
              <a:t>Azure portal、Azure CLI、Azure Resource Manager、REST API から設定変更可能で、新しくスケジュールされた pg_cron ジョブに適用される</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https://azure.microsoft.com/updates/?id=558870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SQL の2026年3月中旬アップデート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2026年3月中旬に Azure SQL に以下のアップデートと機能強化が実施された</a:t>
            </a:r>
          </a:p>
          <a:p>
            <a:pPr lvl="1">
              <a:spcBef>
                <a:spcPts val="300"/>
              </a:spcBef>
            </a:pPr>
            <a:r>
              <a:rPr sz="1400" b="0">
                <a:solidFill>
                  <a:srgbClr val="333333"/>
                </a:solidFill>
                <a:latin typeface="Yu Gothic UI"/>
                <a:ea typeface="Yu Gothic UI"/>
              </a:rPr>
              <a:t>Visual Studio Code から SQL データベースプロジェクトを直接発行し、デプロイワークフローを効率化</a:t>
            </a:r>
          </a:p>
          <a:p>
            <a:pPr lvl="1">
              <a:spcBef>
                <a:spcPts val="300"/>
              </a:spcBef>
            </a:pPr>
            <a:r>
              <a:rPr sz="1400" b="0">
                <a:solidFill>
                  <a:srgbClr val="333333"/>
                </a:solidFill>
                <a:latin typeface="Yu Gothic UI"/>
                <a:ea typeface="Yu Gothic UI"/>
              </a:rPr>
              <a:t>MSSQL 拡張機能でインタラクティブグリッドを使用して SQL テーブルデータを直接表示・編集</a:t>
            </a:r>
          </a:p>
          <a:p>
            <a:pPr lvl="1">
              <a:spcBef>
                <a:spcPts val="300"/>
              </a:spcBef>
            </a:pPr>
            <a:r>
              <a:rPr sz="1400" b="0">
                <a:solidFill>
                  <a:srgbClr val="333333"/>
                </a:solidFill>
                <a:latin typeface="Yu Gothic UI"/>
                <a:ea typeface="Yu Gothic UI"/>
              </a:rPr>
              <a:t>Azure SQL Database が透過的データ暗号化 (TDE) のバージョンレスキーをサポートし、暗号化キー管理がよりシンプルかつ信頼性の高い方式に</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https://azure.microsoft.com/updates/?id=558121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Databricks で Lakeflow Connect Free Tier が利用可能に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Databricks で Lakeflow Connect Free Tier が利用可能に</a:t>
            </a:r>
          </a:p>
          <a:p>
            <a:pPr lvl="1">
              <a:spcBef>
                <a:spcPts val="300"/>
              </a:spcBef>
            </a:pPr>
            <a:r>
              <a:rPr sz="1400" b="0">
                <a:solidFill>
                  <a:srgbClr val="333333"/>
                </a:solidFill>
                <a:latin typeface="Yu Gothic UI"/>
                <a:ea typeface="Yu Gothic UI"/>
              </a:rPr>
              <a:t>各ワークスペースに1日あたり100 DBU の無料インジェスション枠を提供し、SaaS アプリケーションやデータベースからのデータ取り込みが可能</a:t>
            </a:r>
          </a:p>
          <a:p>
            <a:pPr lvl="1">
              <a:spcBef>
                <a:spcPts val="300"/>
              </a:spcBef>
            </a:pPr>
            <a:r>
              <a:rPr sz="1400" b="0">
                <a:solidFill>
                  <a:srgbClr val="333333"/>
                </a:solidFill>
                <a:latin typeface="Yu Gothic UI"/>
                <a:ea typeface="Yu Gothic UI"/>
              </a:rPr>
              <a:t>1日あたり約1億レコードを無料で Lakehouse に取り込み可能で、それを超えると標準料金が適用される</a:t>
            </a:r>
          </a:p>
          <a:p>
            <a:pPr lvl="1">
              <a:spcBef>
                <a:spcPts val="300"/>
              </a:spcBef>
            </a:pPr>
            <a:r>
              <a:rPr sz="1400" b="0">
                <a:solidFill>
                  <a:srgbClr val="333333"/>
                </a:solidFill>
                <a:latin typeface="Yu Gothic UI"/>
                <a:ea typeface="Yu Gothic UI"/>
              </a:rPr>
              <a:t>Unity Catalog によるガバナンス、分析や AI アプリケーション（Genie 等）への活用が可能</a:t>
            </a:r>
          </a:p>
          <a:p>
            <a:pPr>
              <a:spcBef>
                <a:spcPts val="1400"/>
              </a:spcBef>
            </a:pPr>
            <a:r>
              <a:rPr sz="1300" b="1">
                <a:solidFill>
                  <a:srgbClr val="666666"/>
                </a:solidFill>
                <a:latin typeface="Yu Gothic UI"/>
                <a:ea typeface="Yu Gothic UI"/>
              </a:rPr>
              <a:t>対象製品: Azure Databricks</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https://azure.microsoft.com/updates/?id=558810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Foundry Agent Service</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次世代 Foundry Agent Service の一般提供開始を発表</a:t>
            </a:r>
          </a:p>
          <a:p>
            <a:pPr lvl="1">
              <a:spcBef>
                <a:spcPts val="300"/>
              </a:spcBef>
            </a:pPr>
            <a:r>
              <a:rPr sz="1400" b="0">
                <a:solidFill>
                  <a:srgbClr val="333333"/>
                </a:solidFill>
                <a:latin typeface="Yu Gothic UI"/>
                <a:ea typeface="Yu Gothic UI"/>
              </a:rPr>
              <a:t>再設計された API フォーマットとランタイム体験により、プロトタイプから本番環境への移行を自信を持って行えるエージェント構築・運用を支援</a:t>
            </a:r>
          </a:p>
          <a:p>
            <a:pPr lvl="1">
              <a:spcBef>
                <a:spcPts val="300"/>
              </a:spcBef>
            </a:pPr>
            <a:r>
              <a:rPr sz="1400" b="0">
                <a:solidFill>
                  <a:srgbClr val="333333"/>
                </a:solidFill>
                <a:latin typeface="Yu Gothic UI"/>
                <a:ea typeface="Yu Gothic UI"/>
              </a:rPr>
              <a:t>エンタープライズグレードの AI エージェントを設計段階からセキュアに、デフォルトで可観測性を確保する</a:t>
            </a:r>
          </a:p>
          <a:p>
            <a:pPr>
              <a:spcBef>
                <a:spcPts val="1400"/>
              </a:spcBef>
            </a:pPr>
            <a:r>
              <a:rPr sz="1300" b="1">
                <a:solidFill>
                  <a:srgbClr val="666666"/>
                </a:solidFill>
                <a:latin typeface="Yu Gothic UI"/>
                <a:ea typeface="Yu Gothic UI"/>
              </a:rPr>
              <a:t>対象製品: Microsoft Foundry</a:t>
            </a:r>
          </a:p>
          <a:p>
            <a:pPr>
              <a:spcBef>
                <a:spcPts val="200"/>
              </a:spcBef>
            </a:pPr>
            <a:r>
              <a:rPr sz="1300" b="0">
                <a:solidFill>
                  <a:srgbClr val="666666"/>
                </a:solidFill>
                <a:latin typeface="Yu Gothic UI"/>
                <a:ea typeface="Yu Gothic UI"/>
              </a:rPr>
              <a:t>作成日: 2026/03/17</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https://azure.microsoft.com/updates/?id=557141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Grafana による Azure Database for PostgreSQL ダッシュボード</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Database for PostgreSQL を Grafana ダッシュボードで監視可能に</a:t>
            </a:r>
          </a:p>
          <a:p>
            <a:pPr lvl="1">
              <a:spcBef>
                <a:spcPts val="300"/>
              </a:spcBef>
            </a:pPr>
            <a:r>
              <a:rPr sz="1400" b="0">
                <a:solidFill>
                  <a:srgbClr val="333333"/>
                </a:solidFill>
                <a:latin typeface="Yu Gothic UI"/>
                <a:ea typeface="Yu Gothic UI"/>
              </a:rPr>
              <a:t>Azure ポータルから直接、Azure Monitor とのネイティブ統合により構築済みダッシュボードを利用可能</a:t>
            </a:r>
          </a:p>
          <a:p>
            <a:pPr lvl="1">
              <a:spcBef>
                <a:spcPts val="300"/>
              </a:spcBef>
            </a:pPr>
            <a:r>
              <a:rPr sz="1400" b="0">
                <a:solidFill>
                  <a:srgbClr val="333333"/>
                </a:solidFill>
                <a:latin typeface="Yu Gothic UI"/>
                <a:ea typeface="Yu Gothic UI"/>
              </a:rPr>
              <a:t>CPU 使用率、ストレージ、アクティブ接続数、クエリスループット等のリアルタイムメトリクスを表示</a:t>
            </a:r>
          </a:p>
          <a:p>
            <a:pPr lvl="1">
              <a:spcBef>
                <a:spcPts val="300"/>
              </a:spcBef>
            </a:pPr>
            <a:r>
              <a:rPr sz="1400" b="0">
                <a:solidFill>
                  <a:srgbClr val="333333"/>
                </a:solidFill>
                <a:latin typeface="Yu Gothic UI"/>
                <a:ea typeface="Yu Gothic UI"/>
              </a:rPr>
              <a:t>PostgreSQL ログとの相関分析、Grafana Explore による詳細調査、ダッシュボードのカスタマイズとチーム間共有をサポート</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https://azure.microsoft.com/updates/?id=558140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NetApp Files のクールアクセス付きストレージの機能強化</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Premium および Ultra サービスレベルでクールアクセスを有効にした場合の QoS アップデートにより、Azure NetApp Files のホットワークロードとクールワークロードの混在環境におけるパフォーマンスとコストのバランスが改善されます</a:t>
            </a:r>
          </a:p>
          <a:p>
            <a:pPr lvl="1">
              <a:spcBef>
                <a:spcPts val="300"/>
              </a:spcBef>
            </a:pPr>
            <a:r>
              <a:rPr sz="1400" b="0">
                <a:solidFill>
                  <a:srgbClr val="333333"/>
                </a:solidFill>
                <a:latin typeface="Yu Gothic UI"/>
                <a:ea typeface="Yu Gothic UI"/>
              </a:rPr>
              <a:t>データがクールストレージに移動するとスループットが自動調整され、ホットティアのパフォーマンスを維持しながら大規模なクールアクセスのメリットを享受できます</a:t>
            </a:r>
          </a:p>
          <a:p>
            <a:pPr lvl="1">
              <a:spcBef>
                <a:spcPts val="300"/>
              </a:spcBef>
            </a:pPr>
            <a:r>
              <a:rPr sz="1400" b="0">
                <a:solidFill>
                  <a:srgbClr val="333333"/>
                </a:solidFill>
                <a:latin typeface="Yu Gothic UI"/>
                <a:ea typeface="Yu Gothic UI"/>
              </a:rPr>
              <a:t>手動チューニングなしでシームレスなエクスペリエンスを提供します</a:t>
            </a:r>
          </a:p>
          <a:p>
            <a:pPr>
              <a:spcBef>
                <a:spcPts val="1400"/>
              </a:spcBef>
            </a:pPr>
            <a:r>
              <a:rPr sz="1300" b="1">
                <a:solidFill>
                  <a:srgbClr val="666666"/>
                </a:solidFill>
                <a:latin typeface="Yu Gothic UI"/>
                <a:ea typeface="Yu Gothic UI"/>
              </a:rPr>
              <a:t>対象製品: Azure NetApp Files</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https://azure.microsoft.com/updates/?id=559504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Database for MySQL 向け Fabric Mirroring 統合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Database for MySQL - Flexible Server 向け Fabric Mirroring 統合のパブリックプレビューを発表</a:t>
            </a:r>
          </a:p>
          <a:p>
            <a:pPr lvl="1">
              <a:spcBef>
                <a:spcPts val="300"/>
              </a:spcBef>
            </a:pPr>
            <a:r>
              <a:rPr sz="1400" b="0">
                <a:solidFill>
                  <a:srgbClr val="333333"/>
                </a:solidFill>
                <a:latin typeface="Yu Gothic UI"/>
                <a:ea typeface="Yu Gothic UI"/>
              </a:rPr>
              <a:t>ETL パイプラインの構築・保守なしに、MySQL の運用データを Microsoft Fabric にほぼリアルタイムでレプリケーション可能</a:t>
            </a:r>
          </a:p>
          <a:p>
            <a:pPr lvl="1">
              <a:spcBef>
                <a:spcPts val="300"/>
              </a:spcBef>
            </a:pPr>
            <a:r>
              <a:rPr sz="1400" b="0">
                <a:solidFill>
                  <a:srgbClr val="333333"/>
                </a:solidFill>
                <a:latin typeface="Yu Gothic UI"/>
                <a:ea typeface="Yu Gothic UI"/>
              </a:rPr>
              <a:t>ミラーリングされたデータは OneLake に Delta Parquet 形式で格納され、Fabric の各分析エクスペリエンスで即座に利用できる</a:t>
            </a:r>
          </a:p>
          <a:p>
            <a:pPr>
              <a:spcBef>
                <a:spcPts val="1400"/>
              </a:spcBef>
            </a:pPr>
            <a:r>
              <a:rPr sz="1300" b="1">
                <a:solidFill>
                  <a:srgbClr val="666666"/>
                </a:solidFill>
                <a:latin typeface="Yu Gothic UI"/>
                <a:ea typeface="Yu Gothic UI"/>
              </a:rPr>
              <a:t>対象製品: Azure Database for MySQL</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https://azure.microsoft.com/updates/?id=558841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SQL Managed Instance の変更イベントストリーミング</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SQL Managed Instance から Azure Event Hubs へ、行レベルのデータ変更（挿入・更新・削除）をほぼリアルタイムでストリーミングできる変更イベントストリーミング（CES）が利用可能に</a:t>
            </a:r>
          </a:p>
          <a:p>
            <a:pPr lvl="1">
              <a:spcBef>
                <a:spcPts val="300"/>
              </a:spcBef>
            </a:pPr>
            <a:r>
              <a:rPr sz="1400" b="0">
                <a:solidFill>
                  <a:srgbClr val="333333"/>
                </a:solidFill>
                <a:latin typeface="Yu Gothic UI"/>
                <a:ea typeface="Yu Gothic UI"/>
              </a:rPr>
              <a:t>トランザクションのコミット時に変更を発行し、レイテンシを削減しつつワークロードへの運用オーバーヘッドを最小化</a:t>
            </a:r>
          </a:p>
          <a:p>
            <a:pPr lvl="1">
              <a:spcBef>
                <a:spcPts val="300"/>
              </a:spcBef>
            </a:pPr>
            <a:r>
              <a:rPr sz="1400" b="0">
                <a:solidFill>
                  <a:srgbClr val="333333"/>
                </a:solidFill>
                <a:latin typeface="Yu Gothic UI"/>
                <a:ea typeface="Yu Gothic UI"/>
              </a:rPr>
              <a:t>変更データキャプチャ、変更追跡、カスタムポーリング、外部コネクタが不要になり、リアルタイム統合を簡素化</a:t>
            </a:r>
          </a:p>
          <a:p>
            <a:pPr lvl="1">
              <a:spcBef>
                <a:spcPts val="300"/>
              </a:spcBef>
            </a:pPr>
            <a:r>
              <a:rPr sz="1400" b="0">
                <a:solidFill>
                  <a:srgbClr val="333333"/>
                </a:solidFill>
                <a:latin typeface="Yu Gothic UI"/>
                <a:ea typeface="Yu Gothic UI"/>
              </a:rPr>
              <a:t>イベントは CloudEvents 標準の構造化 JSON で発行され、単一ストリームから複数のダウンストリームコンシューマーにファンアウト可能</a:t>
            </a:r>
          </a:p>
          <a:p>
            <a:pPr>
              <a:spcBef>
                <a:spcPts val="1400"/>
              </a:spcBef>
            </a:pPr>
            <a:r>
              <a:rPr sz="1300" b="1">
                <a:solidFill>
                  <a:srgbClr val="666666"/>
                </a:solidFill>
                <a:latin typeface="Yu Gothic UI"/>
                <a:ea typeface="Yu Gothic UI"/>
              </a:rPr>
              <a:t>対象製品: Azure SQL Database, Azure SQL Managed Instance</a:t>
            </a:r>
          </a:p>
          <a:p>
            <a:pPr>
              <a:spcBef>
                <a:spcPts val="200"/>
              </a:spcBef>
            </a:pPr>
            <a:r>
              <a:rPr sz="1300" b="0">
                <a:solidFill>
                  <a:srgbClr val="666666"/>
                </a:solidFill>
                <a:latin typeface="Yu Gothic UI"/>
                <a:ea typeface="Yu Gothic UI"/>
              </a:rPr>
              <a:t>作成日: 2026/03/25</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https://azure.microsoft.com/updates/?id=558884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2026年3月中旬の Azure SQL アップデート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2026年3月中旬の Azure SQL アップデート: インデックスメンテナンスジョブなしでストレージ、I/O、メモリ消費を削減しパフォーマンスを向上する自動インデックスコンパクション</a:t>
            </a:r>
          </a:p>
          <a:p>
            <a:pPr lvl="1">
              <a:spcBef>
                <a:spcPts val="300"/>
              </a:spcBef>
            </a:pPr>
            <a:r>
              <a:rPr sz="1400" b="0">
                <a:solidFill>
                  <a:srgbClr val="333333"/>
                </a:solidFill>
                <a:latin typeface="Yu Gothic UI"/>
                <a:ea typeface="Yu Gothic UI"/>
              </a:rPr>
              <a:t>誤削除防止と自己復元のためのソフトデリート保持の構成</a:t>
            </a:r>
          </a:p>
          <a:p>
            <a:pPr lvl="1">
              <a:spcBef>
                <a:spcPts val="300"/>
              </a:spcBef>
            </a:pPr>
            <a:r>
              <a:rPr sz="1400" b="0">
                <a:solidFill>
                  <a:srgbClr val="333333"/>
                </a:solidFill>
                <a:latin typeface="Yu Gothic UI"/>
                <a:ea typeface="Yu Gothic UI"/>
              </a:rPr>
              <a:t>Azure SQL Database Hyperscale Premium シリーズが 160 および 192 vCore オプションで拡張（現行 128 vCore 制限から 25%・50% 増）</a:t>
            </a:r>
          </a:p>
          <a:p>
            <a:pPr lvl="1">
              <a:spcBef>
                <a:spcPts val="300"/>
              </a:spcBef>
            </a:pPr>
            <a:r>
              <a:rPr sz="1400" b="0">
                <a:solidFill>
                  <a:srgbClr val="333333"/>
                </a:solidFill>
                <a:latin typeface="Yu Gothic UI"/>
                <a:ea typeface="Yu Gothic UI"/>
              </a:rPr>
              <a:t>DiskANN によるベクトルインデックスとベクトル検索が大幅改善され、リアルタイム更新、統合フィルタリング、ベクトル量子化によるメモリ効率向上を実現し、RAG ワークロードに最適化</a:t>
            </a:r>
          </a:p>
          <a:p>
            <a:pPr>
              <a:spcBef>
                <a:spcPts val="1400"/>
              </a:spcBef>
            </a:pPr>
            <a:r>
              <a:rPr sz="1300" b="1">
                <a:solidFill>
                  <a:srgbClr val="666666"/>
                </a:solidFill>
                <a:latin typeface="Yu Gothic UI"/>
                <a:ea typeface="Yu Gothic UI"/>
              </a:rPr>
              <a:t>対象製品: Azure SQL Database, Azure SQL Managed Instance</a:t>
            </a:r>
          </a:p>
          <a:p>
            <a:pPr>
              <a:spcBef>
                <a:spcPts val="200"/>
              </a:spcBef>
            </a:pPr>
            <a:r>
              <a:rPr sz="1300" b="0">
                <a:solidFill>
                  <a:srgbClr val="666666"/>
                </a:solidFill>
                <a:latin typeface="Yu Gothic UI"/>
                <a:ea typeface="Yu Gothic UI"/>
              </a:rPr>
              <a:t>作成日: 2026/03/20</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https://azure.microsoft.com/updates/?id=558116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Azure Databricks OneLake カタログフェデレーション</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Databricks で OneLake カタログフェデレーションを有効化し、データのコピーや移動なしに Microsoft Fabric OneLake データをクエリ可能に</a:t>
            </a:r>
          </a:p>
          <a:p>
            <a:pPr lvl="1">
              <a:spcBef>
                <a:spcPts val="300"/>
              </a:spcBef>
            </a:pPr>
            <a:r>
              <a:rPr sz="1400" b="0">
                <a:solidFill>
                  <a:srgbClr val="333333"/>
                </a:solidFill>
                <a:latin typeface="Yu Gothic UI"/>
                <a:ea typeface="Yu Gothic UI"/>
              </a:rPr>
              <a:t>Unity Catalog を OneLake カタログに接続すると、スキーマとテーブルが自動同期され、Fabric Lakehouse アイテムが既存の Azure Databricks データ資産と並んで表示される</a:t>
            </a:r>
          </a:p>
          <a:p>
            <a:pPr lvl="1">
              <a:spcBef>
                <a:spcPts val="300"/>
              </a:spcBef>
            </a:pPr>
            <a:r>
              <a:rPr sz="1400" b="0">
                <a:solidFill>
                  <a:srgbClr val="333333"/>
                </a:solidFill>
                <a:latin typeface="Yu Gothic UI"/>
                <a:ea typeface="Yu Gothic UI"/>
              </a:rPr>
              <a:t>クエリは Azure Databricks コンピュートで実行しつつ OneLake のデータを読み取るゼロコピー体験を提供</a:t>
            </a:r>
          </a:p>
          <a:p>
            <a:pPr lvl="1">
              <a:spcBef>
                <a:spcPts val="300"/>
              </a:spcBef>
            </a:pPr>
            <a:r>
              <a:rPr sz="1400" b="0">
                <a:solidFill>
                  <a:srgbClr val="333333"/>
                </a:solidFill>
                <a:latin typeface="Yu Gothic UI"/>
                <a:ea typeface="Yu Gothic UI"/>
              </a:rPr>
              <a:t>データスプロールの削減、アーキテクチャの簡素化、一貫したガバナンスを実現</a:t>
            </a:r>
          </a:p>
          <a:p>
            <a:pPr>
              <a:spcBef>
                <a:spcPts val="1400"/>
              </a:spcBef>
            </a:pPr>
            <a:r>
              <a:rPr sz="1300" b="1">
                <a:solidFill>
                  <a:srgbClr val="666666"/>
                </a:solidFill>
                <a:latin typeface="Yu Gothic UI"/>
                <a:ea typeface="Yu Gothic UI"/>
              </a:rPr>
              <a:t>対象製品: Azure Databricks</a:t>
            </a:r>
          </a:p>
          <a:p>
            <a:pPr>
              <a:spcBef>
                <a:spcPts val="200"/>
              </a:spcBef>
            </a:pPr>
            <a:r>
              <a:rPr sz="1300" b="0">
                <a:solidFill>
                  <a:srgbClr val="666666"/>
                </a:solidFill>
                <a:latin typeface="Yu Gothic UI"/>
                <a:ea typeface="Yu Gothic UI"/>
              </a:rPr>
              <a:t>作成日: 2026/03/19</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https://azure.microsoft.com/updates/?id=558927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SQL MCP Server</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本番データベース向けの Model Context Protocol (MCP) コネクタである SQL MCP Server を発表</a:t>
            </a:r>
          </a:p>
          <a:p>
            <a:pPr lvl="1">
              <a:spcBef>
                <a:spcPts val="300"/>
              </a:spcBef>
            </a:pPr>
            <a:r>
              <a:rPr sz="1400" b="0">
                <a:solidFill>
                  <a:srgbClr val="333333"/>
                </a:solidFill>
                <a:latin typeface="Yu Gothic UI"/>
                <a:ea typeface="Yu Gothic UI"/>
              </a:rPr>
              <a:t>Data API Builder (DAB) の機能豊富なコンポーネントで、自然言語に依存せず、シンプルで予測可能かつセキュアな方法で AI エージェントをデータワークフローに統合可能</a:t>
            </a:r>
          </a:p>
          <a:p>
            <a:pPr lvl="1">
              <a:spcBef>
                <a:spcPts val="300"/>
              </a:spcBef>
            </a:pPr>
            <a:r>
              <a:rPr sz="1400" b="0">
                <a:solidFill>
                  <a:srgbClr val="333333"/>
                </a:solidFill>
                <a:latin typeface="Yu Gothic UI"/>
                <a:ea typeface="Yu Gothic UI"/>
              </a:rPr>
              <a:t>ローカル、オンプレミス、または任意のクラウドでコンテナ化サービスとして実行可能</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DevOps &amp; 開発者ツール（8件）</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DevOps 2026 年 3 月のアップデート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2026 年 3 月に Azure DevOps に以下の更新が行われました</a:t>
            </a:r>
          </a:p>
          <a:p>
            <a:pPr lvl="1">
              <a:spcBef>
                <a:spcPts val="300"/>
              </a:spcBef>
            </a:pPr>
            <a:r>
              <a:rPr sz="1400" b="0">
                <a:solidFill>
                  <a:srgbClr val="333333"/>
                </a:solidFill>
                <a:latin typeface="Yu Gothic UI"/>
                <a:ea typeface="Yu Gothic UI"/>
              </a:rPr>
              <a:t>Remote MCP Server がパブリックプレビューとして提供開始され、ローカルサーバーなしで Azure DevOps との AI 連携が可能になりました</a:t>
            </a:r>
          </a:p>
          <a:p>
            <a:pPr lvl="1">
              <a:spcBef>
                <a:spcPts val="300"/>
              </a:spcBef>
            </a:pPr>
            <a:r>
              <a:rPr sz="1400" b="0">
                <a:solidFill>
                  <a:srgbClr val="333333"/>
                </a:solidFill>
                <a:latin typeface="Yu Gothic UI"/>
                <a:ea typeface="Yu Gothic UI"/>
              </a:rPr>
              <a:t>セキュリティ面では、ブランチポリシーに統合される Advanced Security PR ステータスチェック、シークレットプッシュ保護バイパスとセキュリティ有効化変更の監査ログ強化、セキュリティ概要データの CSV エクスポートが追加されました</a:t>
            </a:r>
          </a:p>
          <a:p>
            <a:pPr lvl="1">
              <a:spcBef>
                <a:spcPts val="300"/>
              </a:spcBef>
            </a:pPr>
            <a:r>
              <a:rPr sz="1400" b="0">
                <a:solidFill>
                  <a:srgbClr val="333333"/>
                </a:solidFill>
                <a:latin typeface="Yu Gothic UI"/>
                <a:ea typeface="Yu Gothic UI"/>
              </a:rPr>
              <a:t>Azure Pipelines ではアーティファクト追跡によるデプロイ可視性の改善と、環境全体のデプロイ状況を把握できる新しい Stages ビューが導入されました</a:t>
            </a:r>
          </a:p>
          <a:p>
            <a:pPr lvl="1">
              <a:spcBef>
                <a:spcPts val="300"/>
              </a:spcBef>
            </a:pPr>
            <a:r>
              <a:rPr sz="1400" b="0">
                <a:solidFill>
                  <a:srgbClr val="333333"/>
                </a:solidFill>
                <a:latin typeface="Yu Gothic UI"/>
                <a:ea typeface="Yu Gothic UI"/>
              </a:rPr>
              <a:t>その他、PR 自動完了のデフォルト設定、簡略化されたカンバンボードビュー、テスト結果でのクロスプロジェクト作業項目リンク、継承プロセス上限の 256 への倍増などの改善が含まれます</a:t>
            </a:r>
          </a:p>
          <a:p>
            <a:pPr>
              <a:spcBef>
                <a:spcPts val="1400"/>
              </a:spcBef>
            </a:pPr>
            <a:r>
              <a:rPr sz="1300" b="1">
                <a:solidFill>
                  <a:srgbClr val="666666"/>
                </a:solidFill>
                <a:latin typeface="Yu Gothic UI"/>
                <a:ea typeface="Yu Gothic UI"/>
              </a:rPr>
              <a:t>対象製品: Azure DevOps</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https://azure.microsoft.com/updates/?id=559660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SQL Server Management Studio 22 での GitHub Copilot</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GitHub Copilot が SQL Server Management Studio (SSMS) 22 で一般提供開始</a:t>
            </a:r>
          </a:p>
          <a:p>
            <a:pPr lvl="1">
              <a:spcBef>
                <a:spcPts val="300"/>
              </a:spcBef>
            </a:pPr>
            <a:r>
              <a:rPr sz="1400" b="0">
                <a:solidFill>
                  <a:srgbClr val="333333"/>
                </a:solidFill>
                <a:latin typeface="Yu Gothic UI"/>
                <a:ea typeface="Yu Gothic UI"/>
              </a:rPr>
              <a:t>AI を活用した支援機能が日常的に使用するアプリケーションに直接統合された</a:t>
            </a:r>
          </a:p>
          <a:p>
            <a:pPr lvl="1">
              <a:spcBef>
                <a:spcPts val="300"/>
              </a:spcBef>
            </a:pPr>
            <a:r>
              <a:rPr sz="1400" b="0">
                <a:solidFill>
                  <a:srgbClr val="333333"/>
                </a:solidFill>
                <a:latin typeface="Yu Gothic UI"/>
                <a:ea typeface="Yu Gothic UI"/>
              </a:rPr>
              <a:t>自然言語を使用して T-SQL の開発、説明、修正、最適化やクエリのトラブルシューティング、データベース理解が可能</a:t>
            </a:r>
          </a:p>
          <a:p>
            <a:pPr lvl="1">
              <a:spcBef>
                <a:spcPts val="300"/>
              </a:spcBef>
            </a:pPr>
            <a:r>
              <a:rPr sz="1400" b="0">
                <a:solidFill>
                  <a:srgbClr val="333333"/>
                </a:solidFill>
                <a:latin typeface="Yu Gothic UI"/>
                <a:ea typeface="Yu Gothic UI"/>
              </a:rPr>
              <a:t>クエリエディターでのインテリジェントなコード補完、ビジネスルールを説明するデータベースインストラクション、接続コンテキストに基づくデータベース固有のガイダンスを提供</a:t>
            </a:r>
          </a:p>
          <a:p>
            <a:pPr lvl="1">
              <a:spcBef>
                <a:spcPts val="300"/>
              </a:spcBef>
            </a:pPr>
            <a:r>
              <a:rPr sz="1400" b="0">
                <a:solidFill>
                  <a:srgbClr val="333333"/>
                </a:solidFill>
                <a:latin typeface="Yu Gothic UI"/>
                <a:ea typeface="Yu Gothic UI"/>
              </a:rPr>
              <a:t>Visual Studio や Visual Studio Code と同じサブスクリプションで一貫した AI 体験を実現</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https://azure.microsoft.com/updates/?id=558134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Database for PostgreSQL エラスティッククラスターの Terraform、Bicep、Ansible 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Database for PostgreSQL のエラスティッククラスターを Terraform、Bicep、Ansible で完全にサポート</a:t>
            </a:r>
          </a:p>
          <a:p>
            <a:pPr lvl="1">
              <a:spcBef>
                <a:spcPts val="300"/>
              </a:spcBef>
            </a:pPr>
            <a:r>
              <a:rPr sz="1400" b="0">
                <a:solidFill>
                  <a:srgbClr val="333333"/>
                </a:solidFill>
                <a:latin typeface="Yu Gothic UI"/>
                <a:ea typeface="Yu Gothic UI"/>
              </a:rPr>
              <a:t>Infrastructure as Code によるエラスティッククラスターの一貫した作成、スケーリング、管理が可能</a:t>
            </a:r>
          </a:p>
          <a:p>
            <a:pPr lvl="1">
              <a:spcBef>
                <a:spcPts val="300"/>
              </a:spcBef>
            </a:pPr>
            <a:r>
              <a:rPr sz="1400" b="0">
                <a:solidFill>
                  <a:srgbClr val="333333"/>
                </a:solidFill>
                <a:latin typeface="Yu Gothic UI"/>
                <a:ea typeface="Yu Gothic UI"/>
              </a:rPr>
              <a:t>マルチテナントや水平スケーラブルな PostgreSQL ワークロードに最適</a:t>
            </a:r>
          </a:p>
          <a:p>
            <a:pPr lvl="1">
              <a:spcBef>
                <a:spcPts val="300"/>
              </a:spcBef>
            </a:pPr>
            <a:r>
              <a:rPr sz="1400" b="0">
                <a:solidFill>
                  <a:srgbClr val="333333"/>
                </a:solidFill>
                <a:latin typeface="Yu Gothic UI"/>
                <a:ea typeface="Yu Gothic UI"/>
              </a:rPr>
              <a:t>インフラ定義の標準化、環境の複製簡素化、CI/CD およびガバナンスプロセスへのシームレスな統合を実現</a:t>
            </a:r>
          </a:p>
          <a:p>
            <a:pPr>
              <a:spcBef>
                <a:spcPts val="1400"/>
              </a:spcBef>
            </a:pPr>
            <a:r>
              <a:rPr sz="1300" b="1">
                <a:solidFill>
                  <a:srgbClr val="666666"/>
                </a:solidFill>
                <a:latin typeface="Yu Gothic UI"/>
                <a:ea typeface="Yu Gothic UI"/>
              </a:rPr>
              <a:t>対象製品: Azure Database for PostgreSQL</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https://azure.microsoft.com/updates/?id=558145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App Configuration と Azure Front Door によるクライアントサイド構成の大規模配信</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App Configuration と Azure Front Door の統合により、動的構成をクライアントサイドアプリケーションに安全かつ CDN スケールで直接配信できるようになりました</a:t>
            </a:r>
          </a:p>
          <a:p>
            <a:pPr lvl="1">
              <a:spcBef>
                <a:spcPts val="300"/>
              </a:spcBef>
            </a:pPr>
            <a:r>
              <a:rPr sz="1400" b="0">
                <a:solidFill>
                  <a:srgbClr val="333333"/>
                </a:solidFill>
                <a:latin typeface="Yu Gothic UI"/>
                <a:ea typeface="Yu Gothic UI"/>
              </a:rPr>
              <a:t>SPA（React、Vue、Angular、Next.js 等）、.NET MAUI モバイル/デスクトップアプリ、ブラウザベースの JavaScript アプリケーションなどに対応します</a:t>
            </a:r>
          </a:p>
          <a:p>
            <a:pPr lvl="1">
              <a:spcBef>
                <a:spcPts val="300"/>
              </a:spcBef>
            </a:pPr>
            <a:r>
              <a:rPr sz="1400" b="0">
                <a:solidFill>
                  <a:srgbClr val="333333"/>
                </a:solidFill>
                <a:latin typeface="Yu Gothic UI"/>
                <a:ea typeface="Yu Gothic UI"/>
              </a:rPr>
              <a:t>主な利点: 再デプロイなしでの即時更新（フィーチャーフラグや設定を一元変更しリアルタイムで反映）、Azure Front Door による低遅延の CDN 配信、マネージド ID によるセキュアな設計（クライアントにシークレットを配布しない）、カスタムプロキシレイヤー不要のシンプルなアーキテクチャ</a:t>
            </a:r>
          </a:p>
          <a:p>
            <a:pPr>
              <a:spcBef>
                <a:spcPts val="1400"/>
              </a:spcBef>
            </a:pPr>
            <a:r>
              <a:rPr sz="1300" b="1">
                <a:solidFill>
                  <a:srgbClr val="666666"/>
                </a:solidFill>
                <a:latin typeface="Yu Gothic UI"/>
                <a:ea typeface="Yu Gothic UI"/>
              </a:rPr>
              <a:t>対象製品: App Configuration</a:t>
            </a:r>
          </a:p>
          <a:p>
            <a:pPr>
              <a:spcBef>
                <a:spcPts val="200"/>
              </a:spcBef>
            </a:pPr>
            <a:r>
              <a:rPr sz="1300" b="0">
                <a:solidFill>
                  <a:srgbClr val="666666"/>
                </a:solidFill>
                <a:latin typeface="Yu Gothic UI"/>
                <a:ea typeface="Yu Gothic UI"/>
              </a:rPr>
              <a:t>作成日: 2026/04/01</a:t>
            </a:r>
          </a:p>
          <a:p>
            <a:pPr>
              <a:spcBef>
                <a:spcPts val="200"/>
              </a:spcBef>
            </a:pPr>
            <a:r>
              <a:rPr sz="1300" b="0">
                <a:solidFill>
                  <a:srgbClr val="666666"/>
                </a:solidFill>
                <a:latin typeface="Yu Gothic UI"/>
                <a:ea typeface="Yu Gothic UI"/>
              </a:rPr>
              <a:t>可用性: Preview 2025/November</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https://azure.microsoft.com/updates/?id=537234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SQL プロジェクトによる SSMS での Database DevOps</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スキーマをコードとして管理する Database DevOps ワークフローが SSMS で利用可能に</a:t>
            </a:r>
          </a:p>
          <a:p>
            <a:pPr lvl="1">
              <a:spcBef>
                <a:spcPts val="300"/>
              </a:spcBef>
            </a:pPr>
            <a:r>
              <a:rPr sz="1400" b="0">
                <a:solidFill>
                  <a:srgbClr val="333333"/>
                </a:solidFill>
                <a:latin typeface="Yu Gothic UI"/>
                <a:ea typeface="Yu Gothic UI"/>
              </a:rPr>
              <a:t>SQL データベースプロジェクトにより、スキーマのソース管理、各環境への信頼性の高いデプロイ、コード品質チェックの統合を SSMS 内で実施可能</a:t>
            </a:r>
          </a:p>
          <a:p>
            <a:pPr lvl="1">
              <a:spcBef>
                <a:spcPts val="300"/>
              </a:spcBef>
            </a:pPr>
            <a:r>
              <a:rPr sz="1400" b="0">
                <a:solidFill>
                  <a:srgbClr val="333333"/>
                </a:solidFill>
                <a:latin typeface="Yu Gothic UI"/>
                <a:ea typeface="Yu Gothic UI"/>
              </a:rPr>
              <a:t>Microsoft.Build.Sql SDK スタイルのプロジェクトにより Visual Studio Code の SQL プロジェクトと一貫した体験を提供</a:t>
            </a:r>
          </a:p>
          <a:p>
            <a:pPr lvl="1">
              <a:spcBef>
                <a:spcPts val="300"/>
              </a:spcBef>
            </a:pPr>
            <a:r>
              <a:rPr sz="1400" b="0">
                <a:solidFill>
                  <a:srgbClr val="333333"/>
                </a:solidFill>
                <a:latin typeface="Yu Gothic UI"/>
                <a:ea typeface="Yu Gothic UI"/>
              </a:rPr>
              <a:t>CI/CD ワークフローやガバナンスプロセスへのシームレスな統合が可能</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https://azure.microsoft.com/updates/?id=558155</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MSSQL 拡張機能の Schema Designer における GitHub Copilot 統合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Visual Studio Code の MSSQL 拡張機能に Schema Designer への GitHub Copilot 統合がパブリックプレビューとして追加</a:t>
            </a:r>
          </a:p>
          <a:p>
            <a:pPr lvl="1">
              <a:spcBef>
                <a:spcPts val="300"/>
              </a:spcBef>
            </a:pPr>
            <a:r>
              <a:rPr sz="1400" b="0">
                <a:solidFill>
                  <a:srgbClr val="333333"/>
                </a:solidFill>
                <a:latin typeface="Yu Gothic UI"/>
                <a:ea typeface="Yu Gothic UI"/>
              </a:rPr>
              <a:t>自然言語を使用してデータベーススキーマの理解、設計、変更が可能</a:t>
            </a:r>
          </a:p>
          <a:p>
            <a:pPr lvl="1">
              <a:spcBef>
                <a:spcPts val="300"/>
              </a:spcBef>
            </a:pPr>
            <a:r>
              <a:rPr sz="1400" b="0">
                <a:solidFill>
                  <a:srgbClr val="333333"/>
                </a:solidFill>
                <a:latin typeface="Yu Gothic UI"/>
                <a:ea typeface="Yu Gothic UI"/>
              </a:rPr>
              <a:t>各スキーマ変更は視覚的にプレビューされ、色分けされた Change Tracking パネルで Add (A)、Modify (M)、Delete (D) のラベルで追跡</a:t>
            </a:r>
          </a:p>
          <a:p>
            <a:pPr lvl="1">
              <a:spcBef>
                <a:spcPts val="300"/>
              </a:spcBef>
            </a:pPr>
            <a:r>
              <a:rPr sz="1400" b="0">
                <a:solidFill>
                  <a:srgbClr val="333333"/>
                </a:solidFill>
                <a:latin typeface="Yu Gothic UI"/>
                <a:ea typeface="Yu Gothic UI"/>
              </a:rPr>
              <a:t>元に戻す・やり直し機能を備えた安全なイテレーションが可能</a:t>
            </a:r>
          </a:p>
          <a:p>
            <a:pPr lvl="1">
              <a:spcBef>
                <a:spcPts val="300"/>
              </a:spcBef>
            </a:pPr>
            <a:r>
              <a:rPr sz="1400" b="0">
                <a:solidFill>
                  <a:srgbClr val="333333"/>
                </a:solidFill>
                <a:latin typeface="Yu Gothic UI"/>
                <a:ea typeface="Yu Gothic UI"/>
              </a:rPr>
              <a:t>Data API Builder のパブリックプレビューと組み合わせることで、データベース設計からバックエンド API まで数分で構築可能</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https://azure.microsoft.com/updates/?id=558169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MSSQL 拡張機能における GitHub Copilot 組み込みの Data API Builder</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Visual Studio Code の MSSQL 拡張機能で Data API Builder がパブリックプレビューとして利用可能になり、GitHub Copilot 統合によるガイド付きバックエンド生成体験を提供</a:t>
            </a:r>
          </a:p>
          <a:p>
            <a:pPr lvl="1">
              <a:spcBef>
                <a:spcPts val="300"/>
              </a:spcBef>
            </a:pPr>
            <a:r>
              <a:rPr sz="1400" b="0">
                <a:solidFill>
                  <a:srgbClr val="333333"/>
                </a:solidFill>
                <a:latin typeface="Yu Gothic UI"/>
                <a:ea typeface="Yu Gothic UI"/>
              </a:rPr>
              <a:t>SQL データベーススキーマから REST、GraphQL、MCP エンドポイントを Visual Studio Code 内で生成可能</a:t>
            </a:r>
          </a:p>
          <a:p>
            <a:pPr lvl="1">
              <a:spcBef>
                <a:spcPts val="300"/>
              </a:spcBef>
            </a:pPr>
            <a:r>
              <a:rPr sz="1400" b="0">
                <a:solidFill>
                  <a:srgbClr val="333333"/>
                </a:solidFill>
                <a:latin typeface="Yu Gothic UI"/>
                <a:ea typeface="Yu Gothic UI"/>
              </a:rPr>
              <a:t>テーブル選択、CRUD 操作定義、認可ロールやプライマリキーなどのエンティティ設定を API デザインインターフェースで構成</a:t>
            </a:r>
          </a:p>
          <a:p>
            <a:pPr lvl="1">
              <a:spcBef>
                <a:spcPts val="300"/>
              </a:spcBef>
            </a:pPr>
            <a:r>
              <a:rPr sz="1400" b="0">
                <a:solidFill>
                  <a:srgbClr val="333333"/>
                </a:solidFill>
                <a:latin typeface="Yu Gothic UI"/>
                <a:ea typeface="Yu Gothic UI"/>
              </a:rPr>
              <a:t>ローカル Data API Builder コンテナの自動プロビジョニングと実行をサポート</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https://azure.microsoft.com/updates/?id=558178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パブリックプレビュー: Visual Studio Code 用 MSSQL 拡張機能の Query Profiler</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Visual Studio Code 用 MSSQL 拡張機能に Query Profiler がパブリックプレビューとして追加</a:t>
            </a:r>
          </a:p>
          <a:p>
            <a:pPr lvl="1">
              <a:spcBef>
                <a:spcPts val="300"/>
              </a:spcBef>
            </a:pPr>
            <a:r>
              <a:rPr sz="1400" b="0">
                <a:solidFill>
                  <a:srgbClr val="333333"/>
                </a:solidFill>
                <a:latin typeface="Yu Gothic UI"/>
                <a:ea typeface="Yu Gothic UI"/>
              </a:rPr>
              <a:t>リアルタイムでデータベースアクティビティを把握し、遅い操作やパフォーマンスボトルネックを迅速に特定可能</a:t>
            </a:r>
          </a:p>
          <a:p>
            <a:pPr lvl="1">
              <a:spcBef>
                <a:spcPts val="300"/>
              </a:spcBef>
            </a:pPr>
            <a:r>
              <a:rPr sz="1400" b="0">
                <a:solidFill>
                  <a:srgbClr val="333333"/>
                </a:solidFill>
                <a:latin typeface="Yu Gothic UI"/>
                <a:ea typeface="Yu Gothic UI"/>
              </a:rPr>
              <a:t>Extended Events を活用した低オーバーヘッドのパフォーマンス監視で、SQL Server（オンプレミス/クラウド）と Azure SQL Database をサポート</a:t>
            </a:r>
          </a:p>
          <a:p>
            <a:pPr lvl="1">
              <a:spcBef>
                <a:spcPts val="300"/>
              </a:spcBef>
            </a:pPr>
            <a:r>
              <a:rPr sz="1400" b="0">
                <a:solidFill>
                  <a:srgbClr val="333333"/>
                </a:solidFill>
                <a:latin typeface="Yu Gothic UI"/>
                <a:ea typeface="Yu Gothic UI"/>
              </a:rPr>
              <a:t>エディターと監視ツールの切り替え不要で、開発者向けのプロファイリング体験を提供</a:t>
            </a:r>
          </a:p>
          <a:p>
            <a:pPr>
              <a:spcBef>
                <a:spcPts val="1400"/>
              </a:spcBef>
            </a:pPr>
            <a:r>
              <a:rPr sz="1300" b="1">
                <a:solidFill>
                  <a:srgbClr val="666666"/>
                </a:solidFill>
                <a:latin typeface="Yu Gothic UI"/>
                <a:ea typeface="Yu Gothic UI"/>
              </a:rPr>
              <a:t>対象製品: Azure SQL Database</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https://azure.microsoft.com/updates/?id=558164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管理 &amp; ガバナンス（8件）</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廃止予定: Azure Monitor マネージドサービス for Prometheus のリモート書き込み用サイドカーの廃止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 年 3 月 31 日に、Azure Monitor は Prometheus メトリクスを Azure Monitor Workspace にリモート書き込みするためのサイドカーを廃止します</a:t>
            </a:r>
          </a:p>
          <a:p>
            <a:pPr lvl="1">
              <a:spcBef>
                <a:spcPts val="300"/>
              </a:spcBef>
            </a:pPr>
            <a:r>
              <a:rPr sz="1400" b="0">
                <a:solidFill>
                  <a:srgbClr val="333333"/>
                </a:solidFill>
                <a:latin typeface="Yu Gothic UI"/>
                <a:ea typeface="Yu Gothic UI"/>
              </a:rPr>
              <a:t>信頼性向上と複雑さ軽減の取り組みの一環です</a:t>
            </a:r>
          </a:p>
          <a:p>
            <a:pPr lvl="1">
              <a:spcBef>
                <a:spcPts val="300"/>
              </a:spcBef>
            </a:pPr>
            <a:r>
              <a:rPr sz="1400" b="0">
                <a:solidFill>
                  <a:srgbClr val="333333"/>
                </a:solidFill>
                <a:latin typeface="Yu Gothic UI"/>
                <a:ea typeface="Yu Gothic UI"/>
              </a:rPr>
              <a:t>セルフホスト Prometheus または Prometheus Operator を Azure Monitor Workspace に直接リモート書き込みするよう構成することを推奨します</a:t>
            </a:r>
          </a:p>
          <a:p>
            <a:pPr lvl="1">
              <a:spcBef>
                <a:spcPts val="300"/>
              </a:spcBef>
            </a:pPr>
            <a:r>
              <a:rPr sz="1400" b="0">
                <a:solidFill>
                  <a:srgbClr val="333333"/>
                </a:solidFill>
                <a:latin typeface="Yu Gothic UI"/>
                <a:ea typeface="Yu Gothic UI"/>
              </a:rPr>
              <a:t>すべての認証方法がサポートされており、Prometheus Operator と完全互換です</a:t>
            </a:r>
          </a:p>
          <a:p>
            <a:pPr lvl="1">
              <a:spcBef>
                <a:spcPts val="300"/>
              </a:spcBef>
            </a:pPr>
            <a:r>
              <a:rPr sz="1400" b="0">
                <a:solidFill>
                  <a:srgbClr val="333333"/>
                </a:solidFill>
                <a:latin typeface="Yu Gothic UI"/>
                <a:ea typeface="Yu Gothic UI"/>
              </a:rPr>
              <a:t>サイドカーが不要になりセットアップが簡素化されるため、早期の移行を推奨します</a:t>
            </a:r>
          </a:p>
          <a:p>
            <a:pPr>
              <a:spcBef>
                <a:spcPts val="1400"/>
              </a:spcBef>
            </a:pPr>
            <a:r>
              <a:rPr sz="1300" b="1">
                <a:solidFill>
                  <a:srgbClr val="666666"/>
                </a:solidFill>
                <a:latin typeface="Yu Gothic UI"/>
                <a:ea typeface="Yu Gothic UI"/>
              </a:rPr>
              <a:t>対象製品: Azure Kubernetes Service (AKS), Azure Monitor</a:t>
            </a:r>
          </a:p>
          <a:p>
            <a:pPr>
              <a:spcBef>
                <a:spcPts val="200"/>
              </a:spcBef>
            </a:pPr>
            <a:r>
              <a:rPr sz="1300" b="0">
                <a:solidFill>
                  <a:srgbClr val="666666"/>
                </a:solidFill>
                <a:latin typeface="Yu Gothic UI"/>
                <a:ea typeface="Yu Gothic UI"/>
              </a:rPr>
              <a:t>作成日: 2026/03/30</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https://azure.microsoft.com/updates/?id=550519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向け Emissions Impact Dashboard</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2027年3月31日をもって、Power BI でホストされている Azure 向け Emissions Impact Dashboard が廃止</a:t>
            </a:r>
          </a:p>
          <a:p>
            <a:pPr lvl="1">
              <a:spcBef>
                <a:spcPts val="300"/>
              </a:spcBef>
            </a:pPr>
            <a:r>
              <a:rPr sz="1400" b="0">
                <a:solidFill>
                  <a:srgbClr val="333333"/>
                </a:solidFill>
                <a:latin typeface="Yu Gothic UI"/>
                <a:ea typeface="Yu Gothic UI"/>
              </a:rPr>
              <a:t>廃止後はダッシュボードにアクセスできなくなり、テクニカルサポートも終了</a:t>
            </a:r>
          </a:p>
          <a:p>
            <a:pPr lvl="1">
              <a:spcBef>
                <a:spcPts val="300"/>
              </a:spcBef>
            </a:pPr>
            <a:r>
              <a:rPr sz="1400" b="0">
                <a:solidFill>
                  <a:srgbClr val="333333"/>
                </a:solidFill>
                <a:latin typeface="Yu Gothic UI"/>
                <a:ea typeface="Yu Gothic UI"/>
              </a:rPr>
              <a:t>排出量データのエクスポートによる履歴レポートの保持を推奨</a:t>
            </a:r>
          </a:p>
          <a:p>
            <a:pPr lvl="1">
              <a:spcBef>
                <a:spcPts val="300"/>
              </a:spcBef>
            </a:pPr>
            <a:r>
              <a:rPr sz="1400" b="0">
                <a:solidFill>
                  <a:srgbClr val="333333"/>
                </a:solidFill>
                <a:latin typeface="Yu Gothic UI"/>
                <a:ea typeface="Yu Gothic UI"/>
              </a:rPr>
              <a:t>代替ソリューションとして Azure Carbon Optimizer の検討を推奨</a:t>
            </a:r>
          </a:p>
          <a:p>
            <a:pPr>
              <a:spcBef>
                <a:spcPts val="200"/>
              </a:spcBef>
            </a:pPr>
            <a:r>
              <a:rPr sz="1300" b="0">
                <a:solidFill>
                  <a:srgbClr val="666666"/>
                </a:solidFill>
                <a:latin typeface="Yu Gothic UI"/>
                <a:ea typeface="Yu Gothic UI"/>
              </a:rPr>
              <a:t>作成日: 2026/03/18</a:t>
            </a:r>
          </a:p>
          <a:p>
            <a:pPr>
              <a:spcBef>
                <a:spcPts val="200"/>
              </a:spcBef>
            </a:pPr>
            <a:r>
              <a:rPr sz="1300" b="0">
                <a:solidFill>
                  <a:srgbClr val="666666"/>
                </a:solidFill>
                <a:latin typeface="Yu Gothic UI"/>
                <a:ea typeface="Yu Gothic UI"/>
              </a:rPr>
              <a:t>可用性: Retirement 2027/March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https://azure.microsoft.com/updates/?id=558278</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Microsoft Azure がデンマークの新クラウドリージョンで利用可能に</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Microsoft がデンマークにクラウドリージョンを開設し、デジタルトランスフォーメーションと AI イノベーションを加速します</a:t>
            </a:r>
          </a:p>
          <a:p>
            <a:pPr lvl="1">
              <a:spcBef>
                <a:spcPts val="300"/>
              </a:spcBef>
            </a:pPr>
            <a:r>
              <a:rPr sz="1400" b="0">
                <a:solidFill>
                  <a:srgbClr val="333333"/>
                </a:solidFill>
                <a:latin typeface="Yu Gothic UI"/>
                <a:ea typeface="Yu Gothic UI"/>
              </a:rPr>
              <a:t>Denmark East リージョンにより、デンマークのお客様にローカルで安全なクラウドインフラストラクチャが提供され、ローカルデータレジデンシー、低遅延、高度なクラウドおよび AI サービスへのアクセスをサポートします</a:t>
            </a:r>
          </a:p>
          <a:p>
            <a:pPr lvl="1">
              <a:spcBef>
                <a:spcPts val="300"/>
              </a:spcBef>
            </a:pPr>
            <a:r>
              <a:rPr sz="1400" b="0">
                <a:solidFill>
                  <a:srgbClr val="333333"/>
                </a:solidFill>
                <a:latin typeface="Yu Gothic UI"/>
                <a:ea typeface="Yu Gothic UI"/>
              </a:rPr>
              <a:t>新リージョンと可用性ゾーンの活用に向けて、Azure Resource Mover による複数リソースのリージョンポータビリティも提供されます</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https://azure.microsoft.com/updates/?id=559406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一般提供開始: Azure Arc 対応 Kubernetes 向け Azure Monitor Prometheus コミュニティ推奨アラート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Monitor が Azure Arc 対応 Kubernetes クラスター向けに、Azure Portal からワンクリックで Prometheus 推奨アラートを有効化可能に</a:t>
            </a:r>
          </a:p>
          <a:p>
            <a:pPr lvl="1">
              <a:spcBef>
                <a:spcPts val="300"/>
              </a:spcBef>
            </a:pPr>
            <a:r>
              <a:rPr sz="1400" b="0">
                <a:solidFill>
                  <a:srgbClr val="333333"/>
                </a:solidFill>
                <a:latin typeface="Yu Gothic UI"/>
                <a:ea typeface="Yu Gothic UI"/>
              </a:rPr>
              <a:t>拡張された Prometheus コミュニティルールに基づき、クラスター、ノード、Pod レベルで包括的なカバレッジを提供</a:t>
            </a:r>
          </a:p>
          <a:p>
            <a:pPr lvl="1">
              <a:spcBef>
                <a:spcPts val="300"/>
              </a:spcBef>
            </a:pPr>
            <a:r>
              <a:rPr sz="1400" b="0">
                <a:solidFill>
                  <a:srgbClr val="333333"/>
                </a:solidFill>
                <a:latin typeface="Yu Gothic UI"/>
                <a:ea typeface="Yu Gothic UI"/>
              </a:rPr>
              <a:t>以前は手動でのテンプレートダウンロードと CLI デプロイが必要だったものを簡素化</a:t>
            </a:r>
          </a:p>
          <a:p>
            <a:pPr lvl="1">
              <a:spcBef>
                <a:spcPts val="300"/>
              </a:spcBef>
            </a:pPr>
            <a:r>
              <a:rPr sz="1400" b="0">
                <a:solidFill>
                  <a:srgbClr val="333333"/>
                </a:solidFill>
                <a:latin typeface="Yu Gothic UI"/>
                <a:ea typeface="Yu Gothic UI"/>
              </a:rPr>
              <a:t>レガシーの Container insights 推奨アラート（カスタムメトリクス）（プレビュー）の後継として機能</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https://azure.microsoft.com/updates/?id=558825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Log Analytics ワークスペースのサマリールールで手動「Retry bin」をサポート</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Log Analytics ワークスペースのサマリールールで手動「Retry bin」が一般提供開始</a:t>
            </a:r>
          </a:p>
          <a:p>
            <a:pPr lvl="1">
              <a:spcBef>
                <a:spcPts val="300"/>
              </a:spcBef>
            </a:pPr>
            <a:r>
              <a:rPr sz="1400" b="0">
                <a:solidFill>
                  <a:srgbClr val="333333"/>
                </a:solidFill>
                <a:latin typeface="Yu Gothic UI"/>
                <a:ea typeface="Yu Gothic UI"/>
              </a:rPr>
              <a:t>サマリールールはバッチ集計を実行し、結果をカスタムテーブルに再取り込みする</a:t>
            </a:r>
          </a:p>
          <a:p>
            <a:pPr lvl="1">
              <a:spcBef>
                <a:spcPts val="300"/>
              </a:spcBef>
            </a:pPr>
            <a:r>
              <a:rPr sz="1400" b="0">
                <a:solidFill>
                  <a:srgbClr val="333333"/>
                </a:solidFill>
                <a:latin typeface="Yu Gothic UI"/>
                <a:ea typeface="Yu Gothic UI"/>
              </a:rPr>
              <a:t>ビンが失敗した場合、「Retry bin」によりルールの再定義やテーブルの再構築なしにビンレベルの障害を修復可能</a:t>
            </a:r>
          </a:p>
          <a:p>
            <a:pPr lvl="1">
              <a:spcBef>
                <a:spcPts val="300"/>
              </a:spcBef>
            </a:pPr>
            <a:r>
              <a:rPr sz="1400" b="0">
                <a:solidFill>
                  <a:srgbClr val="333333"/>
                </a:solidFill>
                <a:latin typeface="Yu Gothic UI"/>
                <a:ea typeface="Yu Gothic UI"/>
              </a:rPr>
              <a:t>retryBinStartTime を指定するだけで、既存の構成を維持したまま特定の失敗時間ビンを再実行可能</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2026/03/12</a:t>
            </a:r>
          </a:p>
          <a:p>
            <a:pPr>
              <a:spcBef>
                <a:spcPts val="200"/>
              </a:spcBef>
            </a:pPr>
            <a:r>
              <a:rPr sz="1300" b="0">
                <a:solidFill>
                  <a:srgbClr val="666666"/>
                </a:solidFill>
                <a:latin typeface="Yu Gothic UI"/>
                <a:ea typeface="Yu Gothic UI"/>
              </a:rPr>
              <a:t>可用性: General Availability 2025/July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https://azure.microsoft.com/updates/?id=558656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新機能を備えた Azure SRE Agent</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SRE Agent が一般提供開始</a:t>
            </a:r>
          </a:p>
          <a:p>
            <a:pPr lvl="1">
              <a:spcBef>
                <a:spcPts val="300"/>
              </a:spcBef>
            </a:pPr>
            <a:r>
              <a:rPr sz="1400" b="0">
                <a:solidFill>
                  <a:srgbClr val="333333"/>
                </a:solidFill>
                <a:latin typeface="Yu Gothic UI"/>
                <a:ea typeface="Yu Gothic UI"/>
              </a:rPr>
              <a:t>AI を活用した運用エージェントで、稼働率向上、インシデント影響の軽減、運用負荷の削減を支援</a:t>
            </a:r>
          </a:p>
          <a:p>
            <a:pPr lvl="1">
              <a:spcBef>
                <a:spcPts val="300"/>
              </a:spcBef>
            </a:pPr>
            <a:r>
              <a:rPr sz="1400" b="0">
                <a:solidFill>
                  <a:srgbClr val="333333"/>
                </a:solidFill>
                <a:latin typeface="Yu Gothic UI"/>
                <a:ea typeface="Yu Gothic UI"/>
              </a:rPr>
              <a:t>GA リリースでは、ソースコードとツールによる深いコンテキストグラウンディング、OpenAI と Anthropic Claude モデルによる高度な推論、Python コード実行によるレポート・ダッシュボード生成、インタラクションからの学習メモリを搭載</a:t>
            </a:r>
          </a:p>
          <a:p>
            <a:pPr lvl="1">
              <a:spcBef>
                <a:spcPts val="300"/>
              </a:spcBef>
            </a:pPr>
            <a:r>
              <a:rPr sz="1400" b="0">
                <a:solidFill>
                  <a:srgbClr val="333333"/>
                </a:solidFill>
                <a:latin typeface="Yu Gothic UI"/>
                <a:ea typeface="Yu Gothic UI"/>
              </a:rPr>
              <a:t>推奨アクションから定義済みガードレール内の自動応答まで、自律レベルのカスタマイズが可能</a:t>
            </a:r>
          </a:p>
          <a:p>
            <a:pPr>
              <a:spcBef>
                <a:spcPts val="200"/>
              </a:spcBef>
            </a:pPr>
            <a:r>
              <a:rPr sz="1300" b="0">
                <a:solidFill>
                  <a:srgbClr val="666666"/>
                </a:solidFill>
                <a:latin typeface="Yu Gothic UI"/>
                <a:ea typeface="Yu Gothic UI"/>
              </a:rPr>
              <a:t>作成日: 2026/03/11</a:t>
            </a:r>
          </a:p>
          <a:p>
            <a:pPr>
              <a:spcBef>
                <a:spcPts val="200"/>
              </a:spcBef>
            </a:pPr>
            <a:r>
              <a:rPr sz="1300" b="0">
                <a:solidFill>
                  <a:srgbClr val="666666"/>
                </a:solidFill>
                <a:latin typeface="Yu Gothic UI"/>
                <a:ea typeface="Yu Gothic UI"/>
              </a:rPr>
              <a:t>可用性: General Availability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https://azure.microsoft.com/updates/?id=558321</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OpenTelemetry Collector を使用した Azure Monitor への OTLP データ取り込み</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Monitor が OpenTelemetry Protocol (OTLP) シグナルのネイティブ取り込みをサポート</a:t>
            </a:r>
          </a:p>
          <a:p>
            <a:pPr lvl="1">
              <a:spcBef>
                <a:spcPts val="300"/>
              </a:spcBef>
            </a:pPr>
            <a:r>
              <a:rPr sz="1400" b="0">
                <a:solidFill>
                  <a:srgbClr val="333333"/>
                </a:solidFill>
                <a:latin typeface="Yu Gothic UI"/>
                <a:ea typeface="Yu Gothic UI"/>
              </a:rPr>
              <a:t>OpenTelemetry Collector から Azure Monitor クラウド取り込みエンドポイントへ直接データを送信し、Microsoft Entra 認証を使用して OTLP メトリクス、ログ、トレースを取り込み可能</a:t>
            </a:r>
          </a:p>
          <a:p>
            <a:pPr lvl="1">
              <a:spcBef>
                <a:spcPts val="300"/>
              </a:spcBef>
            </a:pPr>
            <a:r>
              <a:rPr sz="1400" b="0">
                <a:solidFill>
                  <a:srgbClr val="333333"/>
                </a:solidFill>
                <a:latin typeface="Yu Gothic UI"/>
                <a:ea typeface="Yu Gothic UI"/>
              </a:rPr>
              <a:t>Application Insights または手動でのデータ収集エンドポイント・ルール・ワークスペース作成により有効化</a:t>
            </a:r>
          </a:p>
          <a:p>
            <a:pPr lvl="1">
              <a:spcBef>
                <a:spcPts val="300"/>
              </a:spcBef>
            </a:pPr>
            <a:r>
              <a:rPr sz="1400" b="0">
                <a:solidFill>
                  <a:srgbClr val="333333"/>
                </a:solidFill>
                <a:latin typeface="Yu Gothic UI"/>
                <a:ea typeface="Yu Gothic UI"/>
              </a:rPr>
              <a:t>OTLP メトリクスは Azure Monitor Workspaces に格納され PromQL でクエリ・アラート可能</a:t>
            </a:r>
          </a:p>
          <a:p>
            <a:pPr lvl="1">
              <a:spcBef>
                <a:spcPts val="300"/>
              </a:spcBef>
            </a:pPr>
            <a:r>
              <a:rPr sz="1400" b="0">
                <a:solidFill>
                  <a:srgbClr val="333333"/>
                </a:solidFill>
                <a:latin typeface="Yu Gothic UI"/>
                <a:ea typeface="Yu Gothic UI"/>
              </a:rPr>
              <a:t>ログとトレースは Log Analytics ワークスペースの新しい OpenTelemetry テーブルに格納される</a:t>
            </a:r>
          </a:p>
          <a:p>
            <a:pPr>
              <a:spcBef>
                <a:spcPts val="1400"/>
              </a:spcBef>
            </a:pPr>
            <a:r>
              <a:rPr sz="1300" b="1">
                <a:solidFill>
                  <a:srgbClr val="666666"/>
                </a:solidFill>
                <a:latin typeface="Yu Gothic UI"/>
                <a:ea typeface="Yu Gothic UI"/>
              </a:rPr>
              <a:t>対象製品: Azure Monitor</a:t>
            </a:r>
          </a:p>
          <a:p>
            <a:pPr>
              <a:spcBef>
                <a:spcPts val="200"/>
              </a:spcBef>
            </a:pPr>
            <a:r>
              <a:rPr sz="1300" b="0">
                <a:solidFill>
                  <a:srgbClr val="666666"/>
                </a:solidFill>
                <a:latin typeface="Yu Gothic UI"/>
                <a:ea typeface="Yu Gothic UI"/>
              </a:rPr>
              <a:t>作成日: 2026/03/24</a:t>
            </a:r>
          </a:p>
          <a:p>
            <a:pPr>
              <a:spcBef>
                <a:spcPts val="200"/>
              </a:spcBef>
            </a:pPr>
            <a:r>
              <a:rPr sz="1300" b="0">
                <a:solidFill>
                  <a:srgbClr val="666666"/>
                </a:solidFill>
                <a:latin typeface="Yu Gothic UI"/>
                <a:ea typeface="Yu Gothic UI"/>
              </a:rPr>
              <a:t>可用性: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https://azure.microsoft.com/updates/?id=559273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000" b="1">
                <a:solidFill>
                  <a:srgbClr val="0078D4"/>
                </a:solidFill>
                <a:latin typeface="Yu Gothic UI"/>
                <a:ea typeface="Yu Gothic UI"/>
              </a:rPr>
              <a:t>パブリックプレビュー: Azure Storage Mover が AWS S3 から Azure Blob へのプライベートデータ転送に対応</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CA5010"/>
                </a:solidFill>
                <a:latin typeface="Yu Gothic UI"/>
                <a:ea typeface="Yu Gothic UI"/>
              </a:rPr>
              <a:t>【パブリックプレビュー】</a:t>
            </a:r>
            <a:r>
              <a:rPr sz="1600" b="1">
                <a:solidFill>
                  <a:srgbClr val="333333"/>
                </a:solidFill>
                <a:latin typeface="Yu Gothic UI"/>
                <a:ea typeface="Yu Gothic UI"/>
              </a:rPr>
              <a:t>  重要度: 低</a:t>
            </a:r>
          </a:p>
          <a:p>
            <a:pPr lvl="1">
              <a:spcBef>
                <a:spcPts val="300"/>
              </a:spcBef>
            </a:pPr>
            <a:r>
              <a:rPr sz="1400" b="0">
                <a:solidFill>
                  <a:srgbClr val="333333"/>
                </a:solidFill>
                <a:latin typeface="Yu Gothic UI"/>
                <a:ea typeface="Yu Gothic UI"/>
              </a:rPr>
              <a:t>Azure Storage Mover が AWS S3 の Virtual Private Cloud 内のデータから Azure Blob Storage へのプライベートネットワーク経由のセキュアなデータ移行をサポート</a:t>
            </a:r>
          </a:p>
          <a:p>
            <a:pPr lvl="1">
              <a:spcBef>
                <a:spcPts val="300"/>
              </a:spcBef>
            </a:pPr>
            <a:r>
              <a:rPr sz="1400" b="0">
                <a:solidFill>
                  <a:srgbClr val="333333"/>
                </a:solidFill>
                <a:latin typeface="Yu Gothic UI"/>
                <a:ea typeface="Yu Gothic UI"/>
              </a:rPr>
              <a:t>手動パイプラインやサードパーティツール不要で、Azure ポータルを通じた自動化とリアルタイムジョブ監視が可能</a:t>
            </a:r>
          </a:p>
          <a:p>
            <a:pPr lvl="1">
              <a:spcBef>
                <a:spcPts val="300"/>
              </a:spcBef>
            </a:pPr>
            <a:r>
              <a:rPr sz="1400" b="0">
                <a:solidFill>
                  <a:srgbClr val="333333"/>
                </a:solidFill>
                <a:latin typeface="Yu Gothic UI"/>
                <a:ea typeface="Yu Gothic UI"/>
              </a:rPr>
              <a:t>パブリックネットワーク経由の AWS から Azure へのデータ転送は既に一般提供済み</a:t>
            </a:r>
          </a:p>
          <a:p>
            <a:pPr>
              <a:spcBef>
                <a:spcPts val="1400"/>
              </a:spcBef>
            </a:pPr>
            <a:r>
              <a:rPr sz="1300" b="1">
                <a:solidFill>
                  <a:srgbClr val="666666"/>
                </a:solidFill>
                <a:latin typeface="Yu Gothic UI"/>
                <a:ea typeface="Yu Gothic UI"/>
              </a:rPr>
              <a:t>対象製品: Azure Storage Mover</a:t>
            </a:r>
          </a:p>
          <a:p>
            <a:pPr>
              <a:spcBef>
                <a:spcPts val="200"/>
              </a:spcBef>
            </a:pPr>
            <a:r>
              <a:rPr sz="1300" b="0">
                <a:solidFill>
                  <a:srgbClr val="666666"/>
                </a:solidFill>
                <a:latin typeface="Yu Gothic UI"/>
                <a:ea typeface="Yu Gothic UI"/>
              </a:rPr>
              <a:t>作成日: 2026/03/12</a:t>
            </a:r>
          </a:p>
          <a:p>
            <a:pPr>
              <a:spcBef>
                <a:spcPts val="200"/>
              </a:spcBef>
            </a:pPr>
            <a:r>
              <a:rPr sz="1300" b="0">
                <a:solidFill>
                  <a:srgbClr val="666666"/>
                </a:solidFill>
                <a:latin typeface="Yu Gothic UI"/>
                <a:ea typeface="Yu Gothic UI"/>
              </a:rPr>
              <a:t>可用性: Preview 2026/March, Private Preview 2026/March</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https://azure.microsoft.com/updates/?id=558651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3600" b="1">
                <a:solidFill>
                  <a:srgbClr val="FFFFFF"/>
                </a:solidFill>
                <a:latin typeface="Yu Gothic UI"/>
                <a:ea typeface="Yu Gothic UI"/>
              </a:rPr>
              <a:t>IoT（2件）</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廃止予定: Azure Sphere は2031年7月31日に廃止</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D13438"/>
                </a:solidFill>
                <a:latin typeface="Yu Gothic UI"/>
                <a:ea typeface="Yu Gothic UI"/>
              </a:rPr>
              <a:t>【廃止予定】</a:t>
            </a:r>
            <a:r>
              <a:rPr sz="1600" b="1">
                <a:solidFill>
                  <a:srgbClr val="333333"/>
                </a:solidFill>
                <a:latin typeface="Yu Gothic UI"/>
                <a:ea typeface="Yu Gothic UI"/>
              </a:rPr>
              <a:t>  重要度: 高</a:t>
            </a:r>
          </a:p>
          <a:p>
            <a:pPr lvl="1">
              <a:spcBef>
                <a:spcPts val="300"/>
              </a:spcBef>
            </a:pPr>
            <a:r>
              <a:rPr sz="1400" b="0">
                <a:solidFill>
                  <a:srgbClr val="333333"/>
                </a:solidFill>
                <a:latin typeface="Yu Gothic UI"/>
                <a:ea typeface="Yu Gothic UI"/>
              </a:rPr>
              <a:t>Azure Sphere サービスは2031年7月31日に廃止され、すべてのカスタマーアプリケーション、OS、バグ・セキュリティ更新、DAA 証明書発行のサポートが終了</a:t>
            </a:r>
          </a:p>
          <a:p>
            <a:pPr lvl="1">
              <a:spcBef>
                <a:spcPts val="300"/>
              </a:spcBef>
            </a:pPr>
            <a:r>
              <a:rPr sz="1400" b="0">
                <a:solidFill>
                  <a:srgbClr val="333333"/>
                </a:solidFill>
                <a:latin typeface="Yu Gothic UI"/>
                <a:ea typeface="Yu Gothic UI"/>
              </a:rPr>
              <a:t>推奨アクション: 将来の製品イテレーションで MT3620 シリコンを置き換えるハードウェア再設計を評価</a:t>
            </a:r>
          </a:p>
          <a:p>
            <a:pPr lvl="1">
              <a:spcBef>
                <a:spcPts val="300"/>
              </a:spcBef>
            </a:pPr>
            <a:r>
              <a:rPr sz="1400" b="0">
                <a:solidFill>
                  <a:srgbClr val="333333"/>
                </a:solidFill>
                <a:latin typeface="Yu Gothic UI"/>
                <a:ea typeface="Yu Gothic UI"/>
              </a:rPr>
              <a:t>PSA/SESIP Level 3+ 以上の認定シリコンを検討</a:t>
            </a:r>
          </a:p>
          <a:p>
            <a:pPr lvl="1">
              <a:spcBef>
                <a:spcPts val="300"/>
              </a:spcBef>
            </a:pPr>
            <a:r>
              <a:rPr sz="1400" b="0">
                <a:solidFill>
                  <a:srgbClr val="333333"/>
                </a:solidFill>
                <a:latin typeface="Yu Gothic UI"/>
                <a:ea typeface="Yu Gothic UI"/>
              </a:rPr>
              <a:t>追加在庫が必要な場合は2026年7月31日までにディストリビューター Avnet を通じて MT3620 コンポーネントの OEM ライセンス更新・購入意向を表明</a:t>
            </a:r>
          </a:p>
          <a:p>
            <a:pPr lvl="1">
              <a:spcBef>
                <a:spcPts val="300"/>
              </a:spcBef>
            </a:pPr>
            <a:r>
              <a:rPr sz="1400" b="0">
                <a:solidFill>
                  <a:srgbClr val="333333"/>
                </a:solidFill>
                <a:latin typeface="Yu Gothic UI"/>
                <a:ea typeface="Yu Gothic UI"/>
              </a:rPr>
              <a:t>代替の Azure IoT およびサードパーティソリューションを評価</a:t>
            </a:r>
          </a:p>
          <a:p>
            <a:pPr>
              <a:spcBef>
                <a:spcPts val="1400"/>
              </a:spcBef>
            </a:pPr>
            <a:r>
              <a:rPr sz="1300" b="1">
                <a:solidFill>
                  <a:srgbClr val="666666"/>
                </a:solidFill>
                <a:latin typeface="Yu Gothic UI"/>
                <a:ea typeface="Yu Gothic UI"/>
              </a:rPr>
              <a:t>対象製品: Azure Sphere</a:t>
            </a:r>
          </a:p>
          <a:p>
            <a:pPr>
              <a:spcBef>
                <a:spcPts val="200"/>
              </a:spcBef>
            </a:pPr>
            <a:r>
              <a:rPr sz="1300" b="0">
                <a:solidFill>
                  <a:srgbClr val="666666"/>
                </a:solidFill>
                <a:latin typeface="Yu Gothic UI"/>
                <a:ea typeface="Yu Gothic UI"/>
              </a:rPr>
              <a:t>作成日: 2026/03/20</a:t>
            </a:r>
          </a:p>
          <a:p>
            <a:pPr>
              <a:spcBef>
                <a:spcPts val="200"/>
              </a:spcBef>
            </a:pPr>
            <a:r>
              <a:rPr sz="1300" b="0">
                <a:solidFill>
                  <a:srgbClr val="666666"/>
                </a:solidFill>
                <a:latin typeface="Yu Gothic UI"/>
                <a:ea typeface="Yu Gothic UI"/>
              </a:rPr>
              <a:t>可用性: Retirement 2031/July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https://azure.microsoft.com/updates/?id=557123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normAutofit/>
          </a:bodyPr>
          <a:lstStyle/>
          <a:p>
            <a:r>
              <a:rPr sz="2400" b="1">
                <a:solidFill>
                  <a:srgbClr val="0078D4"/>
                </a:solidFill>
                <a:latin typeface="Yu Gothic UI"/>
                <a:ea typeface="Yu Gothic UI"/>
              </a:rPr>
              <a:t>一般提供開始: Azure Event Grid がよりスマートでセキュアなイベント駆動アーキテクチャ向け新機能を提供</a:t>
            </a:r>
          </a:p>
        </p:txBody>
      </p:sp>
      <p:sp>
        <p:nvSpPr>
          <p:cNvPr id="3" name="Content Placeholder 2"/>
          <p:cNvSpPr>
            <a:spLocks noGrp="1"/>
          </p:cNvSpPr>
          <p:nvPr>
            <p:ph idx="10" sz="quarter"/>
          </p:nvPr>
        </p:nvSpPr>
        <p:spPr>
          <a:xfrm>
            <a:off x="457200" y="939983"/>
            <a:ext cx="11277600" cy="5460817"/>
          </a:xfrm>
        </p:spPr>
        <p:txBody>
          <a:bodyPr lIns="365760" rIns="365760" tIns="91440" bIns="91440" wrap="square"/>
          <a:lstStyle/>
          <a:p>
            <a:pPr>
              <a:spcAft>
                <a:spcPts val="800"/>
              </a:spcAft>
            </a:pPr>
            <a:r>
              <a:rPr sz="1600" b="1">
                <a:solidFill>
                  <a:srgbClr val="107C10"/>
                </a:solidFill>
                <a:latin typeface="Yu Gothic UI"/>
                <a:ea typeface="Yu Gothic UI"/>
              </a:rPr>
              <a:t>【一般提供開始】</a:t>
            </a:r>
            <a:r>
              <a:rPr sz="1600" b="1">
                <a:solidFill>
                  <a:srgbClr val="333333"/>
                </a:solidFill>
                <a:latin typeface="Yu Gothic UI"/>
                <a:ea typeface="Yu Gothic UI"/>
              </a:rPr>
              <a:t>  重要度: 中</a:t>
            </a:r>
          </a:p>
          <a:p>
            <a:pPr lvl="1">
              <a:spcBef>
                <a:spcPts val="300"/>
              </a:spcBef>
            </a:pPr>
            <a:r>
              <a:rPr sz="1400" b="0">
                <a:solidFill>
                  <a:srgbClr val="333333"/>
                </a:solidFill>
                <a:latin typeface="Yu Gothic UI"/>
                <a:ea typeface="Yu Gothic UI"/>
              </a:rPr>
              <a:t>Azure Event Grid が大規模分散システム管理向けの新機能を一般提供開始しました</a:t>
            </a:r>
          </a:p>
          <a:p>
            <a:pPr lvl="1">
              <a:spcBef>
                <a:spcPts val="300"/>
              </a:spcBef>
            </a:pPr>
            <a:r>
              <a:rPr sz="1400" b="0">
                <a:solidFill>
                  <a:srgbClr val="333333"/>
                </a:solidFill>
                <a:latin typeface="Yu Gothic UI"/>
                <a:ea typeface="Yu Gothic UI"/>
              </a:rPr>
              <a:t>MQTT メッセージ順序保証（クライアントセッション内での順序通りのメッセージ配信、シーケンス整合性を要するワークフローに不可欠）、MQTT 接続レート制限（クライアントあたり 1 秒 1 接続に制限しシステム安定性を向上）、MQTT トピックセグメント拡張（最大 15 セグメントをサポートし、複雑なシナリオでのきめ細かいルーティングを実現）、クロステナント配信（マネージド ID による Event Hub、Service Bus、Storage Queue へのクロステナント配信）</a:t>
            </a:r>
          </a:p>
          <a:p>
            <a:pPr>
              <a:spcBef>
                <a:spcPts val="1400"/>
              </a:spcBef>
            </a:pPr>
            <a:r>
              <a:rPr sz="1300" b="1">
                <a:solidFill>
                  <a:srgbClr val="666666"/>
                </a:solidFill>
                <a:latin typeface="Yu Gothic UI"/>
                <a:ea typeface="Yu Gothic UI"/>
              </a:rPr>
              <a:t>対象製品: Event Grid</a:t>
            </a:r>
          </a:p>
          <a:p>
            <a:pPr>
              <a:spcBef>
                <a:spcPts val="200"/>
              </a:spcBef>
            </a:pPr>
            <a:r>
              <a:rPr sz="1300" b="0">
                <a:solidFill>
                  <a:srgbClr val="666666"/>
                </a:solidFill>
                <a:latin typeface="Yu Gothic UI"/>
                <a:ea typeface="Yu Gothic UI"/>
              </a:rPr>
              <a:t>作成日: 2026/03/31</a:t>
            </a:r>
          </a:p>
          <a:p>
            <a:pPr>
              <a:spcBef>
                <a:spcPts val="200"/>
              </a:spcBef>
            </a:pPr>
            <a:r>
              <a:rPr sz="1300" b="0">
                <a:solidFill>
                  <a:srgbClr val="666666"/>
                </a:solidFill>
                <a:latin typeface="Yu Gothic UI"/>
                <a:ea typeface="Yu Gothic UI"/>
              </a:rPr>
              <a:t>可用性: General Availability 2025/May</a:t>
            </a:r>
          </a:p>
          <a:p>
            <a:pPr>
              <a:spcBef>
                <a:spcPts val="200"/>
              </a:spcBef>
            </a:pPr>
            <a:r>
              <a:rPr sz="1300" b="0">
                <a:solidFill>
                  <a:srgbClr val="666666"/>
                </a:solidFill>
                <a:latin typeface="Yu Gothic UI"/>
                <a:ea typeface="Yu Gothic UI"/>
              </a:rPr>
              <a:t>詳細: </a:t>
            </a:r>
            <a:r>
              <a:rPr sz="1300" b="0">
                <a:solidFill>
                  <a:srgbClr val="0078D4"/>
                </a:solidFill>
                <a:latin typeface="Yu Gothic UI"/>
                <a:ea typeface="Yu Gothic UI"/>
                <a:hlinkClick r:id="rId2"/>
              </a:rPr>
              <a:t>https://azure.microsoft.com/updates/?id=492542</a:t>
            </a:r>
          </a:p>
        </p:txBody>
      </p:sp>
    </p:spTree>
  </p:cSld>
  <p:clrMapOvr>
    <a:masterClrMapping/>
  </p:clrMapOvr>
</p:sld>
</file>

<file path=ppt/theme/theme1.xml><?xml version="1.0" encoding="utf-8"?>
<a:theme xmlns:a="http://schemas.openxmlformats.org/drawingml/2006/main" name="Azure 2023 Template">
  <a:themeElements>
    <a:clrScheme name="Custom 4">
      <a:dk1>
        <a:srgbClr val="000000"/>
      </a:dk1>
      <a:lt1>
        <a:srgbClr val="FFFFFF"/>
      </a:lt1>
      <a:dk2>
        <a:srgbClr val="0078D4"/>
      </a:dk2>
      <a:lt2>
        <a:srgbClr val="E8E6DF"/>
      </a:lt2>
      <a:accent1>
        <a:srgbClr val="0078D4"/>
      </a:accent1>
      <a:accent2>
        <a:srgbClr val="2A446F"/>
      </a:accent2>
      <a:accent3>
        <a:srgbClr val="49C5B1"/>
      </a:accent3>
      <a:accent4>
        <a:srgbClr val="8DE971"/>
      </a:accent4>
      <a:accent5>
        <a:srgbClr val="F4364F"/>
      </a:accent5>
      <a:accent6>
        <a:srgbClr val="C03BC4"/>
      </a:accent6>
      <a:hlink>
        <a:srgbClr val="091F2C"/>
      </a:hlink>
      <a:folHlink>
        <a:srgbClr val="091F2C"/>
      </a:folHlink>
    </a:clrScheme>
    <a:fontScheme name="Custom 4">
      <a:majorFont>
        <a:latin typeface="Segoe Sans Text Semibold"/>
        <a:ea typeface=""/>
        <a:cs typeface=""/>
      </a:majorFont>
      <a:minorFont>
        <a:latin typeface="Segoe Sans Tex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F1829AB2-CBD7-4CD6-8E4A-37E5E8041FA7}" vid="{C0926CC9-4F6D-442D-AA3F-CD7414C83FD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230e9df3-be65-4c73-a93b-d1236ebd677e" xsi:nil="true"/>
    <MediaServiceKeyPoints xmlns="255e9135-acb6-413d-8014-3858207eab07" xsi:nil="true"/>
    <lcf76f155ced4ddcb4097134ff3c332f xmlns="255e9135-acb6-413d-8014-3858207eab07">
      <Terms xmlns="http://schemas.microsoft.com/office/infopath/2007/PartnerControls"/>
    </lcf76f155ced4ddcb4097134ff3c332f>
    <SharedWithUsers xmlns="a4494d7a-ad2c-4b11-8dea-280127f8418e">
      <UserInfo>
        <DisplayName>Brand Central Administrators</DisplayName>
        <AccountId>2570</AccountId>
        <AccountType/>
      </UserInfo>
      <UserInfo>
        <DisplayName>Teresa Conte</DisplayName>
        <AccountId>563</AccountId>
        <AccountType/>
      </UserInfo>
      <UserInfo>
        <DisplayName>Nannette Sperling (Synaxis Corporation)</DisplayName>
        <AccountId>565</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5C2B9021A22FC4C82FF99EC65766ED0" ma:contentTypeVersion="20" ma:contentTypeDescription="Create a new document." ma:contentTypeScope="" ma:versionID="9da7f44f7bc0c47e637d8ceae23e1e93">
  <xsd:schema xmlns:xsd="http://www.w3.org/2001/XMLSchema" xmlns:xs="http://www.w3.org/2001/XMLSchema" xmlns:p="http://schemas.microsoft.com/office/2006/metadata/properties" xmlns:ns1="http://schemas.microsoft.com/sharepoint/v3" xmlns:ns2="255e9135-acb6-413d-8014-3858207eab07" xmlns:ns3="a4494d7a-ad2c-4b11-8dea-280127f8418e" xmlns:ns4="230e9df3-be65-4c73-a93b-d1236ebd677e" targetNamespace="http://schemas.microsoft.com/office/2006/metadata/properties" ma:root="true" ma:fieldsID="31291647c0747e3ff3c6be7e5ea34989" ns1:_="" ns2:_="" ns3:_="" ns4:_="">
    <xsd:import namespace="http://schemas.microsoft.com/sharepoint/v3"/>
    <xsd:import namespace="255e9135-acb6-413d-8014-3858207eab07"/>
    <xsd:import namespace="a4494d7a-ad2c-4b11-8dea-280127f8418e"/>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5e9135-acb6-413d-8014-3858207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DocTags" ma:index="25" nillable="true" ma:displayName="MediaServiceDocTags" ma:hidden="true" ma:internalName="MediaServiceDocTags" ma:readOnly="true">
      <xsd:simpleType>
        <xsd:restriction base="dms:Note"/>
      </xsd:simple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4494d7a-ad2c-4b11-8dea-280127f8418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ed99a2d-f583-4356-ba8a-4aee971188b3}" ma:internalName="TaxCatchAll" ma:showField="CatchAllData" ma:web="a4494d7a-ad2c-4b11-8dea-280127f841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http://purl.org/dc/elements/1.1/"/>
    <ds:schemaRef ds:uri="ebe725d4-5a61-4827-9af4-da8e7f768b99"/>
    <ds:schemaRef ds:uri="http://schemas.microsoft.com/sharepoint/v3"/>
    <ds:schemaRef ds:uri="http://www.w3.org/XML/1998/namespace"/>
    <ds:schemaRef ds:uri="http://schemas.microsoft.com/office/infopath/2007/PartnerControls"/>
    <ds:schemaRef ds:uri="http://schemas.microsoft.com/office/2006/metadata/properties"/>
    <ds:schemaRef ds:uri="http://purl.org/dc/terms/"/>
    <ds:schemaRef ds:uri="http://schemas.openxmlformats.org/package/2006/metadata/core-properties"/>
    <ds:schemaRef ds:uri="http://schemas.microsoft.com/office/2006/documentManagement/types"/>
    <ds:schemaRef ds:uri="230e9df3-be65-4c73-a93b-d1236ebd677e"/>
    <ds:schemaRef ds:uri="a647c833-fbf3-42d0-9d1a-fdc4c4d8b08f"/>
    <ds:schemaRef ds:uri="http://purl.org/dc/dcmitype/"/>
    <ds:schemaRef ds:uri="255e9135-acb6-413d-8014-3858207eab07"/>
    <ds:schemaRef ds:uri="a4494d7a-ad2c-4b11-8dea-280127f8418e"/>
  </ds:schemaRefs>
</ds:datastoreItem>
</file>

<file path=customXml/itemProps2.xml><?xml version="1.0" encoding="utf-8"?>
<ds:datastoreItem xmlns:ds="http://schemas.openxmlformats.org/officeDocument/2006/customXml" ds:itemID="{6DF23C8F-38A0-41C4-941E-F221D54D7B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55e9135-acb6-413d-8014-3858207eab07"/>
    <ds:schemaRef ds:uri="a4494d7a-ad2c-4b11-8dea-280127f8418e"/>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ppt-temp-zukako-202511</Template>
  <TotalTime>10</TotalTime>
  <Words>7</Words>
  <Application>Microsoft Office PowerPoint</Application>
  <PresentationFormat>Widescreen</PresentationFormat>
  <Paragraphs>3</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Yu Gothic UI</vt:lpstr>
      <vt:lpstr>Segoe UI</vt:lpstr>
      <vt:lpstr>Segoe Sans Text Semibold</vt:lpstr>
      <vt:lpstr>Wingdings</vt:lpstr>
      <vt:lpstr>Segoe Sans Text</vt:lpstr>
      <vt:lpstr>Azure 2023 Template</vt:lpstr>
      <vt:lpstr>PowerPoint Presentation</vt:lpstr>
      <vt:lpstr>てすと</vt:lpstr>
      <vt:lpstr>PowerPoint Presentation</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&lt;Event name&gt;</dc:subject>
  <dc:creator>Koki Ishizuka</dc:creator>
  <cp:keywords/>
  <dc:description/>
  <cp:lastModifiedBy>Koki Ishizuka</cp:lastModifiedBy>
  <cp:revision>5</cp:revision>
  <cp:lastPrinted>2023-02-15T20:48:24Z</cp:lastPrinted>
  <dcterms:created xsi:type="dcterms:W3CDTF">2026-04-03T03:45:54Z</dcterms:created>
  <dcterms:modified xsi:type="dcterms:W3CDTF">2026-04-04T03:05:59Z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0x010100D5C2B9021A22FC4C82FF99EC65766ED0</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MSIP_Label_f42aa342-8706-4288-bd11-ebb85995028c_Enabled">
    <vt:lpwstr>True</vt:lpwstr>
  </property>
  <property fmtid="{D5CDD505-2E9C-101B-9397-08002B2CF9AE}" pid="12" name="MSIP_Label_f42aa342-8706-4288-bd11-ebb85995028c_SiteId">
    <vt:lpwstr>72f988bf-86f1-41af-91ab-2d7cd011db47</vt:lpwstr>
  </property>
  <property fmtid="{D5CDD505-2E9C-101B-9397-08002B2CF9AE}" pid="13" name="MSIP_Label_f42aa342-8706-4288-bd11-ebb85995028c_Ref">
    <vt:lpwstr>https://api.informationprotection.azure.com/api/72f988bf-86f1-41af-91ab-2d7cd011db47</vt:lpwstr>
  </property>
  <property fmtid="{D5CDD505-2E9C-101B-9397-08002B2CF9AE}" pid="14" name="MSIP_Label_f42aa342-8706-4288-bd11-ebb85995028c_SetDate">
    <vt:lpwstr>2017-08-29T14:27:20.8568347-07:00</vt:lpwstr>
  </property>
  <property fmtid="{D5CDD505-2E9C-101B-9397-08002B2CF9AE}" pid="15" name="MSIP_Label_f42aa342-8706-4288-bd11-ebb85995028c_Name">
    <vt:lpwstr>General</vt:lpwstr>
  </property>
  <property fmtid="{D5CDD505-2E9C-101B-9397-08002B2CF9AE}" pid="16" name="MSIP_Label_f42aa342-8706-4288-bd11-ebb85995028c_Extended_MSFT_Method">
    <vt:lpwstr>Automatic</vt:lpwstr>
  </property>
  <property fmtid="{D5CDD505-2E9C-101B-9397-08002B2CF9AE}" pid="17" name="Sensitivity">
    <vt:lpwstr>General</vt:lpwstr>
  </property>
  <property fmtid="{D5CDD505-2E9C-101B-9397-08002B2CF9AE}" pid="18" name="MediaServiceImageTags">
    <vt:lpwstr/>
  </property>
</Properties>
</file>