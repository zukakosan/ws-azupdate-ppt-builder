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8"/>
  </p:notesMasterIdLst>
  <p:handoutMasterIdLst>
    <p:handoutMasterId r:id="rId9"/>
  </p:handoutMasterIdLst>
  <p:sldIdLst>
    <p:sldId id="256" r:id="rId7"/>
    <p:sldId id="257" r:id="rId6"/>
    <p:sldId id="258" r:id="rId5"/>
    <p:sldId id="259" r:id="rId30"/>
    <p:sldId id="260"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 id="293" r:id="rId64"/>
    <p:sldId id="294" r:id="rId65"/>
    <p:sldId id="295" r:id="rId66"/>
    <p:sldId id="296" r:id="rId67"/>
    <p:sldId id="297" r:id="rId68"/>
    <p:sldId id="298" r:id="rId69"/>
    <p:sldId id="299" r:id="rId70"/>
    <p:sldId id="300" r:id="rId71"/>
    <p:sldId id="301" r:id="rId72"/>
    <p:sldId id="302" r:id="rId73"/>
    <p:sldId id="303" r:id="rId74"/>
    <p:sldId id="304" r:id="rId75"/>
    <p:sldId id="305" r:id="rId76"/>
    <p:sldId id="306" r:id="rId77"/>
    <p:sldId id="307" r:id="rId78"/>
    <p:sldId id="308" r:id="rId79"/>
    <p:sldId id="309" r:id="rId80"/>
    <p:sldId id="310" r:id="rId81"/>
    <p:sldId id="311" r:id="rId82"/>
    <p:sldId id="312" r:id="rId83"/>
    <p:sldId id="313" r:id="rId84"/>
    <p:sldId id="314" r:id="rId85"/>
    <p:sldId id="315" r:id="rId86"/>
    <p:sldId id="316" r:id="rId87"/>
    <p:sldId id="317" r:id="rId88"/>
    <p:sldId id="318" r:id="rId89"/>
    <p:sldId id="319" r:id="rId90"/>
    <p:sldId id="320" r:id="rId91"/>
    <p:sldId id="321" r:id="rId92"/>
    <p:sldId id="322" r:id="rId93"/>
    <p:sldId id="323" r:id="rId94"/>
    <p:sldId id="324" r:id="rId95"/>
    <p:sldId id="325" r:id="rId96"/>
    <p:sldId id="326" r:id="rId97"/>
    <p:sldId id="327" r:id="rId98"/>
    <p:sldId id="328" r:id="rId99"/>
    <p:sldId id="329" r:id="rId100"/>
    <p:sldId id="330" r:id="rId101"/>
    <p:sldId id="331" r:id="rId102"/>
    <p:sldId id="332" r:id="rId103"/>
    <p:sldId id="333" r:id="rId104"/>
    <p:sldId id="334" r:id="rId105"/>
    <p:sldId id="335" r:id="rId106"/>
  </p:sldIdLst>
  <p:sldSz cx="12192000" cy="6858000"/>
  <p:notesSz cx="6858000" cy="9144000"/>
  <p:embeddedFontLst>
    <p:embeddedFont>
      <p:font typeface="Segoe Sans Text" pitchFamily="2" charset="0"/>
      <p:regular r:id="rId10"/>
      <p:bold r:id="rId11"/>
      <p:italic r:id="rId12"/>
      <p:boldItalic r:id="rId13"/>
    </p:embeddedFont>
    <p:embeddedFont>
      <p:font typeface="Segoe Sans Text Semibold" pitchFamily="2" charset="0"/>
      <p:regular r:id="rId14"/>
      <p:bold r:id="rId15"/>
      <p:boldItalic r:id="rId16"/>
    </p:embeddedFont>
    <p:embeddedFont>
      <p:font typeface="Segoe UI" panose="020B0502040204020203" pitchFamily="34" charset="0"/>
      <p:regular r:id="rId17"/>
      <p:bold r:id="rId18"/>
      <p:italic r:id="rId19"/>
      <p:boldItalic r:id="rId20"/>
    </p:embeddedFont>
    <p:embeddedFont>
      <p:font typeface="Yu Gothic UI" panose="020B0500000000000000" pitchFamily="34" charset="-128"/>
      <p:regular r:id="rId21"/>
      <p:bold r:id="rId22"/>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64C"/>
    <a:srgbClr val="C03BC4"/>
    <a:srgbClr val="E8E6DF"/>
    <a:srgbClr val="F4F3F5"/>
    <a:srgbClr val="0078D4"/>
    <a:srgbClr val="F0F0F0"/>
    <a:srgbClr val="8C8279"/>
    <a:srgbClr val="FFB900"/>
    <a:srgbClr val="091F2C"/>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ECBF74-D144-C640-BF81-1B86CF99FB24}" v="92" dt="2023-09-19T21:25:10.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6328" autoAdjust="0"/>
  </p:normalViewPr>
  <p:slideViewPr>
    <p:cSldViewPr snapToGrid="0">
      <p:cViewPr varScale="1">
        <p:scale>
          <a:sx n="103" d="100"/>
          <a:sy n="103" d="100"/>
        </p:scale>
        <p:origin x="41" y="456"/>
      </p:cViewPr>
      <p:guideLst/>
    </p:cSldViewPr>
  </p:slideViewPr>
  <p:outlineViewPr>
    <p:cViewPr>
      <p:scale>
        <a:sx n="33" d="100"/>
        <a:sy n="33" d="100"/>
      </p:scale>
      <p:origin x="0" y="-2334"/>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0" d="100"/>
          <a:sy n="80" d="100"/>
        </p:scale>
        <p:origin x="306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0" Type="http://schemas.openxmlformats.org/officeDocument/2006/relationships/font" Target="fonts/font11.fntdata"/><Relationship Id="rId21" Type="http://schemas.openxmlformats.org/officeDocument/2006/relationships/font" Target="fonts/font12.fntdata"/><Relationship Id="rId22" Type="http://schemas.openxmlformats.org/officeDocument/2006/relationships/font" Target="fonts/font13.fntdata"/><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 Id="rId29" Type="http://schemas.microsoft.com/office/2018/10/relationships/authors" Target="authors.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 Id="rId105" Type="http://schemas.openxmlformats.org/officeDocument/2006/relationships/slide" Target="slides/slide79.xml"/><Relationship Id="rId106" Type="http://schemas.openxmlformats.org/officeDocument/2006/relationships/slide" Target="slides/slide8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A7A3D-F8D3-49CD-971A-AE485987F0DA}" type="datetime8">
              <a:rPr lang="en-US" smtClean="0">
                <a:latin typeface="Segoe UI" pitchFamily="34" charset="0"/>
              </a:rPr>
              <a:t>4/4/2026 12:04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31C1C56-4AA7-46EE-A81E-B453CF54EE00}" type="datetime8">
              <a:rPr lang="en-US" smtClean="0"/>
              <a:t>4/4/2026 12:04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518" y="240086"/>
            <a:ext cx="11018520" cy="553998"/>
          </a:xfrm>
        </p:spPr>
        <p:txBody>
          <a:bodyPr anchor="ctr"/>
          <a:lstStyle>
            <a:lvl1pPr>
              <a:defRPr>
                <a:solidFill>
                  <a:schemeClr val="tx1"/>
                </a:solidFill>
                <a:latin typeface="Yu Gothic UI" panose="020B0500000000000000" pitchFamily="50" charset="-128"/>
                <a:ea typeface="Yu Gothic UI" panose="020B0500000000000000" pitchFamily="50" charset="-128"/>
              </a:defRPr>
            </a:lvl1pPr>
          </a:lstStyle>
          <a:p>
            <a:r>
              <a:rPr lang="en-US" altLang="ja-JP" dirty="0"/>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518" y="939983"/>
            <a:ext cx="11018838" cy="1612749"/>
          </a:xfrm>
        </p:spPr>
        <p:txBody>
          <a:bodyPr/>
          <a:lstStyle>
            <a:lvl1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1pPr>
            <a:lvl2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2pPr>
            <a:lvl3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3pPr>
            <a:lvl4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4pPr>
            <a:lvl5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5" name="Straight Connector 4">
            <a:extLst>
              <a:ext uri="{FF2B5EF4-FFF2-40B4-BE49-F238E27FC236}">
                <a16:creationId xmlns:a16="http://schemas.microsoft.com/office/drawing/2014/main" id="{B377CAB8-A073-AB6D-C504-22E1D1E3D82B}"/>
              </a:ext>
            </a:extLst>
          </p:cNvPr>
          <p:cNvCxnSpPr/>
          <p:nvPr userDrawn="1"/>
        </p:nvCxnSpPr>
        <p:spPr>
          <a:xfrm>
            <a:off x="584518" y="862796"/>
            <a:ext cx="11018520"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D318CE-72EC-83B7-6937-85209655913B}"/>
              </a:ext>
            </a:extLst>
          </p:cNvPr>
          <p:cNvSpPr txBox="1"/>
          <p:nvPr userDrawn="1"/>
        </p:nvSpPr>
        <p:spPr>
          <a:xfrm>
            <a:off x="11603038" y="6464025"/>
            <a:ext cx="442822" cy="307777"/>
          </a:xfrm>
          <a:prstGeom prst="rect">
            <a:avLst/>
          </a:prstGeom>
          <a:noFill/>
        </p:spPr>
        <p:txBody>
          <a:bodyPr wrap="square" lIns="0" tIns="0" rIns="0" bIns="0" rtlCol="0">
            <a:spAutoFit/>
          </a:bodyPr>
          <a:lstStyle/>
          <a:p>
            <a:pPr algn="r"/>
            <a:fld id="{EC0794C1-EF0D-4FC1-8DED-114D42516E02}" type="slidenum">
              <a:rPr lang="en-US" sz="2000" smtClean="0"/>
              <a:pPr algn="r"/>
              <a:t>‹#›</a:t>
            </a:fld>
            <a:endParaRPr lang="en-US" sz="2000" dirty="0" err="1"/>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553998"/>
          </a:xfrm>
        </p:spPr>
        <p:txBody>
          <a:bodyPr anchor="t"/>
          <a:lstStyle>
            <a:lvl1pPr>
              <a:defRPr>
                <a:solidFill>
                  <a:schemeClr val="tx2"/>
                </a:solidFill>
              </a:defRPr>
            </a:lvl1pPr>
          </a:lstStyle>
          <a:p>
            <a:r>
              <a:rPr lang="en-US" dirty="0"/>
              <a:t>Agenda</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ltLang="ja-JP"/>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ja-JP" altLang="en-US"/>
              <a:t>マスター タイトルの書式設定</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13" r:id="rId1"/>
    <p:sldLayoutId id="2147485452" r:id="rId2"/>
    <p:sldLayoutId id="2147485482" r:id="rId3"/>
    <p:sldLayoutId id="2147485491" r:id="rId4"/>
    <p:sldLayoutId id="2147485495" r:id="rId5"/>
  </p:sldLayoutIdLst>
  <p:transition>
    <p:fade/>
  </p:transition>
  <p:hf hdr="0" ftr="0" dt="0"/>
  <p:txStyles>
    <p:title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en-US"/>
      </a:defPPr>
      <a:lvl1pPr marL="0" algn="l" defTabSz="932742" rtl="0" eaLnBrk="1" latinLnBrk="0" hangingPunct="1">
        <a:defRPr kumimoji="1" sz="1800" kern="1200">
          <a:solidFill>
            <a:schemeClr val="tx1"/>
          </a:solidFill>
          <a:latin typeface="+mn-lt"/>
          <a:ea typeface="+mn-ea"/>
          <a:cs typeface="+mn-cs"/>
        </a:defRPr>
      </a:lvl1pPr>
      <a:lvl2pPr marL="466371" algn="l" defTabSz="932742" rtl="0" eaLnBrk="1" latinLnBrk="0" hangingPunct="1">
        <a:defRPr kumimoji="1" sz="1800" kern="1200">
          <a:solidFill>
            <a:schemeClr val="tx1"/>
          </a:solidFill>
          <a:latin typeface="+mn-lt"/>
          <a:ea typeface="+mn-ea"/>
          <a:cs typeface="+mn-cs"/>
        </a:defRPr>
      </a:lvl2pPr>
      <a:lvl3pPr marL="932742" algn="l" defTabSz="932742" rtl="0" eaLnBrk="1" latinLnBrk="0" hangingPunct="1">
        <a:defRPr kumimoji="1" sz="1800" kern="1200">
          <a:solidFill>
            <a:schemeClr val="tx1"/>
          </a:solidFill>
          <a:latin typeface="+mn-lt"/>
          <a:ea typeface="+mn-ea"/>
          <a:cs typeface="+mn-cs"/>
        </a:defRPr>
      </a:lvl3pPr>
      <a:lvl4pPr marL="1399113" algn="l" defTabSz="932742" rtl="0" eaLnBrk="1" latinLnBrk="0" hangingPunct="1">
        <a:defRPr kumimoji="1" sz="1800" kern="1200">
          <a:solidFill>
            <a:schemeClr val="tx1"/>
          </a:solidFill>
          <a:latin typeface="+mn-lt"/>
          <a:ea typeface="+mn-ea"/>
          <a:cs typeface="+mn-cs"/>
        </a:defRPr>
      </a:lvl4pPr>
      <a:lvl5pPr marL="1865484" algn="l" defTabSz="932742" rtl="0" eaLnBrk="1" latinLnBrk="0" hangingPunct="1">
        <a:defRPr kumimoji="1" sz="1800" kern="1200">
          <a:solidFill>
            <a:schemeClr val="tx1"/>
          </a:solidFill>
          <a:latin typeface="+mn-lt"/>
          <a:ea typeface="+mn-ea"/>
          <a:cs typeface="+mn-cs"/>
        </a:defRPr>
      </a:lvl5pPr>
      <a:lvl6pPr marL="2331856" algn="l" defTabSz="932742" rtl="0" eaLnBrk="1" latinLnBrk="0" hangingPunct="1">
        <a:defRPr kumimoji="1" sz="1800" kern="1200">
          <a:solidFill>
            <a:schemeClr val="tx1"/>
          </a:solidFill>
          <a:latin typeface="+mn-lt"/>
          <a:ea typeface="+mn-ea"/>
          <a:cs typeface="+mn-cs"/>
        </a:defRPr>
      </a:lvl6pPr>
      <a:lvl7pPr marL="2798226" algn="l" defTabSz="932742" rtl="0" eaLnBrk="1" latinLnBrk="0" hangingPunct="1">
        <a:defRPr kumimoji="1" sz="1800" kern="1200">
          <a:solidFill>
            <a:schemeClr val="tx1"/>
          </a:solidFill>
          <a:latin typeface="+mn-lt"/>
          <a:ea typeface="+mn-ea"/>
          <a:cs typeface="+mn-cs"/>
        </a:defRPr>
      </a:lvl7pPr>
      <a:lvl8pPr marL="3264597" algn="l" defTabSz="932742" rtl="0" eaLnBrk="1" latinLnBrk="0" hangingPunct="1">
        <a:defRPr kumimoji="1" sz="1800" kern="1200">
          <a:solidFill>
            <a:schemeClr val="tx1"/>
          </a:solidFill>
          <a:latin typeface="+mn-lt"/>
          <a:ea typeface="+mn-ea"/>
          <a:cs typeface="+mn-cs"/>
        </a:defRPr>
      </a:lvl8pPr>
      <a:lvl9pPr marL="3730969" algn="l" defTabSz="932742"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02936" TargetMode="External"/><Relationship Id="rId3" Type="http://schemas.openxmlformats.org/officeDocument/2006/relationships/hyperlink" Target="https://azure.microsoft.com/updates/?id=558033" TargetMode="External"/><Relationship Id="rId4" Type="http://schemas.openxmlformats.org/officeDocument/2006/relationships/hyperlink" Target="https://azure.microsoft.com/updates/?id=559311" TargetMode="External"/><Relationship Id="rId5" Type="http://schemas.openxmlformats.org/officeDocument/2006/relationships/hyperlink" Target="https://azure.microsoft.com/updates/?id=557928" TargetMode="External"/><Relationship Id="rId6" Type="http://schemas.openxmlformats.org/officeDocument/2006/relationships/hyperlink" Target="https://azure.microsoft.com/updates/?id=56117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5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4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81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89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0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0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88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1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66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89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1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48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28"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33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16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3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8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16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1324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8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17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8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0293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9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00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97"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59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48"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33"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311"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51"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734"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5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879"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148"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015"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33"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188"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61"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257"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162"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001"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403"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020"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521"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13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886"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395"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358"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53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119"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067"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98"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07"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373"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392"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41"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987"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1432"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293"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805"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6019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Azure Updates まとめ</a:t>
            </a:r>
          </a:p>
        </p:txBody>
      </p:sp>
      <p:sp>
        <p:nvSpPr>
          <p:cNvPr id="3" name="Text Placeholder 2"/>
          <p:cNvSpPr>
            <a:spLocks noGrp="1"/>
          </p:cNvSpPr>
          <p:nvPr>
            <p:ph type="body" idx="12" sz="quarter"/>
          </p:nvPr>
        </p:nvSpPr>
        <p:spPr/>
        <p:txBody>
          <a:bodyPr/>
          <a:lstStyle/>
          <a:p>
            <a:r>
              <a:rPr sz="2000" b="0">
                <a:solidFill>
                  <a:srgbClr val="FFFFFF"/>
                </a:solidFill>
                <a:latin typeface="Yu Gothic UI"/>
                <a:ea typeface="Yu Gothic UI"/>
              </a:rPr>
              <a:t>2026/04/13 〜 2026/05/07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78D4"/>
                </a:solidFill>
                <a:latin typeface="Yu Gothic UI"/>
                <a:ea typeface="Yu Gothic UI"/>
              </a:rPr>
              <a:t>サマリー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r>
              <a:rPr sz="2200" b="1">
                <a:solidFill>
                  <a:srgbClr val="0078D4"/>
                </a:solidFill>
                <a:latin typeface="Yu Gothic UI"/>
                <a:ea typeface="Yu Gothic UI"/>
              </a:rPr>
              <a:t>ステータス別件数</a:t>
            </a:r>
          </a:p>
          <a:p>
            <a:pPr lvl="1">
              <a:spcBef>
                <a:spcPts val="200"/>
              </a:spcBef>
            </a:pPr>
            <a:r>
              <a:rPr sz="1800" b="0">
                <a:solidFill>
                  <a:srgbClr val="107C10"/>
                </a:solidFill>
                <a:latin typeface="Yu Gothic UI"/>
                <a:ea typeface="Yu Gothic UI"/>
              </a:rPr>
              <a:t>一般提供開始: 36件</a:t>
            </a:r>
          </a:p>
          <a:p>
            <a:pPr lvl="1">
              <a:spcBef>
                <a:spcPts val="200"/>
              </a:spcBef>
            </a:pPr>
            <a:r>
              <a:rPr sz="1800" b="0">
                <a:solidFill>
                  <a:srgbClr val="CA5010"/>
                </a:solidFill>
                <a:latin typeface="Yu Gothic UI"/>
                <a:ea typeface="Yu Gothic UI"/>
              </a:rPr>
              <a:t>パブリックプレビュー: 19件</a:t>
            </a:r>
          </a:p>
          <a:p>
            <a:pPr lvl="1">
              <a:spcBef>
                <a:spcPts val="200"/>
              </a:spcBef>
            </a:pPr>
            <a:r>
              <a:rPr sz="1800" b="0">
                <a:solidFill>
                  <a:srgbClr val="D13438"/>
                </a:solidFill>
                <a:latin typeface="Yu Gothic UI"/>
                <a:ea typeface="Yu Gothic UI"/>
              </a:rPr>
              <a:t>廃止予定: 8件</a:t>
            </a:r>
          </a:p>
          <a:p>
            <a:pPr>
              <a:spcBef>
                <a:spcPts val="1600"/>
              </a:spcBef>
            </a:pPr>
            <a:r>
              <a:rPr sz="2200" b="1">
                <a:solidFill>
                  <a:srgbClr val="0078D4"/>
                </a:solidFill>
                <a:latin typeface="Yu Gothic UI"/>
                <a:ea typeface="Yu Gothic UI"/>
              </a:rPr>
              <a:t>ソリューションカテゴリ別件数</a:t>
            </a:r>
          </a:p>
          <a:p>
            <a:pPr lvl="1">
              <a:spcBef>
                <a:spcPts val="200"/>
              </a:spcBef>
            </a:pPr>
            <a:r>
              <a:rPr sz="1800" b="0">
                <a:solidFill>
                  <a:srgbClr val="333333"/>
                </a:solidFill>
                <a:latin typeface="Yu Gothic UI"/>
                <a:ea typeface="Yu Gothic UI"/>
              </a:rPr>
              <a:t>ストレージ: 13件</a:t>
            </a:r>
          </a:p>
          <a:p>
            <a:pPr lvl="1">
              <a:spcBef>
                <a:spcPts val="200"/>
              </a:spcBef>
            </a:pPr>
            <a:r>
              <a:rPr sz="1800" b="0">
                <a:solidFill>
                  <a:srgbClr val="333333"/>
                </a:solidFill>
                <a:latin typeface="Yu Gothic UI"/>
                <a:ea typeface="Yu Gothic UI"/>
              </a:rPr>
              <a:t>データベース: 7件</a:t>
            </a:r>
          </a:p>
          <a:p>
            <a:pPr lvl="1">
              <a:spcBef>
                <a:spcPts val="200"/>
              </a:spcBef>
            </a:pPr>
            <a:r>
              <a:rPr sz="1800" b="0">
                <a:solidFill>
                  <a:srgbClr val="333333"/>
                </a:solidFill>
                <a:latin typeface="Yu Gothic UI"/>
                <a:ea typeface="Yu Gothic UI"/>
              </a:rPr>
              <a:t>AI + 機械学習: 7件</a:t>
            </a:r>
          </a:p>
          <a:p>
            <a:pPr lvl="1">
              <a:spcBef>
                <a:spcPts val="200"/>
              </a:spcBef>
            </a:pPr>
            <a:r>
              <a:rPr sz="1800" b="0">
                <a:solidFill>
                  <a:srgbClr val="333333"/>
                </a:solidFill>
                <a:latin typeface="Yu Gothic UI"/>
                <a:ea typeface="Yu Gothic UI"/>
              </a:rPr>
              <a:t>コンピューティング: 7件</a:t>
            </a:r>
          </a:p>
          <a:p>
            <a:pPr lvl="1">
              <a:spcBef>
                <a:spcPts val="200"/>
              </a:spcBef>
            </a:pPr>
            <a:r>
              <a:rPr sz="1800" b="0">
                <a:solidFill>
                  <a:srgbClr val="333333"/>
                </a:solidFill>
                <a:latin typeface="Yu Gothic UI"/>
                <a:ea typeface="Yu Gothic UI"/>
              </a:rPr>
              <a:t>セキュリティ: 8件</a:t>
            </a:r>
          </a:p>
          <a:p>
            <a:pPr lvl="1">
              <a:spcBef>
                <a:spcPts val="200"/>
              </a:spcBef>
            </a:pPr>
            <a:r>
              <a:rPr sz="1800" b="0">
                <a:solidFill>
                  <a:srgbClr val="333333"/>
                </a:solidFill>
                <a:latin typeface="Yu Gothic UI"/>
                <a:ea typeface="Yu Gothic UI"/>
              </a:rPr>
              <a:t>コンテナー: 5件</a:t>
            </a:r>
          </a:p>
          <a:p>
            <a:pPr lvl="1">
              <a:spcBef>
                <a:spcPts val="200"/>
              </a:spcBef>
            </a:pPr>
            <a:r>
              <a:rPr sz="1800" b="0">
                <a:solidFill>
                  <a:srgbClr val="333333"/>
                </a:solidFill>
                <a:latin typeface="Yu Gothic UI"/>
                <a:ea typeface="Yu Gothic UI"/>
              </a:rPr>
              <a:t>モニタリング: 5件</a:t>
            </a:r>
          </a:p>
          <a:p>
            <a:pPr lvl="1">
              <a:spcBef>
                <a:spcPts val="200"/>
              </a:spcBef>
            </a:pPr>
            <a:r>
              <a:rPr sz="1800" b="0">
                <a:solidFill>
                  <a:srgbClr val="333333"/>
                </a:solidFill>
                <a:latin typeface="Yu Gothic UI"/>
                <a:ea typeface="Yu Gothic UI"/>
              </a:rPr>
              <a:t>ネットワーク: 3件</a:t>
            </a:r>
          </a:p>
          <a:p>
            <a:pPr lvl="1">
              <a:spcBef>
                <a:spcPts val="200"/>
              </a:spcBef>
            </a:pPr>
            <a:r>
              <a:rPr sz="1800" b="0">
                <a:solidFill>
                  <a:srgbClr val="333333"/>
                </a:solidFill>
                <a:latin typeface="Yu Gothic UI"/>
                <a:ea typeface="Yu Gothic UI"/>
              </a:rPr>
              <a:t>管理 &amp; ガバナンス: 3件</a:t>
            </a:r>
          </a:p>
          <a:p>
            <a:pPr lvl="1">
              <a:spcBef>
                <a:spcPts val="200"/>
              </a:spcBef>
            </a:pPr>
            <a:r>
              <a:rPr sz="1800" b="0">
                <a:solidFill>
                  <a:srgbClr val="333333"/>
                </a:solidFill>
                <a:latin typeface="Yu Gothic UI"/>
                <a:ea typeface="Yu Gothic UI"/>
              </a:rPr>
              <a:t>DevOps: 1件</a:t>
            </a:r>
          </a:p>
          <a:p>
            <a:pPr lvl="1">
              <a:spcBef>
                <a:spcPts val="200"/>
              </a:spcBef>
            </a:pPr>
            <a:r>
              <a:rPr sz="1800" b="0">
                <a:solidFill>
                  <a:srgbClr val="333333"/>
                </a:solidFill>
                <a:latin typeface="Yu Gothic UI"/>
                <a:ea typeface="Yu Gothic UI"/>
              </a:rPr>
              <a:t>統合: 1件</a:t>
            </a:r>
          </a:p>
          <a:p>
            <a:pPr lvl="1">
              <a:spcBef>
                <a:spcPts val="200"/>
              </a:spcBef>
            </a:pPr>
            <a:r>
              <a:rPr sz="1800" b="0">
                <a:solidFill>
                  <a:srgbClr val="333333"/>
                </a:solidFill>
                <a:latin typeface="Yu Gothic UI"/>
                <a:ea typeface="Yu Gothic UI"/>
              </a:rPr>
              <a:t>分析: 1件</a:t>
            </a:r>
          </a:p>
          <a:p>
            <a:pPr lvl="1">
              <a:spcBef>
                <a:spcPts val="200"/>
              </a:spcBef>
            </a:pPr>
            <a:r>
              <a:rPr sz="1800" b="0">
                <a:solidFill>
                  <a:srgbClr val="333333"/>
                </a:solidFill>
                <a:latin typeface="Yu Gothic UI"/>
                <a:ea typeface="Yu Gothic UI"/>
              </a:rPr>
              <a:t>ハイブリッド &amp; マルチクラウド: 1件</a:t>
            </a:r>
          </a:p>
          <a:p>
            <a:pPr lvl="1">
              <a:spcBef>
                <a:spcPts val="200"/>
              </a:spcBef>
            </a:pPr>
            <a:r>
              <a:rPr sz="1800" b="0">
                <a:solidFill>
                  <a:srgbClr val="333333"/>
                </a:solidFill>
                <a:latin typeface="Yu Gothic UI"/>
                <a:ea typeface="Yu Gothic UI"/>
              </a:rPr>
              <a:t>移行: 1件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D13438"/>
                </a:solidFill>
                <a:latin typeface="Yu Gothic UI"/>
                <a:ea typeface="Yu Gothic UI"/>
              </a:rPr>
              <a:t>注目: 廃止 / サポート終了</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r>
              <a:rPr sz="1600" b="1">
                <a:solidFill>
                  <a:srgbClr val="333333"/>
                </a:solidFill>
                <a:latin typeface="Yu Gothic UI"/>
                <a:ea typeface="Yu Gothic UI"/>
              </a:rPr>
              <a:t>今期のアップデートに含まれる主要な廃止 / サポート終了スケジュール</a:t>
            </a:r>
          </a:p>
          <a:p>
            <a:pPr lvl="1">
              <a:spcBef>
                <a:spcPts val="800"/>
              </a:spcBef>
            </a:pPr>
            <a:r>
              <a:rPr sz="1600" b="1">
                <a:solidFill>
                  <a:srgbClr val="D13438"/>
                </a:solidFill>
                <a:latin typeface="Yu Gothic UI"/>
                <a:ea typeface="Yu Gothic UI"/>
              </a:rPr>
              <a:t>Prompt Flow 廃止</a:t>
            </a:r>
            <a:r>
              <a:rPr sz="1500" b="0">
                <a:solidFill>
                  <a:srgbClr val="333333"/>
                </a:solidFill>
                <a:latin typeface="Yu Gothic UI"/>
                <a:ea typeface="Yu Gothic UI"/>
              </a:rPr>
              <a:t>  ─ 期限: 2027-04-20</a:t>
            </a:r>
          </a:p>
          <a:p>
            <a:pPr lvl="2">
              <a:spcBef>
                <a:spcPts val="200"/>
              </a:spcBef>
            </a:pPr>
            <a:r>
              <a:rPr sz="1300" b="0">
                <a:solidFill>
                  <a:srgbClr val="666666"/>
                </a:solidFill>
                <a:latin typeface="Yu Gothic UI"/>
                <a:ea typeface="Yu Gothic UI"/>
              </a:rPr>
              <a:t>廃止予定: Azure ML および Foundry の Prompt Flow</a:t>
            </a:r>
            <a:r>
              <a:rPr sz="1300" b="0">
                <a:solidFill>
                  <a:srgbClr val="666666"/>
                </a:solidFill>
                <a:latin typeface="Yu Gothic UI"/>
                <a:ea typeface="Yu Gothic UI"/>
              </a:rPr>
              <a:t>  </a:t>
            </a:r>
            <a:r>
              <a:rPr sz="1300" b="0">
                <a:solidFill>
                  <a:srgbClr val="0078D4"/>
                </a:solidFill>
                <a:latin typeface="Yu Gothic UI"/>
                <a:ea typeface="Yu Gothic UI"/>
                <a:hlinkClick r:id="rId2"/>
              </a:rPr>
              <a:t>https://azure.microsoft.com/updates/?id=502936</a:t>
            </a:r>
          </a:p>
          <a:p>
            <a:pPr lvl="1">
              <a:spcBef>
                <a:spcPts val="800"/>
              </a:spcBef>
            </a:pPr>
            <a:r>
              <a:rPr sz="1600" b="1">
                <a:solidFill>
                  <a:srgbClr val="D13438"/>
                </a:solidFill>
                <a:latin typeface="Yu Gothic UI"/>
                <a:ea typeface="Yu Gothic UI"/>
              </a:rPr>
              <a:t>.NET 8 (LTS) サポート終了</a:t>
            </a:r>
            <a:r>
              <a:rPr sz="1500" b="0">
                <a:solidFill>
                  <a:srgbClr val="333333"/>
                </a:solidFill>
                <a:latin typeface="Yu Gothic UI"/>
                <a:ea typeface="Yu Gothic UI"/>
              </a:rPr>
              <a:t>  ─ 期限: 2026-11-10</a:t>
            </a:r>
          </a:p>
          <a:p>
            <a:pPr lvl="2">
              <a:spcBef>
                <a:spcPts val="200"/>
              </a:spcBef>
            </a:pPr>
            <a:r>
              <a:rPr sz="1300" b="0">
                <a:solidFill>
                  <a:srgbClr val="666666"/>
                </a:solidFill>
                <a:latin typeface="Yu Gothic UI"/>
                <a:ea typeface="Yu Gothic UI"/>
              </a:rPr>
              <a:t>廃止予定: .NET 8 (LTS) のサポートは 2026 年 11 月 10 日に終了 — .NET 10 (LTS) へアップグレード推奨</a:t>
            </a:r>
            <a:r>
              <a:rPr sz="1300" b="0">
                <a:solidFill>
                  <a:srgbClr val="666666"/>
                </a:solidFill>
                <a:latin typeface="Yu Gothic UI"/>
                <a:ea typeface="Yu Gothic UI"/>
              </a:rPr>
              <a:t>  </a:t>
            </a:r>
            <a:r>
              <a:rPr sz="1300" b="0">
                <a:solidFill>
                  <a:srgbClr val="0078D4"/>
                </a:solidFill>
                <a:latin typeface="Yu Gothic UI"/>
                <a:ea typeface="Yu Gothic UI"/>
                <a:hlinkClick r:id="rId3"/>
              </a:rPr>
              <a:t>https://azure.microsoft.com/updates/?id=558033</a:t>
            </a:r>
          </a:p>
          <a:p>
            <a:pPr lvl="1">
              <a:spcBef>
                <a:spcPts val="800"/>
              </a:spcBef>
            </a:pPr>
            <a:r>
              <a:rPr sz="1600" b="1">
                <a:solidFill>
                  <a:srgbClr val="D13438"/>
                </a:solidFill>
                <a:latin typeface="Yu Gothic UI"/>
                <a:ea typeface="Yu Gothic UI"/>
              </a:rPr>
              <a:t>Azure Functions runtime v3 on Linux Consumption 停止</a:t>
            </a:r>
            <a:r>
              <a:rPr sz="1500" b="0">
                <a:solidFill>
                  <a:srgbClr val="333333"/>
                </a:solidFill>
                <a:latin typeface="Yu Gothic UI"/>
                <a:ea typeface="Yu Gothic UI"/>
              </a:rPr>
              <a:t>  ─ 期限: 2026-09-30</a:t>
            </a:r>
          </a:p>
          <a:p>
            <a:pPr lvl="2">
              <a:spcBef>
                <a:spcPts val="200"/>
              </a:spcBef>
            </a:pPr>
            <a:r>
              <a:rPr sz="1300" b="0">
                <a:solidFill>
                  <a:srgbClr val="666666"/>
                </a:solidFill>
                <a:latin typeface="Yu Gothic UI"/>
                <a:ea typeface="Yu Gothic UI"/>
              </a:rPr>
              <a:t>廃止予定: Linux Consumption 上の Azure Functions runtime v3 は 2026 年 9 月 30 日に停止</a:t>
            </a:r>
            <a:r>
              <a:rPr sz="1300" b="0">
                <a:solidFill>
                  <a:srgbClr val="666666"/>
                </a:solidFill>
                <a:latin typeface="Yu Gothic UI"/>
                <a:ea typeface="Yu Gothic UI"/>
              </a:rPr>
              <a:t>  </a:t>
            </a:r>
            <a:r>
              <a:rPr sz="1300" b="0">
                <a:solidFill>
                  <a:srgbClr val="0078D4"/>
                </a:solidFill>
                <a:latin typeface="Yu Gothic UI"/>
                <a:ea typeface="Yu Gothic UI"/>
                <a:hlinkClick r:id="rId4"/>
              </a:rPr>
              <a:t>https://azure.microsoft.com/updates/?id=559311</a:t>
            </a:r>
          </a:p>
          <a:p>
            <a:pPr lvl="1">
              <a:spcBef>
                <a:spcPts val="800"/>
              </a:spcBef>
            </a:pPr>
            <a:r>
              <a:rPr sz="1600" b="1">
                <a:solidFill>
                  <a:srgbClr val="D13438"/>
                </a:solidFill>
                <a:latin typeface="Yu Gothic UI"/>
                <a:ea typeface="Yu Gothic UI"/>
              </a:rPr>
              <a:t>旧世代 VM 予約インスタンス廃止</a:t>
            </a:r>
            <a:r>
              <a:rPr sz="1500" b="0">
                <a:solidFill>
                  <a:srgbClr val="333333"/>
                </a:solidFill>
                <a:latin typeface="Yu Gothic UI"/>
                <a:ea typeface="Yu Gothic UI"/>
              </a:rPr>
              <a:t>  ─ 期限: 2026-07-01</a:t>
            </a:r>
          </a:p>
          <a:p>
            <a:pPr lvl="1">
              <a:spcBef>
                <a:spcPts val="800"/>
              </a:spcBef>
            </a:pPr>
            <a:r>
              <a:rPr sz="1600" b="1">
                <a:solidFill>
                  <a:srgbClr val="D13438"/>
                </a:solidFill>
                <a:latin typeface="Yu Gothic UI"/>
                <a:ea typeface="Yu Gothic UI"/>
              </a:rPr>
              <a:t>AKS Ubuntu 22.04 廃止</a:t>
            </a:r>
            <a:r>
              <a:rPr sz="1500" b="0">
                <a:solidFill>
                  <a:srgbClr val="333333"/>
                </a:solidFill>
                <a:latin typeface="Yu Gothic UI"/>
                <a:ea typeface="Yu Gothic UI"/>
              </a:rPr>
              <a:t>  ─ 期限: 2027-06-30</a:t>
            </a:r>
          </a:p>
          <a:p>
            <a:pPr lvl="2">
              <a:spcBef>
                <a:spcPts val="200"/>
              </a:spcBef>
            </a:pPr>
            <a:r>
              <a:rPr sz="1300" b="0">
                <a:solidFill>
                  <a:srgbClr val="666666"/>
                </a:solidFill>
                <a:latin typeface="Yu Gothic UI"/>
                <a:ea typeface="Yu Gothic UI"/>
              </a:rPr>
              <a:t>廃止予定: AKS の Ubuntu 22.04 サポート</a:t>
            </a:r>
            <a:r>
              <a:rPr sz="1300" b="0">
                <a:solidFill>
                  <a:srgbClr val="666666"/>
                </a:solidFill>
                <a:latin typeface="Yu Gothic UI"/>
                <a:ea typeface="Yu Gothic UI"/>
              </a:rPr>
              <a:t>  </a:t>
            </a:r>
            <a:r>
              <a:rPr sz="1300" b="0">
                <a:solidFill>
                  <a:srgbClr val="0078D4"/>
                </a:solidFill>
                <a:latin typeface="Yu Gothic UI"/>
                <a:ea typeface="Yu Gothic UI"/>
                <a:hlinkClick r:id="rId5"/>
              </a:rPr>
              <a:t>https://azure.microsoft.com/updates/?id=557928</a:t>
            </a:r>
          </a:p>
          <a:p>
            <a:pPr lvl="1">
              <a:spcBef>
                <a:spcPts val="800"/>
              </a:spcBef>
            </a:pPr>
            <a:r>
              <a:rPr sz="1600" b="1">
                <a:solidFill>
                  <a:srgbClr val="D13438"/>
                </a:solidFill>
                <a:latin typeface="Yu Gothic UI"/>
                <a:ea typeface="Yu Gothic UI"/>
              </a:rPr>
              <a:t>Document Intelligence v3.0 API 廃止</a:t>
            </a:r>
            <a:r>
              <a:rPr sz="1500" b="0">
                <a:solidFill>
                  <a:srgbClr val="333333"/>
                </a:solidFill>
                <a:latin typeface="Yu Gothic UI"/>
                <a:ea typeface="Yu Gothic UI"/>
              </a:rPr>
              <a:t>  ─ 期限: 2029-03-30</a:t>
            </a:r>
          </a:p>
          <a:p>
            <a:pPr lvl="2">
              <a:spcBef>
                <a:spcPts val="200"/>
              </a:spcBef>
            </a:pPr>
            <a:r>
              <a:rPr sz="1300" b="0">
                <a:solidFill>
                  <a:srgbClr val="666666"/>
                </a:solidFill>
                <a:latin typeface="Yu Gothic UI"/>
                <a:ea typeface="Yu Gothic UI"/>
              </a:rPr>
              <a:t>廃止予定: Azure Document Intelligence v3.0 API は 2029 年 3 月 30 日に廃止</a:t>
            </a:r>
            <a:r>
              <a:rPr sz="1300" b="0">
                <a:solidFill>
                  <a:srgbClr val="666666"/>
                </a:solidFill>
                <a:latin typeface="Yu Gothic UI"/>
                <a:ea typeface="Yu Gothic UI"/>
              </a:rPr>
              <a:t>  </a:t>
            </a:r>
            <a:r>
              <a:rPr sz="1300" b="0">
                <a:solidFill>
                  <a:srgbClr val="0078D4"/>
                </a:solidFill>
                <a:latin typeface="Yu Gothic UI"/>
                <a:ea typeface="Yu Gothic UI"/>
                <a:hlinkClick r:id="rId6"/>
              </a:rPr>
              <a:t>https://azure.microsoft.com/updates/?id=561176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ストレージ（13件）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お知らせ: クール系ストレージ階層に最小課金オブジェクトサイズを導入</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Blob / Data Lake Storage の cool、cold、archive アクセス階層に最小課金オブジェクトサイズ 128 KiB が導入されます</a:t>
            </a:r>
          </a:p>
          <a:p>
            <a:pPr lvl="1">
              <a:spcBef>
                <a:spcPts val="300"/>
              </a:spcBef>
            </a:pPr>
            <a:r>
              <a:rPr sz="1400" b="0">
                <a:solidFill>
                  <a:srgbClr val="333333"/>
                </a:solidFill>
                <a:latin typeface="Yu Gothic UI"/>
                <a:ea typeface="Yu Gothic UI"/>
              </a:rPr>
              <a:t>128 KiB 未満のオブジェクトは該当階層のレートで 128 KiB として課金されます (容量課金メーターに反映、トランザクション課金は変更なし)</a:t>
            </a:r>
          </a:p>
          <a:p>
            <a:pPr lvl="1">
              <a:spcBef>
                <a:spcPts val="300"/>
              </a:spcBef>
            </a:pPr>
            <a:r>
              <a:rPr sz="1400" b="0">
                <a:solidFill>
                  <a:srgbClr val="333333"/>
                </a:solidFill>
                <a:latin typeface="Yu Gothic UI"/>
                <a:ea typeface="Yu Gothic UI"/>
              </a:rPr>
              <a:t>段階適用: 2026 年 7 月 1 日 — 新規ストレージアカウント、2027 年 7 月 1 日 — 全ストレージアカウント</a:t>
            </a:r>
          </a:p>
          <a:p>
            <a:pPr lvl="1">
              <a:spcBef>
                <a:spcPts val="300"/>
              </a:spcBef>
            </a:pPr>
            <a:r>
              <a:rPr sz="1400" b="0">
                <a:solidFill>
                  <a:srgbClr val="333333"/>
                </a:solidFill>
                <a:latin typeface="Yu Gothic UI"/>
                <a:ea typeface="Yu Gothic UI"/>
              </a:rPr>
              <a:t>Hot 階層は引き続き最小サイズなし</a:t>
            </a:r>
          </a:p>
          <a:p>
            <a:pPr lvl="1">
              <a:spcBef>
                <a:spcPts val="300"/>
              </a:spcBef>
            </a:pPr>
            <a:r>
              <a:rPr sz="1400" b="0">
                <a:solidFill>
                  <a:srgbClr val="333333"/>
                </a:solidFill>
                <a:latin typeface="Yu Gothic UI"/>
                <a:ea typeface="Yu Gothic UI"/>
              </a:rPr>
              <a:t>コスト影響を抑えるには、小さいオブジェクトをまとめてからクール系階層へ移動するか、Smart Tier (GA) で小さなオブジェクトを自動的に Hot 階層に保持することを推奨します</a:t>
            </a:r>
          </a:p>
          <a:p>
            <a:pPr>
              <a:spcBef>
                <a:spcPts val="1400"/>
              </a:spcBef>
            </a:pPr>
            <a:r>
              <a:rPr sz="1300" b="1">
                <a:solidFill>
                  <a:srgbClr val="666666"/>
                </a:solidFill>
                <a:latin typeface="Yu Gothic UI"/>
                <a:ea typeface="Yu Gothic UI"/>
              </a:rPr>
              <a:t>対象製品: Azure Blob Storage, Azure Data Lake Storage</a:t>
            </a:r>
          </a:p>
          <a:p>
            <a:pPr>
              <a:spcBef>
                <a:spcPts val="200"/>
              </a:spcBef>
            </a:pPr>
            <a:r>
              <a:rPr sz="1300" b="0">
                <a:solidFill>
                  <a:srgbClr val="666666"/>
                </a:solidFill>
                <a:latin typeface="Yu Gothic UI"/>
                <a:ea typeface="Yu Gothic UI"/>
              </a:rPr>
              <a:t>作成日: 2026/04/14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Smart Tier (Azure Blob / Data Lake Storage)</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Blob / Data Lake Storage の Smart Tier が一般提供開始 (ゾーン対応のほぼ全リージョンで提供、Israel Central / Qatar Central / UAE North を除く)</a:t>
            </a:r>
          </a:p>
          <a:p>
            <a:pPr lvl="1">
              <a:spcBef>
                <a:spcPts val="300"/>
              </a:spcBef>
            </a:pPr>
            <a:r>
              <a:rPr sz="1400" b="0">
                <a:solidFill>
                  <a:srgbClr val="333333"/>
                </a:solidFill>
                <a:latin typeface="Yu Gothic UI"/>
                <a:ea typeface="Yu Gothic UI"/>
              </a:rPr>
              <a:t>完全マネージド・自動データ階層化ソリューションで、利用パターンに基づき Hot / Cool / Cold アクセス階層間でデータを自動移動し、コストを最適化します</a:t>
            </a:r>
          </a:p>
          <a:p>
            <a:pPr lvl="1">
              <a:spcBef>
                <a:spcPts val="300"/>
              </a:spcBef>
            </a:pPr>
            <a:r>
              <a:rPr sz="1400" b="0">
                <a:solidFill>
                  <a:srgbClr val="333333"/>
                </a:solidFill>
                <a:latin typeface="Yu Gothic UI"/>
                <a:ea typeface="Yu Gothic UI"/>
              </a:rPr>
              <a:t>新規データは Hot、30 日アクセスなしで Cool、さらに 90 日アクセスなしで Cold へ</a:t>
            </a:r>
          </a:p>
          <a:p>
            <a:pPr lvl="1">
              <a:spcBef>
                <a:spcPts val="300"/>
              </a:spcBef>
            </a:pPr>
            <a:r>
              <a:rPr sz="1400" b="0">
                <a:solidFill>
                  <a:srgbClr val="333333"/>
                </a:solidFill>
                <a:latin typeface="Yu Gothic UI"/>
                <a:ea typeface="Yu Gothic UI"/>
              </a:rPr>
              <a:t>アクセスがあれば Hot へ戻り、サイクルがリセット</a:t>
            </a:r>
          </a:p>
          <a:p>
            <a:pPr lvl="1">
              <a:spcBef>
                <a:spcPts val="300"/>
              </a:spcBef>
            </a:pPr>
            <a:r>
              <a:rPr sz="1400" b="0">
                <a:solidFill>
                  <a:srgbClr val="333333"/>
                </a:solidFill>
                <a:latin typeface="Yu Gothic UI"/>
                <a:ea typeface="Yu Gothic UI"/>
              </a:rPr>
              <a:t>GPv2 ゾーン冗長アカウントで新規/既存ともにアカウントスコープで有効化可能</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2026/04/14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Premium SSD v2 Disk が東日本 (Japan West) の3つの可用性ゾーンすべてで利用可能に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Premium SSD v2 が Japan West リージョンの3つの可用性ゾーンすべてで利用可能になりました</a:t>
            </a:r>
          </a:p>
          <a:p>
            <a:pPr lvl="1">
              <a:spcBef>
                <a:spcPts val="300"/>
              </a:spcBef>
            </a:pPr>
            <a:r>
              <a:rPr sz="1400" b="0">
                <a:solidFill>
                  <a:srgbClr val="333333"/>
                </a:solidFill>
                <a:latin typeface="Yu Gothic UI"/>
                <a:ea typeface="Yu Gothic UI"/>
              </a:rPr>
              <a:t>Premium SSD v2 は Azure VM 向けの次世代汎用ブロックストレージで、ミリ秒未満のレイテンシと優れた価格性能を低コストで提供します</a:t>
            </a:r>
          </a:p>
          <a:p>
            <a:pPr lvl="1">
              <a:spcBef>
                <a:spcPts val="300"/>
              </a:spcBef>
            </a:pPr>
            <a:r>
              <a:rPr sz="1400" b="0">
                <a:solidFill>
                  <a:srgbClr val="333333"/>
                </a:solidFill>
                <a:latin typeface="Yu Gothic UI"/>
                <a:ea typeface="Yu Gothic UI"/>
              </a:rPr>
              <a:t>SQL Server、Oracle、MariaDB、SAP、Cassandra、MongoDB、ビッグデータ/分析、ステートフルコンテナーやゲーミングなど、幅広いエンタープライズ本番ワークロードに適しています</a:t>
            </a:r>
          </a:p>
          <a:p>
            <a:pPr>
              <a:spcBef>
                <a:spcPts val="1400"/>
              </a:spcBef>
            </a:pPr>
            <a:r>
              <a:rPr sz="1300" b="1">
                <a:solidFill>
                  <a:srgbClr val="666666"/>
                </a:solidFill>
                <a:latin typeface="Yu Gothic UI"/>
                <a:ea typeface="Yu Gothic UI"/>
              </a:rPr>
              <a:t>対象製品: Azure Compute Fleet, Azure Disk Storage, Azure Migrate</a:t>
            </a:r>
          </a:p>
          <a:p>
            <a:pPr>
              <a:spcBef>
                <a:spcPts val="200"/>
              </a:spcBef>
            </a:pPr>
            <a:r>
              <a:rPr sz="1300" b="0">
                <a:solidFill>
                  <a:srgbClr val="666666"/>
                </a:solidFill>
                <a:latin typeface="Yu Gothic UI"/>
                <a:ea typeface="Yu Gothic UI"/>
              </a:rPr>
              <a:t>作成日: 2026/05/07</a:t>
            </a:r>
          </a:p>
          <a:p>
            <a:pPr>
              <a:spcBef>
                <a:spcPts val="200"/>
              </a:spcBef>
            </a:pPr>
            <a:r>
              <a:rPr sz="1300" b="0">
                <a:solidFill>
                  <a:srgbClr val="666666"/>
                </a:solidFill>
                <a:latin typeface="Yu Gothic UI"/>
                <a:ea typeface="Yu Gothic UI"/>
              </a:rPr>
              <a:t>可用性: General Availability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https://azure.microsoft.com/updates/?id=561814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Elastic SAN の単一ボリュームスナップショット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Elastic SAN が単一ボリュームスナップショットをサポート</a:t>
            </a:r>
          </a:p>
          <a:p>
            <a:pPr lvl="1">
              <a:spcBef>
                <a:spcPts val="300"/>
              </a:spcBef>
            </a:pPr>
            <a:r>
              <a:rPr sz="1400" b="0">
                <a:solidFill>
                  <a:srgbClr val="333333"/>
                </a:solidFill>
                <a:latin typeface="Yu Gothic UI"/>
                <a:ea typeface="Yu Gothic UI"/>
              </a:rPr>
              <a:t>個別 SAN ボリュームに対する増分・ポイントインタイム バックアップが可能となり、前回スナップショット以降の差分のみを SAN 内に保持します</a:t>
            </a:r>
          </a:p>
          <a:p>
            <a:pPr lvl="1">
              <a:spcBef>
                <a:spcPts val="300"/>
              </a:spcBef>
            </a:pPr>
            <a:r>
              <a:rPr sz="1400" b="0">
                <a:solidFill>
                  <a:srgbClr val="333333"/>
                </a:solidFill>
                <a:latin typeface="Yu Gothic UI"/>
                <a:ea typeface="Yu Gothic UI"/>
              </a:rPr>
              <a:t>リストアポイントから新規ボリュームを迅速にデプロイ可能で、長期保存のためマネージドディスクスナップショットへのエクスポートにも対応</a:t>
            </a:r>
          </a:p>
          <a:p>
            <a:pPr lvl="1">
              <a:spcBef>
                <a:spcPts val="300"/>
              </a:spcBef>
            </a:pPr>
            <a:r>
              <a:rPr sz="1400" b="0">
                <a:solidFill>
                  <a:srgbClr val="333333"/>
                </a:solidFill>
                <a:latin typeface="Yu Gothic UI"/>
                <a:ea typeface="Yu Gothic UI"/>
              </a:rPr>
              <a:t>容量効率に優れ、別途課金は発生せず親 SAN の冗長構成を継承します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2026/05/05</a:t>
            </a:r>
          </a:p>
          <a:p>
            <a:pPr>
              <a:spcBef>
                <a:spcPts val="200"/>
              </a:spcBef>
            </a:pPr>
            <a:r>
              <a:rPr sz="1300" b="0">
                <a:solidFill>
                  <a:srgbClr val="666666"/>
                </a:solidFill>
                <a:latin typeface="Yu Gothic UI"/>
                <a:ea typeface="Yu Gothic UI"/>
              </a:rPr>
              <a:t>可用性: General Availability 2025/March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https://azure.microsoft.com/updates/?id=560899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Elastic SAN が AVS Gen2 Private Cloud 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Elastic SAN データストアと AVS Gen2 Private Cloud の併用時に接続が簡素化され性能が向上</a:t>
            </a:r>
          </a:p>
          <a:p>
            <a:pPr lvl="1">
              <a:spcBef>
                <a:spcPts val="300"/>
              </a:spcBef>
            </a:pPr>
            <a:r>
              <a:rPr sz="1400" b="0">
                <a:solidFill>
                  <a:srgbClr val="333333"/>
                </a:solidFill>
                <a:latin typeface="Yu Gothic UI"/>
                <a:ea typeface="Yu Gothic UI"/>
              </a:rPr>
              <a:t>ExpressRoute ゲートウェイ不要で、単一の Private Endpoint で最適な iSCSI セッション数を構成可能</a:t>
            </a:r>
          </a:p>
          <a:p>
            <a:pPr lvl="1">
              <a:spcBef>
                <a:spcPts val="300"/>
              </a:spcBef>
            </a:pPr>
            <a:r>
              <a:rPr sz="1400" b="0">
                <a:solidFill>
                  <a:srgbClr val="333333"/>
                </a:solidFill>
                <a:latin typeface="Yu Gothic UI"/>
                <a:ea typeface="Yu Gothic UI"/>
              </a:rPr>
              <a:t>ExpressRoute ゲートウェイ帯域による制限がなく、Elastic SAN のプロビジョン済みスループット全体を活用できます</a:t>
            </a:r>
          </a:p>
          <a:p>
            <a:pPr lvl="1">
              <a:spcBef>
                <a:spcPts val="300"/>
              </a:spcBef>
            </a:pPr>
            <a:r>
              <a:rPr sz="1400" b="0">
                <a:solidFill>
                  <a:srgbClr val="333333"/>
                </a:solidFill>
                <a:latin typeface="Yu Gothic UI"/>
                <a:ea typeface="Yu Gothic UI"/>
              </a:rPr>
              <a:t>スループット集約型の AVS ワークロードでデプロイを簡素化しつつ最大性能を実現します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2026/05/05</a:t>
            </a:r>
          </a:p>
          <a:p>
            <a:pPr>
              <a:spcBef>
                <a:spcPts val="200"/>
              </a:spcBef>
            </a:pPr>
            <a:r>
              <a:rPr sz="1300" b="0">
                <a:solidFill>
                  <a:srgbClr val="666666"/>
                </a:solidFill>
                <a:latin typeface="Yu Gothic UI"/>
                <a:ea typeface="Yu Gothic UI"/>
              </a:rPr>
              <a:t>可用性: General Availability 2025/August</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Backup による Elastic SAN のバックアップ</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Backup が Elastic SAN をサポート (プレビュー)</a:t>
            </a:r>
          </a:p>
          <a:p>
            <a:pPr lvl="1">
              <a:spcBef>
                <a:spcPts val="300"/>
              </a:spcBef>
            </a:pPr>
            <a:r>
              <a:rPr sz="1400" b="0">
                <a:solidFill>
                  <a:srgbClr val="333333"/>
                </a:solidFill>
                <a:latin typeface="Yu Gothic UI"/>
                <a:ea typeface="Yu Gothic UI"/>
              </a:rPr>
              <a:t>Elastic SAN ボリュームを独立したマネージドディスク増分スナップショットとしてエクスポートし、誤削除・ランサムウェア・アプリ更新からのデータ保護を提供します</a:t>
            </a:r>
          </a:p>
          <a:p>
            <a:pPr lvl="1">
              <a:spcBef>
                <a:spcPts val="300"/>
              </a:spcBef>
            </a:pPr>
            <a:r>
              <a:rPr sz="1400" b="0">
                <a:solidFill>
                  <a:srgbClr val="333333"/>
                </a:solidFill>
                <a:latin typeface="Yu Gothic UI"/>
                <a:ea typeface="Yu Gothic UI"/>
              </a:rPr>
              <a:t>最大 450 リストアポイント、24 時間のバックアップ頻度に対応</a:t>
            </a:r>
          </a:p>
          <a:p>
            <a:pPr lvl="1">
              <a:spcBef>
                <a:spcPts val="300"/>
              </a:spcBef>
            </a:pPr>
            <a:r>
              <a:rPr sz="1400" b="0">
                <a:solidFill>
                  <a:srgbClr val="333333"/>
                </a:solidFill>
                <a:latin typeface="Yu Gothic UI"/>
                <a:ea typeface="Yu Gothic UI"/>
              </a:rPr>
              <a:t>プレビューでは選択リージョンのみで提供、対応ボリュームは最大 4 TiB、長期保管バックアップや時間単位バックアップは未サポートです</a:t>
            </a:r>
          </a:p>
          <a:p>
            <a:pPr lvl="1">
              <a:spcBef>
                <a:spcPts val="300"/>
              </a:spcBef>
            </a:pPr>
            <a:r>
              <a:rPr sz="1400" b="0">
                <a:solidFill>
                  <a:srgbClr val="333333"/>
                </a:solidFill>
                <a:latin typeface="Yu Gothic UI"/>
                <a:ea typeface="Yu Gothic UI"/>
              </a:rPr>
              <a:t>プレビュー期間中は Azure Backup 保護インスタンス料金は発生せず、増分スナップショットの標準料金のみが請求されます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Preview 2025/May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Elastic SAN の CRC 保護対応</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Elastic SAN がクライアント側で有効化された CRC-32C チェックサム検証をサポート</a:t>
            </a:r>
          </a:p>
          <a:p>
            <a:pPr lvl="1">
              <a:spcBef>
                <a:spcPts val="300"/>
              </a:spcBef>
            </a:pPr>
            <a:r>
              <a:rPr sz="1400" b="0">
                <a:solidFill>
                  <a:srgbClr val="333333"/>
                </a:solidFill>
                <a:latin typeface="Yu Gothic UI"/>
                <a:ea typeface="Yu Gothic UI"/>
              </a:rPr>
              <a:t>新規作成時または既存 Elastic SAN で有効化可能で、ボリュームグループ単位の強制設定にも対応します</a:t>
            </a:r>
          </a:p>
          <a:p>
            <a:pPr lvl="1">
              <a:spcBef>
                <a:spcPts val="300"/>
              </a:spcBef>
            </a:pPr>
            <a:r>
              <a:rPr sz="1400" b="0">
                <a:solidFill>
                  <a:srgbClr val="333333"/>
                </a:solidFill>
                <a:latin typeface="Yu Gothic UI"/>
                <a:ea typeface="Yu Gothic UI"/>
              </a:rPr>
              <a:t>強制設定を有効化すると、グループ内の全ボリュームが継承し、ヘッダー/データダイジェストで CRC-32C が有効でないクライアント接続を Elastic SAN 側で拒否します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General Availability 2024/November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https://azure.microsoft.com/updates/?id=560889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Elastic SAN の容量オートスケーリング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Elastic SAN で容量オートスケーリングが一般提供開始</a:t>
            </a:r>
          </a:p>
          <a:p>
            <a:pPr lvl="1">
              <a:spcBef>
                <a:spcPts val="300"/>
              </a:spcBef>
            </a:pPr>
            <a:r>
              <a:rPr sz="1400" b="0">
                <a:solidFill>
                  <a:srgbClr val="333333"/>
                </a:solidFill>
                <a:latin typeface="Yu Gothic UI"/>
                <a:ea typeface="Yu Gothic UI"/>
              </a:rPr>
              <a:t>使用率に応じて SAN 容量を自動拡張するポリシーを設定でき、過剰プロビジョニングや手動管理の課題を解消します</a:t>
            </a:r>
          </a:p>
          <a:p>
            <a:pPr lvl="1">
              <a:spcBef>
                <a:spcPts val="300"/>
              </a:spcBef>
            </a:pPr>
            <a:r>
              <a:rPr sz="1400" b="0">
                <a:solidFill>
                  <a:srgbClr val="333333"/>
                </a:solidFill>
                <a:latin typeface="Yu Gothic UI"/>
                <a:ea typeface="Yu Gothic UI"/>
              </a:rPr>
              <a:t>スケーリング増分も指定可能で、急成長や予期せぬ利用ピーク時にもコスト管理と予測可能性を確保できます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2026/04/23</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NetApp Files で既定でバックアップを有効化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NetApp Files で新規ボリューム作成時にバックアップが既定で有効化されるようになりました</a:t>
            </a:r>
          </a:p>
          <a:p>
            <a:pPr lvl="1">
              <a:spcBef>
                <a:spcPts val="300"/>
              </a:spcBef>
            </a:pPr>
            <a:r>
              <a:rPr sz="1400" b="0">
                <a:solidFill>
                  <a:srgbClr val="333333"/>
                </a:solidFill>
                <a:latin typeface="Yu Gothic UI"/>
                <a:ea typeface="Yu Gothic UI"/>
              </a:rPr>
              <a:t>ボリューム作成時に自動でプロビジョニングされ、必要に応じてオプトアウトも可能です</a:t>
            </a:r>
          </a:p>
          <a:p>
            <a:pPr lvl="1">
              <a:spcBef>
                <a:spcPts val="300"/>
              </a:spcBef>
            </a:pPr>
            <a:r>
              <a:rPr sz="1400" b="0">
                <a:solidFill>
                  <a:srgbClr val="333333"/>
                </a:solidFill>
                <a:latin typeface="Yu Gothic UI"/>
                <a:ea typeface="Yu Gothic UI"/>
              </a:rPr>
              <a:t>設定の手間を削減し、データ保護の使いやすさと回復性を向上</a:t>
            </a:r>
          </a:p>
          <a:p>
            <a:pPr lvl="1">
              <a:spcBef>
                <a:spcPts val="300"/>
              </a:spcBef>
            </a:pPr>
            <a:r>
              <a:rPr sz="1400" b="0">
                <a:solidFill>
                  <a:srgbClr val="333333"/>
                </a:solidFill>
                <a:latin typeface="Yu Gothic UI"/>
                <a:ea typeface="Yu Gothic UI"/>
              </a:rPr>
              <a:t>Azure NetApp Files の全リージョンで利用可能です</a:t>
            </a:r>
          </a:p>
          <a:p>
            <a:pPr>
              <a:spcBef>
                <a:spcPts val="1400"/>
              </a:spcBef>
            </a:pPr>
            <a:r>
              <a:rPr sz="1300" b="1">
                <a:solidFill>
                  <a:srgbClr val="666666"/>
                </a:solidFill>
                <a:latin typeface="Yu Gothic UI"/>
                <a:ea typeface="Yu Gothic UI"/>
              </a:rPr>
              <a:t>対象製品: Azure NetApp Files</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https://azure.microsoft.com/updates/?id=560668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Elastic SAN で AVS AV64 SKU 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Elastic SAN データストアが AV64 SKU でサポートされ、Azure VMware Solution (AVS) のデプロイでより大規模かつ高性能なストレージオプションを利用できるようになりました</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2026/05/05</a:t>
            </a:r>
          </a:p>
          <a:p>
            <a:pPr>
              <a:spcBef>
                <a:spcPts val="200"/>
              </a:spcBef>
            </a:pPr>
            <a:r>
              <a:rPr sz="1300" b="0">
                <a:solidFill>
                  <a:srgbClr val="666666"/>
                </a:solidFill>
                <a:latin typeface="Yu Gothic UI"/>
                <a:ea typeface="Yu Gothic UI"/>
              </a:rPr>
              <a:t>可用性: General Availability 2025/February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https://azure.microsoft.com/updates/?id=560894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VM 拡張機能による Windows VM から Azure Elastic SAN への接続</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Elastic SAN が Elastic SAN VM 拡張機能を通じて Windows VM からのボリューム接続をサポート</a:t>
            </a:r>
          </a:p>
          <a:p>
            <a:pPr lvl="1">
              <a:spcBef>
                <a:spcPts val="300"/>
              </a:spcBef>
            </a:pPr>
            <a:r>
              <a:rPr sz="1400" b="0">
                <a:solidFill>
                  <a:srgbClr val="333333"/>
                </a:solidFill>
                <a:latin typeface="Yu Gothic UI"/>
                <a:ea typeface="Yu Gothic UI"/>
              </a:rPr>
              <a:t>Azure Portal から VM デプロイ時に Elastic SAN ボリュームを接続でき、デプロイ後の手動構成が不要となりセットアップが簡素化されます</a:t>
            </a:r>
          </a:p>
          <a:p>
            <a:pPr>
              <a:spcBef>
                <a:spcPts val="1400"/>
              </a:spcBef>
            </a:pPr>
            <a:r>
              <a:rPr sz="1300" b="1">
                <a:solidFill>
                  <a:srgbClr val="666666"/>
                </a:solidFill>
                <a:latin typeface="Yu Gothic UI"/>
                <a:ea typeface="Yu Gothic UI"/>
              </a:rPr>
              <a:t>対象製品: Azure Elastic SAN</a:t>
            </a:r>
          </a:p>
          <a:p>
            <a:pPr>
              <a:spcBef>
                <a:spcPts val="200"/>
              </a:spcBef>
            </a:pPr>
            <a:r>
              <a:rPr sz="1300" b="0">
                <a:solidFill>
                  <a:srgbClr val="666666"/>
                </a:solidFill>
                <a:latin typeface="Yu Gothic UI"/>
                <a:ea typeface="Yu Gothic UI"/>
              </a:rPr>
              <a:t>作成日: 2026/04/28</a:t>
            </a:r>
          </a:p>
          <a:p>
            <a:pPr>
              <a:spcBef>
                <a:spcPts val="200"/>
              </a:spcBef>
            </a:pPr>
            <a:r>
              <a:rPr sz="1300" b="0">
                <a:solidFill>
                  <a:srgbClr val="666666"/>
                </a:solidFill>
                <a:latin typeface="Yu Gothic UI"/>
                <a:ea typeface="Yu Gothic UI"/>
              </a:rPr>
              <a:t>可用性: General Availability 2025/November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NetApp Files のユーザー/グループクォータレポート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NetApp Files でユーザー/グループクォータレポートが一般提供開始</a:t>
            </a:r>
          </a:p>
          <a:p>
            <a:pPr lvl="1">
              <a:spcBef>
                <a:spcPts val="300"/>
              </a:spcBef>
            </a:pPr>
            <a:r>
              <a:rPr sz="1400" b="0">
                <a:solidFill>
                  <a:srgbClr val="333333"/>
                </a:solidFill>
                <a:latin typeface="Yu Gothic UI"/>
                <a:ea typeface="Yu Gothic UI"/>
              </a:rPr>
              <a:t>NFS / SMB / デュアルプロトコルボリュームのキャパシティ管理にクォータを利用している組織向けに、クォータルール対象のユーザー/グループごとの制限値、使用容量、使用率を可視化します</a:t>
            </a:r>
          </a:p>
          <a:p>
            <a:pPr lvl="1">
              <a:spcBef>
                <a:spcPts val="300"/>
              </a:spcBef>
            </a:pPr>
            <a:r>
              <a:rPr sz="1400" b="0">
                <a:solidFill>
                  <a:srgbClr val="333333"/>
                </a:solidFill>
                <a:latin typeface="Yu Gothic UI"/>
                <a:ea typeface="Yu Gothic UI"/>
              </a:rPr>
              <a:t>Azure ポータルでレポート表示・ダウンロード、クォータルールの変更が可能となり、従来必要だったホスト側ツールやボリュームマウントが不要に</a:t>
            </a:r>
          </a:p>
          <a:p>
            <a:pPr lvl="1">
              <a:spcBef>
                <a:spcPts val="300"/>
              </a:spcBef>
            </a:pPr>
            <a:r>
              <a:rPr sz="1400" b="0">
                <a:solidFill>
                  <a:srgbClr val="333333"/>
                </a:solidFill>
                <a:latin typeface="Yu Gothic UI"/>
                <a:ea typeface="Yu Gothic UI"/>
              </a:rPr>
              <a:t>Azure NetApp Files の全提供リージョンで利用可能です</a:t>
            </a:r>
          </a:p>
          <a:p>
            <a:pPr>
              <a:spcBef>
                <a:spcPts val="1400"/>
              </a:spcBef>
            </a:pPr>
            <a:r>
              <a:rPr sz="1300" b="1">
                <a:solidFill>
                  <a:srgbClr val="666666"/>
                </a:solidFill>
                <a:latin typeface="Yu Gothic UI"/>
                <a:ea typeface="Yu Gothic UI"/>
              </a:rPr>
              <a:t>対象製品: Azure NetApp Files</a:t>
            </a:r>
          </a:p>
          <a:p>
            <a:pPr>
              <a:spcBef>
                <a:spcPts val="200"/>
              </a:spcBef>
            </a:pPr>
            <a:r>
              <a:rPr sz="1300" b="0">
                <a:solidFill>
                  <a:srgbClr val="666666"/>
                </a:solidFill>
                <a:latin typeface="Yu Gothic UI"/>
                <a:ea typeface="Yu Gothic UI"/>
              </a:rPr>
              <a:t>作成日: 2026/04/16</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https://azure.microsoft.com/updates/?id=558483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File Sync が Belgium Central / Malaysia West / Indonesia Central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File Sync が Belgium Central、Malaysia West、Indonesia Central リージョンで一般提供開始</a:t>
            </a:r>
          </a:p>
          <a:p>
            <a:pPr lvl="1">
              <a:spcBef>
                <a:spcPts val="300"/>
              </a:spcBef>
            </a:pPr>
            <a:r>
              <a:rPr sz="1400" b="0">
                <a:solidFill>
                  <a:srgbClr val="333333"/>
                </a:solidFill>
                <a:latin typeface="Yu Gothic UI"/>
                <a:ea typeface="Yu Gothic UI"/>
              </a:rPr>
              <a:t>オンプレミス Windows Server から Azure Files へのシームレスな階層化を実現するハイブリッド/移行サービスで、新リージョンの追加により対象地域でのレイテンシ低減、性能向上、データレジデンシ要件への対応を強化します</a:t>
            </a:r>
          </a:p>
          <a:p>
            <a:pPr>
              <a:spcBef>
                <a:spcPts val="1400"/>
              </a:spcBef>
            </a:pPr>
            <a:r>
              <a:rPr sz="1300" b="1">
                <a:solidFill>
                  <a:srgbClr val="666666"/>
                </a:solidFill>
                <a:latin typeface="Yu Gothic UI"/>
                <a:ea typeface="Yu Gothic UI"/>
              </a:rPr>
              <a:t>対象製品: Azure Files</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データベース（7件）</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Database for PostgreSQL の Premium SSD v2 対応</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Database for PostgreSQL Flexible Server で Premium SSD v2 が一般提供開始</a:t>
            </a:r>
          </a:p>
          <a:p>
            <a:pPr lvl="1">
              <a:spcBef>
                <a:spcPts val="300"/>
              </a:spcBef>
            </a:pPr>
            <a:r>
              <a:rPr sz="1400" b="0">
                <a:solidFill>
                  <a:srgbClr val="333333"/>
                </a:solidFill>
                <a:latin typeface="Yu Gothic UI"/>
                <a:ea typeface="Yu Gothic UI"/>
              </a:rPr>
              <a:t>最大 4 倍の IOPS、大幅なレイテンシ低減、優れた価格性能を I/O 集約型 PostgreSQL ワークロードに提供</a:t>
            </a:r>
          </a:p>
          <a:p>
            <a:pPr lvl="1">
              <a:spcBef>
                <a:spcPts val="300"/>
              </a:spcBef>
            </a:pPr>
            <a:r>
              <a:rPr sz="1400" b="0">
                <a:solidFill>
                  <a:srgbClr val="333333"/>
                </a:solidFill>
                <a:latin typeface="Yu Gothic UI"/>
                <a:ea typeface="Yu Gothic UI"/>
              </a:rPr>
              <a:t>ストレージと性能を独立してスケールでき、過剰プロビジョニング不要で予測可能な高性能 PostgreSQL を実現します</a:t>
            </a:r>
          </a:p>
          <a:p>
            <a:pPr lvl="1">
              <a:spcBef>
                <a:spcPts val="300"/>
              </a:spcBef>
            </a:pPr>
            <a:r>
              <a:rPr sz="1400" b="0">
                <a:solidFill>
                  <a:srgbClr val="333333"/>
                </a:solidFill>
                <a:latin typeface="Yu Gothic UI"/>
                <a:ea typeface="Yu Gothic UI"/>
              </a:rPr>
              <a:t>OLTP、SaaS プラットフォーム、高並列性を要求するアプリで特に有効です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https://azure.microsoft.com/updates/?id=560336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Cosmos DB の球面量子化によるベクトル検索の改善</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Cosmos DB で球面量子化 (spherical quantization) がパブリックプレビューで提供開始</a:t>
            </a:r>
          </a:p>
          <a:p>
            <a:pPr lvl="1">
              <a:spcBef>
                <a:spcPts val="300"/>
              </a:spcBef>
            </a:pPr>
            <a:r>
              <a:rPr sz="1400" b="0">
                <a:solidFill>
                  <a:srgbClr val="333333"/>
                </a:solidFill>
                <a:latin typeface="Yu Gothic UI"/>
                <a:ea typeface="Yu Gothic UI"/>
              </a:rPr>
              <a:t>大規模環境で高い再現率と精度を維持しつつ、ベクトルインデックス作成を高速化できる先進的なベクトル圧縮技術で、検索品質を保ちながらインデックスおよび検索性能を改善します</a:t>
            </a:r>
          </a:p>
          <a:p>
            <a:pPr>
              <a:spcBef>
                <a:spcPts val="1400"/>
              </a:spcBef>
            </a:pPr>
            <a:r>
              <a:rPr sz="1300" b="1">
                <a:solidFill>
                  <a:srgbClr val="666666"/>
                </a:solidFill>
                <a:latin typeface="Yu Gothic UI"/>
                <a:ea typeface="Yu Gothic UI"/>
              </a:rPr>
              <a:t>対象製品: Azure Cosmos DB</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Preview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https://azure.microsoft.com/updates/?id=561167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Database for PostgreSQL のカスケード読み取りレプリカ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でカスケード読み取りレプリカが一般提供開始</a:t>
            </a:r>
          </a:p>
          <a:p>
            <a:pPr lvl="1">
              <a:spcBef>
                <a:spcPts val="300"/>
              </a:spcBef>
            </a:pPr>
            <a:r>
              <a:rPr sz="1400" b="0">
                <a:solidFill>
                  <a:srgbClr val="333333"/>
                </a:solidFill>
                <a:latin typeface="Yu Gothic UI"/>
                <a:ea typeface="Yu Gothic UI"/>
              </a:rPr>
              <a:t>既存レプリカからさらにレプリカを作成でき、2 レベルのレプリケーションで最大 30 レプリカ、各ソースに対し最大 5 レプリカを作成可能です</a:t>
            </a:r>
          </a:p>
          <a:p>
            <a:pPr lvl="1">
              <a:spcBef>
                <a:spcPts val="300"/>
              </a:spcBef>
            </a:pPr>
            <a:r>
              <a:rPr sz="1400" b="0">
                <a:solidFill>
                  <a:srgbClr val="333333"/>
                </a:solidFill>
                <a:latin typeface="Yu Gothic UI"/>
                <a:ea typeface="Yu Gothic UI"/>
              </a:rPr>
              <a:t>多階層レプリケーションでグローバル分散アプリ向けに最適化し、ユーザー近接配置で読み取り応答時間を改善、プライマリの負荷も軽減します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SQL の 2026 年 5 月初旬アップデート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2026年5月初旬の Azure SQL アップデート: Azure SQL Managed Instance の Business Critical 階層でメモリの適正化 (Right-size) が可能となり、過剰プロビジョニングを避けながらパフォーマンスを改善できるようになりました</a:t>
            </a:r>
          </a:p>
          <a:p>
            <a:pPr>
              <a:spcBef>
                <a:spcPts val="1400"/>
              </a:spcBef>
            </a:pPr>
            <a:r>
              <a:rPr sz="1300" b="1">
                <a:solidFill>
                  <a:srgbClr val="666666"/>
                </a:solidFill>
                <a:latin typeface="Yu Gothic UI"/>
                <a:ea typeface="Yu Gothic UI"/>
              </a:rPr>
              <a:t>対象製品: Azure SQL Managed Instance</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Preview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https://azure.microsoft.com/updates/?id=560283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Cosmos DB Shell — データワークフロー向けの新コマンドライン</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Cosmos DB Shell がパブリックプレビューで提供開始されました</a:t>
            </a:r>
          </a:p>
          <a:p>
            <a:pPr lvl="1">
              <a:spcBef>
                <a:spcPts val="300"/>
              </a:spcBef>
            </a:pPr>
            <a:r>
              <a:rPr sz="1400" b="0">
                <a:solidFill>
                  <a:srgbClr val="333333"/>
                </a:solidFill>
                <a:latin typeface="Yu Gothic UI"/>
                <a:ea typeface="Yu Gothic UI"/>
              </a:rPr>
              <a:t>Model Context Protocol (MCP) を活用したエージェント機能を備えた最新の CLI 体験を提供し、AI 支援によるインテリジェントなワークフローでデータのクエリ、探索、管理を効率化できます</a:t>
            </a:r>
          </a:p>
          <a:p>
            <a:pPr>
              <a:spcBef>
                <a:spcPts val="1400"/>
              </a:spcBef>
            </a:pPr>
            <a:r>
              <a:rPr sz="1300" b="1">
                <a:solidFill>
                  <a:srgbClr val="666666"/>
                </a:solidFill>
                <a:latin typeface="Yu Gothic UI"/>
                <a:ea typeface="Yu Gothic UI"/>
              </a:rPr>
              <a:t>対象製品: Azure Cosmos DB</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Preview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https://azure.microsoft.com/updates/?id=561162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Database for PostgreSQL Flexible Server の論理レプリケーションスロット同期ステータスメトリック</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PostgreSQL Flexible Server で、論理レプリケーションスロットの同期状態を新メトリック `logical_replication_slot_sync_status` で監視できるようになりました (プレビュー)</a:t>
            </a:r>
          </a:p>
          <a:p>
            <a:pPr lvl="1">
              <a:spcBef>
                <a:spcPts val="300"/>
              </a:spcBef>
            </a:pPr>
            <a:r>
              <a:rPr sz="1400" b="0">
                <a:solidFill>
                  <a:srgbClr val="333333"/>
                </a:solidFill>
                <a:latin typeface="Yu Gothic UI"/>
                <a:ea typeface="Yu Gothic UI"/>
              </a:rPr>
              <a:t>各スロットが同期済み・キャッチアップ中・不明のいずれかを示し、レプリケーション健全性とスロット準備状態の検証を支援します</a:t>
            </a:r>
          </a:p>
          <a:p>
            <a:pPr lvl="1">
              <a:spcBef>
                <a:spcPts val="300"/>
              </a:spcBef>
            </a:pPr>
            <a:r>
              <a:rPr sz="1400" b="0">
                <a:solidFill>
                  <a:srgbClr val="333333"/>
                </a:solidFill>
                <a:latin typeface="Yu Gothic UI"/>
                <a:ea typeface="Yu Gothic UI"/>
              </a:rPr>
              <a:t>Debezium や Kafka など論理デコード/CDC ツールを使う際に特に有用で、スロット単位の可視化とアラート設定により、メンテナンス・移行・システムイベント中の論理レプリケーションを安定的に運用できます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https://azure.microsoft.com/updates/?id=513249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Database for PostgreSQL Flexible Server が Denmark East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PostgreSQL Flexible Server が Denmark East リージョンでデプロイ可能になりました</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https://azure.microsoft.com/updates/?id=560288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AI + 機械学習（7件）</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Document Intelligence v3.0 API は 2029 年 3 月 30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30 日をもって Azure Document Intelligence v3.0 API は廃止されます</a:t>
            </a:r>
          </a:p>
          <a:p>
            <a:pPr lvl="1">
              <a:spcBef>
                <a:spcPts val="300"/>
              </a:spcBef>
            </a:pPr>
            <a:r>
              <a:rPr sz="1400" b="0">
                <a:solidFill>
                  <a:srgbClr val="333333"/>
                </a:solidFill>
                <a:latin typeface="Yu Gothic UI"/>
                <a:ea typeface="Yu Gothic UI"/>
              </a:rPr>
              <a:t>それまでに最新の GA バージョンである v4.0 へ移行してください</a:t>
            </a:r>
          </a:p>
          <a:p>
            <a:pPr lvl="1">
              <a:spcBef>
                <a:spcPts val="300"/>
              </a:spcBef>
            </a:pPr>
            <a:r>
              <a:rPr sz="1400" b="0">
                <a:solidFill>
                  <a:srgbClr val="333333"/>
                </a:solidFill>
                <a:latin typeface="Yu Gothic UI"/>
                <a:ea typeface="Yu Gothic UI"/>
              </a:rPr>
              <a:t>廃止日以降は v3.0 API はサポートされず利用不可となります</a:t>
            </a:r>
          </a:p>
          <a:p>
            <a:pPr>
              <a:spcBef>
                <a:spcPts val="1400"/>
              </a:spcBef>
            </a:pPr>
            <a:r>
              <a:rPr sz="1300" b="1">
                <a:solidFill>
                  <a:srgbClr val="666666"/>
                </a:solidFill>
                <a:latin typeface="Yu Gothic UI"/>
                <a:ea typeface="Yu Gothic UI"/>
              </a:rPr>
              <a:t>対象製品: Azure AI Document Intelligence</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https://azure.microsoft.com/updates/?id=561176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Microsoft Agent Framework 1.0</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Microsoft Agent Framework が .NET / Python 向けに 1.0 として一般提供開始</a:t>
            </a:r>
          </a:p>
          <a:p>
            <a:pPr lvl="1">
              <a:spcBef>
                <a:spcPts val="300"/>
              </a:spcBef>
            </a:pPr>
            <a:r>
              <a:rPr sz="1400" b="0">
                <a:solidFill>
                  <a:srgbClr val="333333"/>
                </a:solidFill>
                <a:latin typeface="Yu Gothic UI"/>
                <a:ea typeface="Yu Gothic UI"/>
              </a:rPr>
              <a:t>API は安定版となり長期サポートも提供されます</a:t>
            </a:r>
          </a:p>
          <a:p>
            <a:pPr lvl="1">
              <a:spcBef>
                <a:spcPts val="300"/>
              </a:spcBef>
            </a:pPr>
            <a:r>
              <a:rPr sz="1400" b="0">
                <a:solidFill>
                  <a:srgbClr val="333333"/>
                </a:solidFill>
                <a:latin typeface="Yu Gothic UI"/>
                <a:ea typeface="Yu Gothic UI"/>
              </a:rPr>
              <a:t>マルチエージェントオーケストレーション、複数プロバイダーのモデルサポート、A2A / MCP によるクロスランタイム相互運用に対応します</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2026/04/29</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https://azure.microsoft.com/updates/?id=560982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ML および Foundry の Prompt Flow</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Microsoft Foundry および Azure Machine Learning の Prompt Flow は 2027 年 4 月 20 日に廃止され、Microsoft Agent Framework に統合されます</a:t>
            </a:r>
          </a:p>
          <a:p>
            <a:pPr lvl="1">
              <a:spcBef>
                <a:spcPts val="300"/>
              </a:spcBef>
            </a:pPr>
            <a:r>
              <a:rPr sz="1400" b="0">
                <a:solidFill>
                  <a:srgbClr val="333333"/>
                </a:solidFill>
                <a:latin typeface="Yu Gothic UI"/>
                <a:ea typeface="Yu Gothic UI"/>
              </a:rPr>
              <a:t>主要日程: 2026 年 4 月 3 日 Agent Framework の GA、2026 年 4 月 20 日 Prompt Flow 非推奨化の公式アナウンス、2027 年 4 月 20 日 Azure ML / Foundry / VS Code から完全廃止</a:t>
            </a:r>
          </a:p>
          <a:p>
            <a:pPr lvl="1">
              <a:spcBef>
                <a:spcPts val="300"/>
              </a:spcBef>
            </a:pPr>
            <a:r>
              <a:rPr sz="1400" b="0">
                <a:solidFill>
                  <a:srgbClr val="333333"/>
                </a:solidFill>
                <a:latin typeface="Yu Gothic UI"/>
                <a:ea typeface="Yu Gothic UI"/>
              </a:rPr>
              <a:t>多くのオーケストレーションシナリオで Microsoft Agent Framework が推奨移行先となります</a:t>
            </a:r>
          </a:p>
          <a:p>
            <a:pPr lvl="1">
              <a:spcBef>
                <a:spcPts val="300"/>
              </a:spcBef>
            </a:pPr>
            <a:r>
              <a:rPr sz="1400" b="0">
                <a:solidFill>
                  <a:srgbClr val="333333"/>
                </a:solidFill>
                <a:latin typeface="Yu Gothic UI"/>
                <a:ea typeface="Yu Gothic UI"/>
              </a:rPr>
              <a:t>重要ワークロードを再構築・検証し、廃止前にサポート対象代替プラットフォームへ段階的に移行することが推奨されます</a:t>
            </a:r>
          </a:p>
          <a:p>
            <a:pPr>
              <a:spcBef>
                <a:spcPts val="200"/>
              </a:spcBef>
            </a:pPr>
            <a:r>
              <a:rPr sz="1300" b="0">
                <a:solidFill>
                  <a:srgbClr val="666666"/>
                </a:solidFill>
                <a:latin typeface="Yu Gothic UI"/>
                <a:ea typeface="Yu Gothic UI"/>
              </a:rPr>
              <a:t>作成日: 2026/04/27</a:t>
            </a:r>
          </a:p>
          <a:p>
            <a:pPr>
              <a:spcBef>
                <a:spcPts val="200"/>
              </a:spcBef>
            </a:pPr>
            <a:r>
              <a:rPr sz="1300" b="0">
                <a:solidFill>
                  <a:srgbClr val="666666"/>
                </a:solidFill>
                <a:latin typeface="Yu Gothic UI"/>
                <a:ea typeface="Yu Gothic UI"/>
              </a:rPr>
              <a:t>可用性: Retirement 2027/April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https://azure.microsoft.com/updates/?id=502936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Foundry Agent Service の Memory 機能</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Foundry Agent Service に組み込まれたマネージドな長期メモリ機能 (プレビュー)</a:t>
            </a:r>
          </a:p>
          <a:p>
            <a:pPr lvl="1">
              <a:spcBef>
                <a:spcPts val="300"/>
              </a:spcBef>
            </a:pPr>
            <a:r>
              <a:rPr sz="1400" b="0">
                <a:solidFill>
                  <a:srgbClr val="333333"/>
                </a:solidFill>
                <a:latin typeface="Yu Gothic UI"/>
                <a:ea typeface="Yu Gothic UI"/>
              </a:rPr>
              <a:t>Microsoft Agent Framework および LangGraph とネイティブに統合され、外部データベースのプロビジョニング/スケーリング/セキュリティ管理が不要になります</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2026/04/29</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https://azure.microsoft.com/updates/?id=560992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Foundry Agent Service で AI ゲートウェイ持ち込み (BYO) 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Foundry Agent Service が BYO (持ち込み) モデルシナリオに対応</a:t>
            </a:r>
          </a:p>
          <a:p>
            <a:pPr lvl="1">
              <a:spcBef>
                <a:spcPts val="300"/>
              </a:spcBef>
            </a:pPr>
            <a:r>
              <a:rPr sz="1400" b="0">
                <a:solidFill>
                  <a:srgbClr val="333333"/>
                </a:solidFill>
                <a:latin typeface="Yu Gothic UI"/>
                <a:ea typeface="Yu Gothic UI"/>
              </a:rPr>
              <a:t>Azure API Management などのエンタープライズ AI ゲートウェイの背後にデプロイされたモデルを含め、Foundry 外で管理されている AI モデルをエージェントから利用可能になりました</a:t>
            </a:r>
          </a:p>
          <a:p>
            <a:pPr lvl="1">
              <a:spcBef>
                <a:spcPts val="300"/>
              </a:spcBef>
            </a:pPr>
            <a:r>
              <a:rPr sz="1400" b="0">
                <a:solidFill>
                  <a:srgbClr val="333333"/>
                </a:solidFill>
                <a:latin typeface="Yu Gothic UI"/>
                <a:ea typeface="Yu Gothic UI"/>
              </a:rPr>
              <a:t>カスタム、ファインチューニング、オープンソース、サードパーティモデルを Foundry エージェントに統合しつつ、エンドポイント・セキュリティポリシー・ガバナンスの制御を維持できます</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2026/04/27</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https://azure.microsoft.com/updates/?id=561002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Foundry Agent Service の Hosted Agents</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Hosted Agents はエージェントセッションごとに専用のセキュアなランタイムを提供する隔離実行サンドボックスで動作</a:t>
            </a:r>
          </a:p>
          <a:p>
            <a:pPr lvl="1">
              <a:spcBef>
                <a:spcPts val="300"/>
              </a:spcBef>
            </a:pPr>
            <a:r>
              <a:rPr sz="1400" b="0">
                <a:solidFill>
                  <a:srgbClr val="333333"/>
                </a:solidFill>
                <a:latin typeface="Yu Gothic UI"/>
                <a:ea typeface="Yu Gothic UI"/>
              </a:rPr>
              <a:t>セッション間の状態共有やデータ漏えいがなく、テナント間の強力なコンピュート境界を持つクリーンな環境で各セッションが開始されます</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https://azure.microsoft.com/updates/?id=560997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Databricks 上の Anthropic Claude Opus 4.7</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Databricks が Anthropic Claude Opus 4.7 を AI Model Serving 経由でサポート</a:t>
            </a:r>
          </a:p>
          <a:p>
            <a:pPr lvl="1">
              <a:spcBef>
                <a:spcPts val="300"/>
              </a:spcBef>
            </a:pPr>
            <a:r>
              <a:rPr sz="1400" b="0">
                <a:solidFill>
                  <a:srgbClr val="333333"/>
                </a:solidFill>
                <a:latin typeface="Yu Gothic UI"/>
                <a:ea typeface="Yu Gothic UI"/>
              </a:rPr>
              <a:t>Claude Opus 4.7 は Anthropic の最も高性能なハイブリッド推論モデルで、複雑な抽出やエージェント推論タスクで前世代より少ない出力トークンで高精度を発揮</a:t>
            </a:r>
          </a:p>
          <a:p>
            <a:pPr lvl="1">
              <a:spcBef>
                <a:spcPts val="300"/>
              </a:spcBef>
            </a:pPr>
            <a:r>
              <a:rPr sz="1400" b="0">
                <a:solidFill>
                  <a:srgbClr val="333333"/>
                </a:solidFill>
                <a:latin typeface="Yu Gothic UI"/>
                <a:ea typeface="Yu Gothic UI"/>
              </a:rPr>
              <a:t>100 万トークンのコンテキストウィンドウと画像解像度の拡張に対応し、深い分析や文書理解、複雑なマルチステップワークフローを必要とするエンタープライズアプリ向けに最適です</a:t>
            </a:r>
          </a:p>
          <a:p>
            <a:pPr lvl="1">
              <a:spcBef>
                <a:spcPts val="300"/>
              </a:spcBef>
            </a:pPr>
            <a:r>
              <a:rPr sz="1400" b="0">
                <a:solidFill>
                  <a:srgbClr val="333333"/>
                </a:solidFill>
                <a:latin typeface="Yu Gothic UI"/>
                <a:ea typeface="Yu Gothic UI"/>
              </a:rPr>
              <a:t>Azure Databricks 環境内でセキュアに実行され、Pay-per-token Foundation Model API や (対応リージョンの) プロビジョン済み/ワークスペースレベルスループットオプションで利用可能</a:t>
            </a:r>
          </a:p>
          <a:p>
            <a:pPr>
              <a:spcBef>
                <a:spcPts val="1400"/>
              </a:spcBef>
            </a:pPr>
            <a:r>
              <a:rPr sz="1300" b="1">
                <a:solidFill>
                  <a:srgbClr val="666666"/>
                </a:solidFill>
                <a:latin typeface="Yu Gothic UI"/>
                <a:ea typeface="Yu Gothic UI"/>
              </a:rPr>
              <a:t>対象製品: Azure Databricks</a:t>
            </a:r>
          </a:p>
          <a:p>
            <a:pPr>
              <a:spcBef>
                <a:spcPts val="200"/>
              </a:spcBef>
            </a:pPr>
            <a:r>
              <a:rPr sz="1300" b="0">
                <a:solidFill>
                  <a:srgbClr val="666666"/>
                </a:solidFill>
                <a:latin typeface="Yu Gothic UI"/>
                <a:ea typeface="Yu Gothic UI"/>
              </a:rPr>
              <a:t>作成日: 2026/04/17</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https://azure.microsoft.com/updates/?id=560590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コンピューティング（7件）</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一部 VM シリーズの Azure 予約仮想マシンインスタンス (RI)</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2026 年 7 月 1 日以降、Av2、Amv2、Bv1、D、Ds、Dv2、Dsv2、F、Fs、Fsv2、G、Gs、Ls、Lsv2 シリーズの 1 年予約 VM インスタンス、および Dv3、Dsv3、Ev3、Esv3 シリーズの 1 年/3 年予約インスタンスの新規購入・更新ができなくなります</a:t>
            </a:r>
          </a:p>
          <a:p>
            <a:pPr lvl="1">
              <a:spcBef>
                <a:spcPts val="300"/>
              </a:spcBef>
            </a:pPr>
            <a:r>
              <a:rPr sz="1400" b="0">
                <a:solidFill>
                  <a:srgbClr val="333333"/>
                </a:solidFill>
                <a:latin typeface="Yu Gothic UI"/>
                <a:ea typeface="Yu Gothic UI"/>
              </a:rPr>
              <a:t>期限後は自動更新設定があっても従量課金料金で請求されるため、対象 RI の有効期限を確認し、新世代 VM への移行を計画してください</a:t>
            </a:r>
          </a:p>
          <a:p>
            <a:pPr lvl="1">
              <a:spcBef>
                <a:spcPts val="300"/>
              </a:spcBef>
            </a:pPr>
            <a:r>
              <a:rPr sz="1400" b="0">
                <a:solidFill>
                  <a:srgbClr val="333333"/>
                </a:solidFill>
                <a:latin typeface="Yu Gothic UI"/>
                <a:ea typeface="Yu Gothic UI"/>
              </a:rPr>
              <a:t>既存の RI は契約期間中はそのまま有効です</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2026/05/05</a:t>
            </a:r>
          </a:p>
          <a:p>
            <a:pPr>
              <a:spcBef>
                <a:spcPts val="200"/>
              </a:spcBef>
            </a:pPr>
            <a:r>
              <a:rPr sz="1300" b="0">
                <a:solidFill>
                  <a:srgbClr val="666666"/>
                </a:solidFill>
                <a:latin typeface="Yu Gothic UI"/>
                <a:ea typeface="Yu Gothic UI"/>
              </a:rPr>
              <a:t>可用性: Retirement 2026/July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.NET 8 (LTS) のサポートは 2026 年 11 月 10 日に終了 — .NET 10 (LTS) へアップグレード推奨</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2026 年 11 月 10 日をもって .NET 8 (LTS) のサポートが終了します</a:t>
            </a:r>
          </a:p>
          <a:p>
            <a:pPr lvl="1">
              <a:spcBef>
                <a:spcPts val="300"/>
              </a:spcBef>
            </a:pPr>
            <a:r>
              <a:rPr sz="1400" b="0">
                <a:solidFill>
                  <a:srgbClr val="333333"/>
                </a:solidFill>
                <a:latin typeface="Yu Gothic UI"/>
                <a:ea typeface="Yu Gothic UI"/>
              </a:rPr>
              <a:t>App Service 上の既存アプリは継続稼働しますが、セキュリティ更新およびカスタマーサポートは提供されなくなります</a:t>
            </a:r>
          </a:p>
          <a:p>
            <a:pPr lvl="1">
              <a:spcBef>
                <a:spcPts val="300"/>
              </a:spcBef>
            </a:pPr>
            <a:r>
              <a:rPr sz="1400" b="0">
                <a:solidFill>
                  <a:srgbClr val="333333"/>
                </a:solidFill>
                <a:latin typeface="Yu Gothic UI"/>
                <a:ea typeface="Yu Gothic UI"/>
              </a:rPr>
              <a:t>セキュリティリスクを避けるため、2026 年 11 月 10 日までに .NET 10 (LTS) へのアップグレードが必要です</a:t>
            </a:r>
          </a:p>
          <a:p>
            <a:pPr>
              <a:spcBef>
                <a:spcPts val="1400"/>
              </a:spcBef>
            </a:pPr>
            <a:r>
              <a:rPr sz="1300" b="1">
                <a:solidFill>
                  <a:srgbClr val="666666"/>
                </a:solidFill>
                <a:latin typeface="Yu Gothic UI"/>
                <a:ea typeface="Yu Gothic UI"/>
              </a:rPr>
              <a:t>対象製品: App Service</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Retirement 2026/November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https://azure.microsoft.com/updates/?id=558033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Linux Consumption 上の Azure Functions runtime v3 は 2026 年 9 月 30 日に停止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Functions runtime v3 は 2022 年 12 月 13 日に廃止されましたが、Linux Consumption ベースで v3 を実行している Function App に対する強制適用が 2026 年 9 月 30 日に行われます</a:t>
            </a:r>
          </a:p>
          <a:p>
            <a:pPr lvl="1">
              <a:spcBef>
                <a:spcPts val="300"/>
              </a:spcBef>
            </a:pPr>
            <a:r>
              <a:rPr sz="1400" b="0">
                <a:solidFill>
                  <a:srgbClr val="333333"/>
                </a:solidFill>
                <a:latin typeface="Yu Gothic UI"/>
                <a:ea typeface="Yu Gothic UI"/>
              </a:rPr>
              <a:t>それ以降、Linux Consumption 上の runtime v3 利用 Function App は起動・実行ができなくなります</a:t>
            </a:r>
          </a:p>
          <a:p>
            <a:pPr lvl="1">
              <a:spcBef>
                <a:spcPts val="300"/>
              </a:spcBef>
            </a:pPr>
            <a:r>
              <a:rPr sz="1400" b="0">
                <a:solidFill>
                  <a:srgbClr val="333333"/>
                </a:solidFill>
                <a:latin typeface="Yu Gothic UI"/>
                <a:ea typeface="Yu Gothic UI"/>
              </a:rPr>
              <a:t>サービス断を避けるため、Functions runtime v4 へ移行してください</a:t>
            </a:r>
          </a:p>
          <a:p>
            <a:pPr lvl="1">
              <a:spcBef>
                <a:spcPts val="300"/>
              </a:spcBef>
            </a:pPr>
            <a:r>
              <a:rPr sz="1400" b="0">
                <a:solidFill>
                  <a:srgbClr val="333333"/>
                </a:solidFill>
                <a:latin typeface="Yu Gothic UI"/>
                <a:ea typeface="Yu Gothic UI"/>
              </a:rPr>
              <a:t>Linux Consumption 自体が 2028 年 9 月に廃止予定のため、Flex Consumption への移行が推奨されます</a:t>
            </a:r>
          </a:p>
          <a:p>
            <a:pPr>
              <a:spcBef>
                <a:spcPts val="1400"/>
              </a:spcBef>
            </a:pPr>
            <a:r>
              <a:rPr sz="1300" b="1">
                <a:solidFill>
                  <a:srgbClr val="666666"/>
                </a:solidFill>
                <a:latin typeface="Yu Gothic UI"/>
                <a:ea typeface="Yu Gothic UI"/>
              </a:rPr>
              <a:t>対象製品: Azure Functions</a:t>
            </a:r>
          </a:p>
          <a:p>
            <a:pPr>
              <a:spcBef>
                <a:spcPts val="200"/>
              </a:spcBef>
            </a:pPr>
            <a:r>
              <a:rPr sz="1300" b="0">
                <a:solidFill>
                  <a:srgbClr val="666666"/>
                </a:solidFill>
                <a:latin typeface="Yu Gothic UI"/>
                <a:ea typeface="Yu Gothic UI"/>
              </a:rPr>
              <a:t>作成日: 2026/04/17</a:t>
            </a:r>
          </a:p>
          <a:p>
            <a:pPr>
              <a:spcBef>
                <a:spcPts val="200"/>
              </a:spcBef>
            </a:pPr>
            <a:r>
              <a:rPr sz="1300" b="0">
                <a:solidFill>
                  <a:srgbClr val="666666"/>
                </a:solidFill>
                <a:latin typeface="Yu Gothic UI"/>
                <a:ea typeface="Yu Gothic UI"/>
              </a:rPr>
              <a:t>可用性: Retirement 2026/September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https://azure.microsoft.com/updates/?id=559311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Batch プールにおける HBv2 / HC / NP シリーズ Azure VM の EOL リマインダー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プールにおける HBv2 シリーズ、HC シリーズ、NP シリーズ VM のサポートが 2027 年 5 月 31 日に廃止されます</a:t>
            </a:r>
          </a:p>
          <a:p>
            <a:pPr lvl="1">
              <a:spcBef>
                <a:spcPts val="300"/>
              </a:spcBef>
            </a:pPr>
            <a:r>
              <a:rPr sz="1400" b="0">
                <a:solidFill>
                  <a:srgbClr val="333333"/>
                </a:solidFill>
                <a:latin typeface="Yu Gothic UI"/>
                <a:ea typeface="Yu Gothic UI"/>
              </a:rPr>
              <a:t>これらは新世代に置き換えられており、推奨移行先は HBv2 → HBv3 / HBv4 (3rd/4th Gen AMD EPYC、200/400 Gb/s NDR InfiniBand)、HC → HX シリーズ (第 4 世代 Intel Xeon Scalable)、NP → 直接の代替なし (NC / ND シリーズ GPU やパートナー FPGA ソリューションを検討) です</a:t>
            </a:r>
          </a:p>
          <a:p>
            <a:pPr lvl="1">
              <a:spcBef>
                <a:spcPts val="300"/>
              </a:spcBef>
            </a:pPr>
            <a:r>
              <a:rPr sz="1400" b="0">
                <a:solidFill>
                  <a:srgbClr val="333333"/>
                </a:solidFill>
                <a:latin typeface="Yu Gothic UI"/>
                <a:ea typeface="Yu Gothic UI"/>
              </a:rPr>
              <a:t>期限後はこれら VM サイズで新規 Batch プールを作成できず、既存プールはノード数 0 に強制リサイズされます</a:t>
            </a:r>
          </a:p>
          <a:p>
            <a:pPr lvl="1">
              <a:spcBef>
                <a:spcPts val="300"/>
              </a:spcBef>
            </a:pPr>
            <a:r>
              <a:rPr sz="1400" b="0">
                <a:solidFill>
                  <a:srgbClr val="333333"/>
                </a:solidFill>
                <a:latin typeface="Yu Gothic UI"/>
                <a:ea typeface="Yu Gothic UI"/>
              </a:rPr>
              <a:t>既存プールはインプレース更新できないため新規プール作成が必要です</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2026/04/15</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https://azure.microsoft.com/updates/?id=559751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Dl/D/E v7 仮想マシン</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最新の Intel Xeon 6 (Granite Rapids) プロセッサを搭載した汎用/メモリ最適化 VM である Dl/D/E v7 シリーズが一般提供開始になりました</a:t>
            </a:r>
          </a:p>
          <a:p>
            <a:pPr lvl="1">
              <a:spcBef>
                <a:spcPts val="300"/>
              </a:spcBef>
            </a:pPr>
            <a:r>
              <a:rPr sz="1400" b="0">
                <a:solidFill>
                  <a:srgbClr val="333333"/>
                </a:solidFill>
                <a:latin typeface="Yu Gothic UI"/>
                <a:ea typeface="Yu Gothic UI"/>
              </a:rPr>
              <a:t>従来の Intel ベース v6 世代と比較して汎用コンピューティング性能を最大 20% 向上し、スケール、ネットワーク、ストレージも大幅に改善されています</a:t>
            </a:r>
          </a:p>
          <a:p>
            <a:pPr lvl="1">
              <a:spcBef>
                <a:spcPts val="300"/>
              </a:spcBef>
            </a:pPr>
            <a:r>
              <a:rPr sz="1400" b="0">
                <a:solidFill>
                  <a:srgbClr val="333333"/>
                </a:solidFill>
                <a:latin typeface="Yu Gothic UI"/>
                <a:ea typeface="Yu Gothic UI"/>
              </a:rPr>
              <a:t>メモリ対 vCPU 比 (2:1、4:1、8:1) の3構成をサポートし、ローカル NVMe 一時ディスク有無のオプションも提供</a:t>
            </a:r>
          </a:p>
          <a:p>
            <a:pPr lvl="1">
              <a:spcBef>
                <a:spcPts val="300"/>
              </a:spcBef>
            </a:pPr>
            <a:r>
              <a:rPr sz="1400" b="0">
                <a:solidFill>
                  <a:srgbClr val="333333"/>
                </a:solidFill>
                <a:latin typeface="Yu Gothic UI"/>
                <a:ea typeface="Yu Gothic UI"/>
              </a:rPr>
              <a:t>Esv7/Edsv7 では最大 372 vCPU、2.8 TiB メモリまで拡張可能です</a:t>
            </a:r>
          </a:p>
          <a:p>
            <a:pPr lvl="1">
              <a:spcBef>
                <a:spcPts val="300"/>
              </a:spcBef>
            </a:pPr>
            <a:r>
              <a:rPr sz="1400" b="0">
                <a:solidFill>
                  <a:srgbClr val="333333"/>
                </a:solidFill>
                <a:latin typeface="Yu Gothic UI"/>
                <a:ea typeface="Yu Gothic UI"/>
              </a:rPr>
              <a:t>Azure Boost により最大 400 Gbps ネットワーク、800k IOPS / 20 GBps のリモートストレージ、ローカル NVMe で最大 9.6M IOPS を実現</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2026/05/07</a:t>
            </a:r>
          </a:p>
          <a:p>
            <a:pPr>
              <a:spcBef>
                <a:spcPts val="200"/>
              </a:spcBef>
            </a:pPr>
            <a:r>
              <a:rPr sz="1300" b="0">
                <a:solidFill>
                  <a:srgbClr val="666666"/>
                </a:solidFill>
                <a:latin typeface="Yu Gothic UI"/>
                <a:ea typeface="Yu Gothic UI"/>
              </a:rPr>
              <a:t>可用性: General Availability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https://azure.microsoft.com/updates/?id=560734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Functions Durable Task Scheduler Consumption SKU</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Durable Task Scheduler の Consumption SKU が一般提供開始</a:t>
            </a:r>
          </a:p>
          <a:p>
            <a:pPr lvl="1">
              <a:spcBef>
                <a:spcPts val="300"/>
              </a:spcBef>
            </a:pPr>
            <a:r>
              <a:rPr sz="1400" b="0">
                <a:solidFill>
                  <a:srgbClr val="333333"/>
                </a:solidFill>
                <a:latin typeface="Yu Gothic UI"/>
                <a:ea typeface="Yu Gothic UI"/>
              </a:rPr>
              <a:t>従量課金で Durable ワークフローおよび AI エージェントのオーケストレーションを実行でき、ストレージ管理・キャパシティ計画・アイドルコストが不要です</a:t>
            </a:r>
          </a:p>
          <a:p>
            <a:pPr lvl="1">
              <a:spcBef>
                <a:spcPts val="300"/>
              </a:spcBef>
            </a:pPr>
            <a:r>
              <a:rPr sz="1400" b="0">
                <a:solidFill>
                  <a:srgbClr val="333333"/>
                </a:solidFill>
                <a:latin typeface="Yu Gothic UI"/>
                <a:ea typeface="Yu Gothic UI"/>
              </a:rPr>
              <a:t>ディスパッチされたアクション単位の課金のため、AI エージェント、イベント駆動パイプライン、API トリガーワークフローなどバースト型ワークロードに最適</a:t>
            </a:r>
          </a:p>
          <a:p>
            <a:pPr lvl="1">
              <a:spcBef>
                <a:spcPts val="300"/>
              </a:spcBef>
            </a:pPr>
            <a:r>
              <a:rPr sz="1400" b="0">
                <a:solidFill>
                  <a:srgbClr val="333333"/>
                </a:solidFill>
                <a:latin typeface="Yu Gothic UI"/>
                <a:ea typeface="Yu Gothic UI"/>
              </a:rPr>
              <a:t>最大 500 アクション/秒、30 日間のデータ保持、組み込みの監視ダッシュボード、Entra ID と RBAC による ID ベースのセキュリティに対応</a:t>
            </a:r>
          </a:p>
          <a:p>
            <a:pPr lvl="1">
              <a:spcBef>
                <a:spcPts val="300"/>
              </a:spcBef>
            </a:pPr>
            <a:r>
              <a:rPr sz="1400" b="0">
                <a:solidFill>
                  <a:srgbClr val="333333"/>
                </a:solidFill>
                <a:latin typeface="Yu Gothic UI"/>
                <a:ea typeface="Yu Gothic UI"/>
              </a:rPr>
              <a:t>Azure Functions、Container Apps、AKS、Durable Task SDK を利用する任意のコンピュート環境で利用可能です</a:t>
            </a:r>
          </a:p>
          <a:p>
            <a:pPr>
              <a:spcBef>
                <a:spcPts val="1400"/>
              </a:spcBef>
            </a:pPr>
            <a:r>
              <a:rPr sz="1300" b="1">
                <a:solidFill>
                  <a:srgbClr val="666666"/>
                </a:solidFill>
                <a:latin typeface="Yu Gothic UI"/>
                <a:ea typeface="Yu Gothic UI"/>
              </a:rPr>
              <a:t>対象製品: Azure Functions</a:t>
            </a:r>
          </a:p>
          <a:p>
            <a:pPr>
              <a:spcBef>
                <a:spcPts val="200"/>
              </a:spcBef>
            </a:pPr>
            <a:r>
              <a:rPr sz="1300" b="0">
                <a:solidFill>
                  <a:srgbClr val="666666"/>
                </a:solidFill>
                <a:latin typeface="Yu Gothic UI"/>
                <a:ea typeface="Yu Gothic UI"/>
              </a:rPr>
              <a:t>作成日: 2026/05/04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https://azure.microsoft.com/updates/?id=560957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Functions の Java 25 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Functions の Java 25 サポートが一般提供開始</a:t>
            </a:r>
          </a:p>
          <a:p>
            <a:pPr lvl="1">
              <a:spcBef>
                <a:spcPts val="300"/>
              </a:spcBef>
            </a:pPr>
            <a:r>
              <a:rPr sz="1400" b="0">
                <a:solidFill>
                  <a:srgbClr val="333333"/>
                </a:solidFill>
                <a:latin typeface="Yu Gothic UI"/>
                <a:ea typeface="Yu Gothic UI"/>
              </a:rPr>
              <a:t>Java 25 でローカル開発し、Linux/Windows の対応 Functions プラン (Flex Consumption プラン含む) にデプロイ可能になりました</a:t>
            </a:r>
          </a:p>
          <a:p>
            <a:pPr>
              <a:spcBef>
                <a:spcPts val="1400"/>
              </a:spcBef>
            </a:pPr>
            <a:r>
              <a:rPr sz="1300" b="1">
                <a:solidFill>
                  <a:srgbClr val="666666"/>
                </a:solidFill>
                <a:latin typeface="Yu Gothic UI"/>
                <a:ea typeface="Yu Gothic UI"/>
              </a:rPr>
              <a:t>対象製品: Azure Functions</a:t>
            </a:r>
          </a:p>
          <a:p>
            <a:pPr>
              <a:spcBef>
                <a:spcPts val="200"/>
              </a:spcBef>
            </a:pPr>
            <a:r>
              <a:rPr sz="1300" b="0">
                <a:solidFill>
                  <a:srgbClr val="666666"/>
                </a:solidFill>
                <a:latin typeface="Yu Gothic UI"/>
                <a:ea typeface="Yu Gothic UI"/>
              </a:rPr>
              <a:t>作成日: 2026/04/30</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https://azure.microsoft.com/updates/?id=560879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セキュリティ（8件）</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Front Door Premium 上の Azure WAF 向け Microsoft HTTP DDoS ルールセット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Front Door Premium 上の Azure WAF 向け HTTP DDoS ルールセットがパブリックプレビューで提供開始</a:t>
            </a:r>
          </a:p>
          <a:p>
            <a:pPr lvl="1">
              <a:spcBef>
                <a:spcPts val="300"/>
              </a:spcBef>
            </a:pPr>
            <a:r>
              <a:rPr sz="1400" b="0">
                <a:solidFill>
                  <a:srgbClr val="333333"/>
                </a:solidFill>
                <a:latin typeface="Yu Gothic UI"/>
                <a:ea typeface="Yu Gothic UI"/>
              </a:rPr>
              <a:t>L7 (HTTP) レイヤーの DDoS 攻撃に対し、最小限の設定で学習・検知・防御を自動化する適応的保護を実現します</a:t>
            </a:r>
          </a:p>
          <a:p>
            <a:pPr lvl="1">
              <a:spcBef>
                <a:spcPts val="300"/>
              </a:spcBef>
            </a:pPr>
            <a:r>
              <a:rPr sz="1400" b="0">
                <a:solidFill>
                  <a:srgbClr val="333333"/>
                </a:solidFill>
                <a:latin typeface="Yu Gothic UI"/>
                <a:ea typeface="Yu Gothic UI"/>
              </a:rPr>
              <a:t>Front Door プロファイル単位およびクライアント単位で正常トラフィックを継続的にベースライン化し、攻撃急増時には対象クライアントを選択的にブロック</a:t>
            </a:r>
          </a:p>
          <a:p>
            <a:pPr lvl="1">
              <a:spcBef>
                <a:spcPts val="300"/>
              </a:spcBef>
            </a:pPr>
            <a:r>
              <a:rPr sz="1400" b="0">
                <a:solidFill>
                  <a:srgbClr val="333333"/>
                </a:solidFill>
                <a:latin typeface="Yu Gothic UI"/>
                <a:ea typeface="Yu Gothic UI"/>
              </a:rPr>
              <a:t>動的しきい値と感度設定、高レート異常検知ルール、Microsoft 脅威インテリジェンスを活用したボット検知ルールを搭載しています</a:t>
            </a:r>
          </a:p>
          <a:p>
            <a:pPr>
              <a:spcBef>
                <a:spcPts val="1400"/>
              </a:spcBef>
            </a:pPr>
            <a:r>
              <a:rPr sz="1300" b="1">
                <a:solidFill>
                  <a:srgbClr val="666666"/>
                </a:solidFill>
                <a:latin typeface="Yu Gothic UI"/>
                <a:ea typeface="Yu Gothic UI"/>
              </a:rPr>
              <a:t>対象製品: Azure DDoS Protection, Azure Front Door, Web Application Firewall</a:t>
            </a:r>
          </a:p>
          <a:p>
            <a:pPr>
              <a:spcBef>
                <a:spcPts val="200"/>
              </a:spcBef>
            </a:pPr>
            <a:r>
              <a:rPr sz="1300" b="0">
                <a:solidFill>
                  <a:srgbClr val="666666"/>
                </a:solidFill>
                <a:latin typeface="Yu Gothic UI"/>
                <a:ea typeface="Yu Gothic UI"/>
              </a:rPr>
              <a:t>作成日: 2026/04/28</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https://azure.microsoft.com/updates/?id=561148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AKS の WireGuard による転送中暗号化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Cilium ベース Azure CNI と Advanced Container Networking Services (ACNS) を使用する AKS クラスター向けの WireGuard 転送中暗号化が一般提供開始</a:t>
            </a:r>
          </a:p>
          <a:p>
            <a:pPr lvl="1">
              <a:spcBef>
                <a:spcPts val="300"/>
              </a:spcBef>
            </a:pPr>
            <a:r>
              <a:rPr sz="1400" b="0">
                <a:solidFill>
                  <a:srgbClr val="333333"/>
                </a:solidFill>
                <a:latin typeface="Yu Gothic UI"/>
                <a:ea typeface="Yu Gothic UI"/>
              </a:rPr>
              <a:t>ノード間 Pod トラフィックを WireGuard の最新暗号方式でノードレベル透過的に暗号化し、アプリケーションを変更せずに通信データを保護します</a:t>
            </a:r>
          </a:p>
          <a:p>
            <a:pPr lvl="1">
              <a:spcBef>
                <a:spcPts val="300"/>
              </a:spcBef>
            </a:pPr>
            <a:r>
              <a:rPr sz="1400" b="0">
                <a:solidFill>
                  <a:srgbClr val="333333"/>
                </a:solidFill>
                <a:latin typeface="Yu Gothic UI"/>
                <a:ea typeface="Yu Gothic UI"/>
              </a:rPr>
              <a:t>鍵生成とローテーションは AKS が自動管理</a:t>
            </a:r>
          </a:p>
          <a:p>
            <a:pPr lvl="1">
              <a:spcBef>
                <a:spcPts val="300"/>
              </a:spcBef>
            </a:pPr>
            <a:r>
              <a:rPr sz="1400" b="0">
                <a:solidFill>
                  <a:srgbClr val="333333"/>
                </a:solidFill>
                <a:latin typeface="Yu Gothic UI"/>
                <a:ea typeface="Yu Gothic UI"/>
              </a:rPr>
              <a:t>サイドカーや追加コントロールプレーンを必要とせず、運用負荷も最小限です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https://azure.microsoft.com/updates/?id=560015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Cosmos DB の動的データマスキング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Cosmos DB の動的データマスキング (DDM) が一般提供開始</a:t>
            </a:r>
          </a:p>
          <a:p>
            <a:pPr lvl="1">
              <a:spcBef>
                <a:spcPts val="300"/>
              </a:spcBef>
            </a:pPr>
            <a:r>
              <a:rPr sz="1400" b="0">
                <a:solidFill>
                  <a:srgbClr val="333333"/>
                </a:solidFill>
                <a:latin typeface="Yu Gothic UI"/>
                <a:ea typeface="Yu Gothic UI"/>
              </a:rPr>
              <a:t>サーバー側のポリシーベースセキュリティ機能で、特権を持たないユーザーに対し機密データをリアルタイムにマスクして応答します</a:t>
            </a:r>
          </a:p>
          <a:p>
            <a:pPr lvl="1">
              <a:spcBef>
                <a:spcPts val="300"/>
              </a:spcBef>
            </a:pPr>
            <a:r>
              <a:rPr sz="1400" b="0">
                <a:solidFill>
                  <a:srgbClr val="333333"/>
                </a:solidFill>
                <a:latin typeface="Yu Gothic UI"/>
                <a:ea typeface="Yu Gothic UI"/>
              </a:rPr>
              <a:t>データベース内の元データは変更されません</a:t>
            </a:r>
          </a:p>
          <a:p>
            <a:pPr lvl="1">
              <a:spcBef>
                <a:spcPts val="300"/>
              </a:spcBef>
            </a:pPr>
            <a:r>
              <a:rPr sz="1400" b="0">
                <a:solidFill>
                  <a:srgbClr val="333333"/>
                </a:solidFill>
                <a:latin typeface="Yu Gothic UI"/>
                <a:ea typeface="Yu Gothic UI"/>
              </a:rPr>
              <a:t>PII (個人を特定できる情報) や PHI (保護対象保健情報) などの機密情報の露出を抑制し、セキュリティ・コンプライアンス・規制要件への準拠を支援します</a:t>
            </a:r>
          </a:p>
          <a:p>
            <a:pPr>
              <a:spcBef>
                <a:spcPts val="1400"/>
              </a:spcBef>
            </a:pPr>
            <a:r>
              <a:rPr sz="1300" b="1">
                <a:solidFill>
                  <a:srgbClr val="666666"/>
                </a:solidFill>
                <a:latin typeface="Yu Gothic UI"/>
                <a:ea typeface="Yu Gothic UI"/>
              </a:rPr>
              <a:t>対象製品: Azure Cosmos DB</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https://azure.microsoft.com/updates/?id=559633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NetApp Files の高度なランサムウェア保護</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NetApp Files の高度なランサムウェア保護 (ANF ARP) が一般提供開始</a:t>
            </a:r>
          </a:p>
          <a:p>
            <a:pPr lvl="1">
              <a:spcBef>
                <a:spcPts val="300"/>
              </a:spcBef>
            </a:pPr>
            <a:r>
              <a:rPr sz="1400" b="0">
                <a:solidFill>
                  <a:srgbClr val="333333"/>
                </a:solidFill>
                <a:latin typeface="Yu Gothic UI"/>
                <a:ea typeface="Yu Gothic UI"/>
              </a:rPr>
              <a:t>ファイル拡張子プロファイリング、エントロピー、IOPS パターンを用いて NetApp Files ボリュームの不審な活動を監視し、脅威検知時にポイントインタイムスナップショットを自動作成</a:t>
            </a:r>
          </a:p>
          <a:p>
            <a:pPr lvl="1">
              <a:spcBef>
                <a:spcPts val="300"/>
              </a:spcBef>
            </a:pPr>
            <a:r>
              <a:rPr sz="1400" b="0">
                <a:solidFill>
                  <a:srgbClr val="333333"/>
                </a:solidFill>
                <a:latin typeface="Yu Gothic UI"/>
                <a:ea typeface="Yu Gothic UI"/>
              </a:rPr>
              <a:t>Azure アクティビティログ経由で通知し、攻撃レポートは 30 日間保持されます</a:t>
            </a:r>
          </a:p>
          <a:p>
            <a:pPr lvl="1">
              <a:spcBef>
                <a:spcPts val="300"/>
              </a:spcBef>
            </a:pPr>
            <a:r>
              <a:rPr sz="1400" b="0">
                <a:solidFill>
                  <a:srgbClr val="333333"/>
                </a:solidFill>
                <a:latin typeface="Yu Gothic UI"/>
                <a:ea typeface="Yu Gothic UI"/>
              </a:rPr>
              <a:t>ANF ARP 自体の追加料金は発生しませんが、デプロイサイジング時には Considerations セクションを確認してください</a:t>
            </a:r>
          </a:p>
          <a:p>
            <a:pPr lvl="1">
              <a:spcBef>
                <a:spcPts val="300"/>
              </a:spcBef>
            </a:pPr>
            <a:r>
              <a:rPr sz="1400" b="0">
                <a:solidFill>
                  <a:srgbClr val="333333"/>
                </a:solidFill>
                <a:latin typeface="Yu Gothic UI"/>
                <a:ea typeface="Yu Gothic UI"/>
              </a:rPr>
              <a:t>Azure NetApp Files の全リージョンで利用可能です</a:t>
            </a:r>
          </a:p>
          <a:p>
            <a:pPr>
              <a:spcBef>
                <a:spcPts val="1400"/>
              </a:spcBef>
            </a:pPr>
            <a:r>
              <a:rPr sz="1300" b="1">
                <a:solidFill>
                  <a:srgbClr val="666666"/>
                </a:solidFill>
                <a:latin typeface="Yu Gothic UI"/>
                <a:ea typeface="Yu Gothic UI"/>
              </a:rPr>
              <a:t>対象製品: Azure NetApp Files</a:t>
            </a:r>
          </a:p>
          <a:p>
            <a:pPr>
              <a:spcBef>
                <a:spcPts val="200"/>
              </a:spcBef>
            </a:pPr>
            <a:r>
              <a:rPr sz="1300" b="0">
                <a:solidFill>
                  <a:srgbClr val="666666"/>
                </a:solidFill>
                <a:latin typeface="Yu Gothic UI"/>
                <a:ea typeface="Yu Gothic UI"/>
              </a:rPr>
              <a:t>作成日: 2026/04/21</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https://azure.microsoft.com/updates/?id=560188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Premium SSD v2 / Ultra Disk のクロステナント CMK 暗号化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Premium SSD v2 および Ultra Disk のクロステナント顧客管理キー (CMK) 暗号化が一般提供開始</a:t>
            </a:r>
          </a:p>
          <a:p>
            <a:pPr lvl="1">
              <a:spcBef>
                <a:spcPts val="300"/>
              </a:spcBef>
            </a:pPr>
            <a:r>
              <a:rPr sz="1400" b="0">
                <a:solidFill>
                  <a:srgbClr val="333333"/>
                </a:solidFill>
                <a:latin typeface="Yu Gothic UI"/>
                <a:ea typeface="Yu Gothic UI"/>
              </a:rPr>
              <a:t>ディスクリソースとは異なる Microsoft Entra テナント上の Azure Key Vault に格納された CMK でマネージドディスクを暗号化できます</a:t>
            </a:r>
          </a:p>
          <a:p>
            <a:pPr lvl="1">
              <a:spcBef>
                <a:spcPts val="300"/>
              </a:spcBef>
            </a:pPr>
            <a:r>
              <a:rPr sz="1400" b="0">
                <a:solidFill>
                  <a:srgbClr val="333333"/>
                </a:solidFill>
                <a:latin typeface="Yu Gothic UI"/>
                <a:ea typeface="Yu Gothic UI"/>
              </a:rPr>
              <a:t>マルチテナント環境や SaaS プロバイダーなど、リソース所有者と鍵所有者をテナント間で意図的に分離するシナリオに対応</a:t>
            </a:r>
          </a:p>
          <a:p>
            <a:pPr lvl="1">
              <a:spcBef>
                <a:spcPts val="300"/>
              </a:spcBef>
            </a:pPr>
            <a:r>
              <a:rPr sz="1400" b="0">
                <a:solidFill>
                  <a:srgbClr val="333333"/>
                </a:solidFill>
                <a:latin typeface="Yu Gothic UI"/>
                <a:ea typeface="Yu Gothic UI"/>
              </a:rPr>
              <a:t>顧客は自テナント内の Key Vault で暗号化キーの所有・制御を維持しつつ、テナント境界を超えたデータガバナンス・セキュリティ・コンプライアンスを強化できます</a:t>
            </a:r>
          </a:p>
          <a:p>
            <a:pPr>
              <a:spcBef>
                <a:spcPts val="1400"/>
              </a:spcBef>
            </a:pPr>
            <a:r>
              <a:rPr sz="1300" b="1">
                <a:solidFill>
                  <a:srgbClr val="666666"/>
                </a:solidFill>
                <a:latin typeface="Yu Gothic UI"/>
                <a:ea typeface="Yu Gothic UI"/>
              </a:rPr>
              <a:t>対象製品: Azure Disk Storage</a:t>
            </a:r>
          </a:p>
          <a:p>
            <a:pPr>
              <a:spcBef>
                <a:spcPts val="200"/>
              </a:spcBef>
            </a:pPr>
            <a:r>
              <a:rPr sz="1300" b="0">
                <a:solidFill>
                  <a:srgbClr val="666666"/>
                </a:solidFill>
                <a:latin typeface="Yu Gothic UI"/>
                <a:ea typeface="Yu Gothic UI"/>
              </a:rPr>
              <a:t>作成日: 2026/04/15</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https://azure.microsoft.com/updates/?id=559761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User Delegation SAS の Prefix スコープアクセス</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Blob Storage の User Delegation SAS で、Prefix スコープ (仮想ディレクトリ) でのアクセス制御が全リージョンで一般提供開始</a:t>
            </a:r>
          </a:p>
          <a:p>
            <a:pPr lvl="1">
              <a:spcBef>
                <a:spcPts val="300"/>
              </a:spcBef>
            </a:pPr>
            <a:r>
              <a:rPr sz="1400" b="0">
                <a:solidFill>
                  <a:srgbClr val="333333"/>
                </a:solidFill>
                <a:latin typeface="Yu Gothic UI"/>
                <a:ea typeface="Yu Gothic UI"/>
              </a:rPr>
              <a:t>従来はコンテナー/個別 Blob の 2 レベルでしたが、コンテナー内の特定 prefix 配下にあるすべての Blob に対し単一の SAS で権限を付与可能です</a:t>
            </a:r>
          </a:p>
          <a:p>
            <a:pPr lvl="1">
              <a:spcBef>
                <a:spcPts val="300"/>
              </a:spcBef>
            </a:pPr>
            <a:r>
              <a:rPr sz="1400" b="0">
                <a:solidFill>
                  <a:srgbClr val="333333"/>
                </a:solidFill>
                <a:latin typeface="Yu Gothic UI"/>
                <a:ea typeface="Yu Gothic UI"/>
              </a:rPr>
              <a:t>テナント・ワークスペース・プロジェクト・部門単位でデータを共有コンテナー内に整理するアプリで特に有用</a:t>
            </a:r>
          </a:p>
          <a:p>
            <a:pPr lvl="1">
              <a:spcBef>
                <a:spcPts val="300"/>
              </a:spcBef>
            </a:pPr>
            <a:r>
              <a:rPr sz="1400" b="0">
                <a:solidFill>
                  <a:srgbClr val="333333"/>
                </a:solidFill>
                <a:latin typeface="Yu Gothic UI"/>
                <a:ea typeface="Yu Gothic UI"/>
              </a:rPr>
              <a:t>Blob と Data Lake Storage の両方のアカウントで利用可能です</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2026/04/30</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https://azure.microsoft.com/updates/?id=561257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グラフィカルセッション記録のマネージド ID 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Bastion のグラフィカルセッション記録がマネージド ID をサポート (プレビュー)</a:t>
            </a:r>
          </a:p>
          <a:p>
            <a:pPr lvl="1">
              <a:spcBef>
                <a:spcPts val="300"/>
              </a:spcBef>
            </a:pPr>
            <a:r>
              <a:rPr sz="1400" b="0">
                <a:solidFill>
                  <a:srgbClr val="333333"/>
                </a:solidFill>
                <a:latin typeface="Yu Gothic UI"/>
                <a:ea typeface="Yu Gothic UI"/>
              </a:rPr>
              <a:t>記録設定時にマネージド ID を構成し、VM 記録の保存先ストレージアカウントコンテナーを指定可能</a:t>
            </a:r>
          </a:p>
          <a:p>
            <a:pPr lvl="1">
              <a:spcBef>
                <a:spcPts val="300"/>
              </a:spcBef>
            </a:pPr>
            <a:r>
              <a:rPr sz="1400" b="0">
                <a:solidFill>
                  <a:srgbClr val="333333"/>
                </a:solidFill>
                <a:latin typeface="Yu Gothic UI"/>
                <a:ea typeface="Yu Gothic UI"/>
              </a:rPr>
              <a:t>コンテナーへの WRITE 権限がマネージド ID に付与されていれば、SAS トークンなしで認証してセッションを記録できます</a:t>
            </a:r>
          </a:p>
          <a:p>
            <a:pPr lvl="1">
              <a:spcBef>
                <a:spcPts val="300"/>
              </a:spcBef>
            </a:pPr>
            <a:r>
              <a:rPr sz="1400" b="0">
                <a:solidFill>
                  <a:srgbClr val="333333"/>
                </a:solidFill>
                <a:latin typeface="Yu Gothic UI"/>
                <a:ea typeface="Yu Gothic UI"/>
              </a:rPr>
              <a:t>共有 SAS URL の利用と発行/ローテーション/有効期限管理を排除し、Bastion リソースに紐付く ID ベース認可でセキュリティ態勢を強化、運用負荷を低減します</a:t>
            </a:r>
          </a:p>
          <a:p>
            <a:pPr>
              <a:spcBef>
                <a:spcPts val="1400"/>
              </a:spcBef>
            </a:pPr>
            <a:r>
              <a:rPr sz="1300" b="1">
                <a:solidFill>
                  <a:srgbClr val="666666"/>
                </a:solidFill>
                <a:latin typeface="Yu Gothic UI"/>
                <a:ea typeface="Yu Gothic UI"/>
              </a:rPr>
              <a:t>対象製品: Azure Bastion</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https://azure.microsoft.com/updates/?id=560162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Files の SMB / NFS 向けきめ細かい転送中暗号化制御</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Files でストレージアカウントレベルで SMB と NFS プロトコルそれぞれの転送中暗号化設定を独立して構成できるようになりました</a:t>
            </a:r>
          </a:p>
          <a:p>
            <a:pPr lvl="1">
              <a:spcBef>
                <a:spcPts val="300"/>
              </a:spcBef>
            </a:pPr>
            <a:r>
              <a:rPr sz="1400" b="0">
                <a:solidFill>
                  <a:srgbClr val="333333"/>
                </a:solidFill>
                <a:latin typeface="Yu Gothic UI"/>
                <a:ea typeface="Yu Gothic UI"/>
              </a:rPr>
              <a:t>プロトコル別のセキュリティポリシー定義により、混在プロトコルワークロード環境でもプロトコルごとに必要な暗号化要件を厳密に制御可能です</a:t>
            </a:r>
          </a:p>
          <a:p>
            <a:pPr lvl="1">
              <a:spcBef>
                <a:spcPts val="300"/>
              </a:spcBef>
            </a:pPr>
            <a:r>
              <a:rPr sz="1400" b="0">
                <a:solidFill>
                  <a:srgbClr val="333333"/>
                </a:solidFill>
                <a:latin typeface="Yu Gothic UI"/>
                <a:ea typeface="Yu Gothic UI"/>
              </a:rPr>
              <a:t>Azure ポータル、Azure CLI、Azure PowerShell、REST API から利用可能です</a:t>
            </a:r>
          </a:p>
          <a:p>
            <a:pPr>
              <a:spcBef>
                <a:spcPts val="1400"/>
              </a:spcBef>
            </a:pPr>
            <a:r>
              <a:rPr sz="1300" b="1">
                <a:solidFill>
                  <a:srgbClr val="666666"/>
                </a:solidFill>
                <a:latin typeface="Yu Gothic UI"/>
                <a:ea typeface="Yu Gothic UI"/>
              </a:rPr>
              <a:t>対象製品: Azure Files</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https://azure.microsoft.com/updates/?id=560001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コンテナー（5件）</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AKS の Ubuntu 22.04 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 年 6 月 30 日に AKS の Ubuntu 22.04 サポートが廃止されます</a:t>
            </a:r>
          </a:p>
          <a:p>
            <a:pPr lvl="1">
              <a:spcBef>
                <a:spcPts val="300"/>
              </a:spcBef>
            </a:pPr>
            <a:r>
              <a:rPr sz="1400" b="0">
                <a:solidFill>
                  <a:srgbClr val="333333"/>
                </a:solidFill>
                <a:latin typeface="Yu Gothic UI"/>
                <a:ea typeface="Yu Gothic UI"/>
              </a:rPr>
              <a:t>それまでに Ubuntu 24.04 以降へ移行してください</a:t>
            </a:r>
          </a:p>
          <a:p>
            <a:pPr lvl="1">
              <a:spcBef>
                <a:spcPts val="300"/>
              </a:spcBef>
            </a:pPr>
            <a:r>
              <a:rPr sz="1400" b="0">
                <a:solidFill>
                  <a:srgbClr val="333333"/>
                </a:solidFill>
                <a:latin typeface="Yu Gothic UI"/>
                <a:ea typeface="Yu Gothic UI"/>
              </a:rPr>
              <a:t>期限後は新規ノードプール作成不可、ノードイメージ更新停止、セキュリティパッチ提供停止となります</a:t>
            </a:r>
          </a:p>
          <a:p>
            <a:pPr lvl="1">
              <a:spcBef>
                <a:spcPts val="300"/>
              </a:spcBef>
            </a:pPr>
            <a:r>
              <a:rPr sz="1400" b="0">
                <a:solidFill>
                  <a:srgbClr val="333333"/>
                </a:solidFill>
                <a:latin typeface="Yu Gothic UI"/>
                <a:ea typeface="Yu Gothic UI"/>
              </a:rPr>
              <a:t>さらに 2028 年 4 月 30 日には Ubuntu 22.04 ノードイメージと既存コードが削除され、スケーリングや修復操作が失敗するようになります</a:t>
            </a:r>
          </a:p>
          <a:p>
            <a:pPr lvl="1">
              <a:spcBef>
                <a:spcPts val="300"/>
              </a:spcBef>
            </a:pPr>
            <a:r>
              <a:rPr sz="1400" b="0">
                <a:solidFill>
                  <a:srgbClr val="333333"/>
                </a:solidFill>
                <a:latin typeface="Yu Gothic UI"/>
                <a:ea typeface="Yu Gothic UI"/>
              </a:rPr>
              <a:t>移行: OSSku が 'Ubuntu' の場合、Kubernetes 1.35 以降へのアップグレードで自動的に 24.04 へ移行</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2026/04/16</a:t>
            </a:r>
          </a:p>
          <a:p>
            <a:pPr>
              <a:spcBef>
                <a:spcPts val="200"/>
              </a:spcBef>
            </a:pPr>
            <a:r>
              <a:rPr sz="1300" b="0">
                <a:solidFill>
                  <a:srgbClr val="666666"/>
                </a:solidFill>
                <a:latin typeface="Yu Gothic UI"/>
                <a:ea typeface="Yu Gothic UI"/>
              </a:rPr>
              <a:t>可用性: Retirement 2027/June</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Application Gateway for Containers マネージドアドオン と AKS Automatic の統合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Application Gateway for Containers の AKS アドオンが AKS Automatic クラスターでも利用可能になりました</a:t>
            </a:r>
          </a:p>
          <a:p>
            <a:pPr lvl="1">
              <a:spcBef>
                <a:spcPts val="300"/>
              </a:spcBef>
            </a:pPr>
            <a:r>
              <a:rPr sz="1400" b="0">
                <a:solidFill>
                  <a:srgbClr val="333333"/>
                </a:solidFill>
                <a:latin typeface="Yu Gothic UI"/>
                <a:ea typeface="Yu Gothic UI"/>
              </a:rPr>
              <a:t>これまで AKS Automatic にはプロビジョニングできない制限がありましたが、今回のアップデートでアドオンを有効化するだけで、AKS Automatic の簡素化された運用モデルに統合された形で Application Gateway for Containers をマネージド ingress / ロードバランサーとして利用できます</a:t>
            </a:r>
          </a:p>
          <a:p>
            <a:pPr lvl="1">
              <a:spcBef>
                <a:spcPts val="300"/>
              </a:spcBef>
            </a:pPr>
            <a:r>
              <a:rPr sz="1400" b="0">
                <a:solidFill>
                  <a:srgbClr val="333333"/>
                </a:solidFill>
                <a:latin typeface="Yu Gothic UI"/>
                <a:ea typeface="Yu Gothic UI"/>
              </a:rPr>
              <a:t>Gateway API ベースのアプリ配信を運用負荷を抑えて導入可能です</a:t>
            </a:r>
          </a:p>
          <a:p>
            <a:pPr>
              <a:spcBef>
                <a:spcPts val="1400"/>
              </a:spcBef>
            </a:pPr>
            <a:r>
              <a:rPr sz="1300" b="1">
                <a:solidFill>
                  <a:srgbClr val="666666"/>
                </a:solidFill>
                <a:latin typeface="Yu Gothic UI"/>
                <a:ea typeface="Yu Gothic UI"/>
              </a:rPr>
              <a:t>対象製品: Application Gateway, Azure Kubernetes Service (AKS)</a:t>
            </a:r>
          </a:p>
          <a:p>
            <a:pPr>
              <a:spcBef>
                <a:spcPts val="200"/>
              </a:spcBef>
            </a:pPr>
            <a:r>
              <a:rPr sz="1300" b="0">
                <a:solidFill>
                  <a:srgbClr val="666666"/>
                </a:solidFill>
                <a:latin typeface="Yu Gothic UI"/>
                <a:ea typeface="Yu Gothic UI"/>
              </a:rPr>
              <a:t>作成日: 2026/05/05</a:t>
            </a:r>
          </a:p>
          <a:p>
            <a:pPr>
              <a:spcBef>
                <a:spcPts val="200"/>
              </a:spcBef>
            </a:pPr>
            <a:r>
              <a:rPr sz="1300" b="0">
                <a:solidFill>
                  <a:srgbClr val="666666"/>
                </a:solidFill>
                <a:latin typeface="Yu Gothic UI"/>
                <a:ea typeface="Yu Gothic UI"/>
              </a:rPr>
              <a:t>可用性: Preview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https://azure.microsoft.com/updates/?id=558403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Container Network Insights Agent</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Kubernetes のネットワーク問題のトラブルシューティングでは、ログとメトリックが複数ツールに散在することが課題でした</a:t>
            </a:r>
          </a:p>
          <a:p>
            <a:pPr lvl="1">
              <a:spcBef>
                <a:spcPts val="300"/>
              </a:spcBef>
            </a:pPr>
            <a:r>
              <a:rPr sz="1400" b="0">
                <a:solidFill>
                  <a:srgbClr val="333333"/>
                </a:solidFill>
                <a:latin typeface="Yu Gothic UI"/>
                <a:ea typeface="Yu Gothic UI"/>
              </a:rPr>
              <a:t>Container Network Insights Agent は軽量な Web インターフェースで、自然言語の問題記述を AKS クラスターのライブテレメトリを用いた読み取り専用診断に変換します</a:t>
            </a:r>
          </a:p>
          <a:p>
            <a:pPr lvl="1">
              <a:spcBef>
                <a:spcPts val="300"/>
              </a:spcBef>
            </a:pPr>
            <a:r>
              <a:rPr sz="1400" b="0">
                <a:solidFill>
                  <a:srgbClr val="333333"/>
                </a:solidFill>
                <a:latin typeface="Yu Gothic UI"/>
                <a:ea typeface="Yu Gothic UI"/>
              </a:rPr>
              <a:t>安全な診断ワークフローをオーケストレーションし、ネットワークインサイトを構造化サマリーと推奨ネクストステップに集約</a:t>
            </a:r>
          </a:p>
          <a:p>
            <a:pPr lvl="1">
              <a:spcBef>
                <a:spcPts val="300"/>
              </a:spcBef>
            </a:pPr>
            <a:r>
              <a:rPr sz="1400" b="0">
                <a:solidFill>
                  <a:srgbClr val="333333"/>
                </a:solidFill>
                <a:latin typeface="Yu Gothic UI"/>
                <a:ea typeface="Yu Gothic UI"/>
              </a:rPr>
              <a:t>手動での相関分析を削減し、原因特定の高速化とインシデント対応の一貫性向上に寄与します (変更は常にユーザー制御下)</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2026/04/28</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https://azure.microsoft.com/updates/?id=561020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CLI 単一コマンドで AKS バックアップを構成</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Backup で AKS クラスターのバックアップを 1 つの Azure CLI コマンドで構成できる簡素化エクスペリエンスが一般提供開始</a:t>
            </a:r>
          </a:p>
          <a:p>
            <a:pPr lvl="1">
              <a:spcBef>
                <a:spcPts val="300"/>
              </a:spcBef>
            </a:pPr>
            <a:r>
              <a:rPr sz="1400" b="0">
                <a:solidFill>
                  <a:srgbClr val="333333"/>
                </a:solidFill>
                <a:latin typeface="Yu Gothic UI"/>
                <a:ea typeface="Yu Gothic UI"/>
              </a:rPr>
              <a:t>従来は Backup 拡張機能のインストール、ストレージリソース・バックアップコンテナー・ポリシーの作成、Trusted Access の有効化、バックアップインスタンスの初期化など複数の手動ステップが必要でした</a:t>
            </a:r>
          </a:p>
          <a:p>
            <a:pPr lvl="1">
              <a:spcBef>
                <a:spcPts val="300"/>
              </a:spcBef>
            </a:pPr>
            <a:r>
              <a:rPr sz="1400" b="0">
                <a:solidFill>
                  <a:srgbClr val="333333"/>
                </a:solidFill>
                <a:latin typeface="Yu Gothic UI"/>
                <a:ea typeface="Yu Gothic UI"/>
              </a:rPr>
              <a:t>このコマンドは必要な構成ワークフローを自動実行し、オプションで構成ファイルを指定して既存のコンテナー/ポリシー/ストレージアカウントを再利用することも可能です</a:t>
            </a:r>
          </a:p>
          <a:p>
            <a:pPr>
              <a:spcBef>
                <a:spcPts val="1400"/>
              </a:spcBef>
            </a:pPr>
            <a:r>
              <a:rPr sz="1300" b="1">
                <a:solidFill>
                  <a:srgbClr val="666666"/>
                </a:solidFill>
                <a:latin typeface="Yu Gothic UI"/>
                <a:ea typeface="Yu Gothic UI"/>
              </a:rPr>
              <a:t>対象製品: Azure Backup, Azure Kubernetes Service (AKS)</a:t>
            </a:r>
          </a:p>
          <a:p>
            <a:pPr>
              <a:spcBef>
                <a:spcPts val="200"/>
              </a:spcBef>
            </a:pPr>
            <a:r>
              <a:rPr sz="1300" b="0">
                <a:solidFill>
                  <a:srgbClr val="666666"/>
                </a:solidFill>
                <a:latin typeface="Yu Gothic UI"/>
                <a:ea typeface="Yu Gothic UI"/>
              </a:rPr>
              <a:t>作成日: 2026/04/17</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https://azure.microsoft.com/updates/?id=560521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Red Hat OpenShift が Austria East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Austria East リージョンが Azure Red Hat OpenShift で一般提供開始</a:t>
            </a:r>
          </a:p>
          <a:p>
            <a:pPr lvl="1">
              <a:spcBef>
                <a:spcPts val="300"/>
              </a:spcBef>
            </a:pPr>
            <a:r>
              <a:rPr sz="1400" b="0">
                <a:solidFill>
                  <a:srgbClr val="333333"/>
                </a:solidFill>
                <a:latin typeface="Yu Gothic UI"/>
                <a:ea typeface="Yu Gothic UI"/>
              </a:rPr>
              <a:t>3 つの可用性ゾーンを備え、回復性とスケーラビリティを確保</a:t>
            </a:r>
          </a:p>
          <a:p>
            <a:pPr lvl="1">
              <a:spcBef>
                <a:spcPts val="300"/>
              </a:spcBef>
            </a:pPr>
            <a:r>
              <a:rPr sz="1400" b="0">
                <a:solidFill>
                  <a:srgbClr val="333333"/>
                </a:solidFill>
                <a:latin typeface="Yu Gothic UI"/>
                <a:ea typeface="Yu Gothic UI"/>
              </a:rPr>
              <a:t>オーストリア国内のデータレジデンシ要件 (GDPR 等の EU 規制) への対応、近隣地域へのレイテンシ短縮、規制業種・公共セクター向けワークロードの導入を支援します</a:t>
            </a:r>
          </a:p>
          <a:p>
            <a:pPr>
              <a:spcBef>
                <a:spcPts val="1400"/>
              </a:spcBef>
            </a:pPr>
            <a:r>
              <a:rPr sz="1300" b="1">
                <a:solidFill>
                  <a:srgbClr val="666666"/>
                </a:solidFill>
                <a:latin typeface="Yu Gothic UI"/>
                <a:ea typeface="Yu Gothic UI"/>
              </a:rPr>
              <a:t>対象製品: Azure Red Hat OpenShift</a:t>
            </a:r>
          </a:p>
          <a:p>
            <a:pPr>
              <a:spcBef>
                <a:spcPts val="200"/>
              </a:spcBef>
            </a:pPr>
            <a:r>
              <a:rPr sz="1300" b="0">
                <a:solidFill>
                  <a:srgbClr val="666666"/>
                </a:solidFill>
                <a:latin typeface="Yu Gothic UI"/>
                <a:ea typeface="Yu Gothic UI"/>
              </a:rPr>
              <a:t>作成日: 2026/04/29</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https://azure.microsoft.com/updates/?id=561135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モニタリング（5件）</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Monitor pipeline</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Monitor pipeline が一般提供開始</a:t>
            </a:r>
          </a:p>
          <a:p>
            <a:pPr lvl="1">
              <a:spcBef>
                <a:spcPts val="300"/>
              </a:spcBef>
            </a:pPr>
            <a:r>
              <a:rPr sz="1400" b="0">
                <a:solidFill>
                  <a:srgbClr val="333333"/>
                </a:solidFill>
                <a:latin typeface="Yu Gothic UI"/>
                <a:ea typeface="Yu Gothic UI"/>
              </a:rPr>
              <a:t>テレメトリ取り込みと変換のための集中制御点を提供し、セキュアで高スループットなエンタープライズ規模シナリオに対応 (OpenTelemetry エコシステム ベース)</a:t>
            </a:r>
          </a:p>
          <a:p>
            <a:pPr lvl="1">
              <a:spcBef>
                <a:spcPts val="300"/>
              </a:spcBef>
            </a:pPr>
            <a:r>
              <a:rPr sz="1400" b="0">
                <a:solidFill>
                  <a:srgbClr val="333333"/>
                </a:solidFill>
                <a:latin typeface="Yu Gothic UI"/>
                <a:ea typeface="Yu Gothic UI"/>
              </a:rPr>
              <a:t>Syslog や CommonSecurityLog 等の Azure ネイティブスキーマへの自動マッピング、断続的接続下での永続化ローカルバッファリングと自動バックフィル、フィルター/集約/変換による取り込みコスト削減、毎秒数百〜数千イベントへの水平/垂直スケール、自動証明書プロビジョニングと無停止ローテーションを伴う集中型 TLS/mTLS、パイプラインのパフォーマンス/健全性監視、規模見積りガイダンスを提供します</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2026/04/21</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https://azure.microsoft.com/updates/?id=559886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Managed Grafana Essential SKU は 2027 年 3 月 30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Managed Grafana の Essential SKU が 2027 年 3 月 30 日に廃止されます</a:t>
            </a:r>
          </a:p>
          <a:p>
            <a:pPr lvl="1">
              <a:spcBef>
                <a:spcPts val="300"/>
              </a:spcBef>
            </a:pPr>
            <a:r>
              <a:rPr sz="1400" b="0">
                <a:solidFill>
                  <a:srgbClr val="333333"/>
                </a:solidFill>
                <a:latin typeface="Yu Gothic UI"/>
                <a:ea typeface="Yu Gothic UI"/>
              </a:rPr>
              <a:t>それまでに Azure Managed Grafana Standard SKU または Azure Monitor Dashboards with Grafana への移行を推奨</a:t>
            </a:r>
          </a:p>
          <a:p>
            <a:pPr lvl="1">
              <a:spcBef>
                <a:spcPts val="300"/>
              </a:spcBef>
            </a:pPr>
            <a:r>
              <a:rPr sz="1400" b="0">
                <a:solidFill>
                  <a:srgbClr val="333333"/>
                </a:solidFill>
                <a:latin typeface="Yu Gothic UI"/>
                <a:ea typeface="Yu Gothic UI"/>
              </a:rPr>
              <a:t>廃止日には Essential SKU を使用中の全 Managed Grafana インスタンスが削除されダッシュボードへのアクセスも失われます</a:t>
            </a:r>
          </a:p>
          <a:p>
            <a:pPr lvl="1">
              <a:spcBef>
                <a:spcPts val="300"/>
              </a:spcBef>
            </a:pPr>
            <a:r>
              <a:rPr sz="1400" b="0">
                <a:solidFill>
                  <a:srgbClr val="333333"/>
                </a:solidFill>
                <a:latin typeface="Yu Gothic UI"/>
                <a:ea typeface="Yu Gothic UI"/>
              </a:rPr>
              <a:t>それまでの間は Essential SKU の既存リソースを中断なく利用できます</a:t>
            </a:r>
          </a:p>
          <a:p>
            <a:pPr>
              <a:spcBef>
                <a:spcPts val="1400"/>
              </a:spcBef>
            </a:pPr>
            <a:r>
              <a:rPr sz="1300" b="1">
                <a:solidFill>
                  <a:srgbClr val="666666"/>
                </a:solidFill>
                <a:latin typeface="Yu Gothic UI"/>
                <a:ea typeface="Yu Gothic UI"/>
              </a:rPr>
              <a:t>対象製品: Azure Managed Grafana</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https://azure.microsoft.com/updates/?id=559395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Arc 対応 Kubernetes (OpenShift / Azure Red Hat OpenShift) 向け Azure Monitor</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Arc 対応 Kubernetes (OpenShift / Azure Red Hat OpenShift) 向けの Azure Monitor サポートが一般提供開始</a:t>
            </a:r>
          </a:p>
          <a:p>
            <a:pPr lvl="1">
              <a:spcBef>
                <a:spcPts val="300"/>
              </a:spcBef>
            </a:pPr>
            <a:r>
              <a:rPr sz="1400" b="0">
                <a:solidFill>
                  <a:srgbClr val="333333"/>
                </a:solidFill>
                <a:latin typeface="Yu Gothic UI"/>
                <a:ea typeface="Yu Gothic UI"/>
              </a:rPr>
              <a:t>Container Insights とマネージド Prometheus を活用し、Kubernetes インフラ各層およびアプリの健全性とパフォーマンスを総合的に監視できます</a:t>
            </a:r>
          </a:p>
          <a:p>
            <a:pPr>
              <a:spcBef>
                <a:spcPts val="1400"/>
              </a:spcBef>
            </a:pPr>
            <a:r>
              <a:rPr sz="1300" b="1">
                <a:solidFill>
                  <a:srgbClr val="666666"/>
                </a:solidFill>
                <a:latin typeface="Yu Gothic UI"/>
                <a:ea typeface="Yu Gothic UI"/>
              </a:rPr>
              <a:t>対象製品: Azure Arc, Azure Kubernetes Service (AKS), Azure Monitor</a:t>
            </a:r>
          </a:p>
          <a:p>
            <a:pPr>
              <a:spcBef>
                <a:spcPts val="200"/>
              </a:spcBef>
            </a:pPr>
            <a:r>
              <a:rPr sz="1300" b="0">
                <a:solidFill>
                  <a:srgbClr val="666666"/>
                </a:solidFill>
                <a:latin typeface="Yu Gothic UI"/>
                <a:ea typeface="Yu Gothic UI"/>
              </a:rPr>
              <a:t>作成日: 2026/04/23</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https://azure.microsoft.com/updates/?id=560358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Monitor Agent によるネイティブ OTLP 取り込みを Azure Monitor がサポート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Monitor が OpenTelemetry Protocol (OTLP) シグナルのネイティブ取り込みをサポート (プレビュー)</a:t>
            </a:r>
          </a:p>
          <a:p>
            <a:pPr lvl="1">
              <a:spcBef>
                <a:spcPts val="300"/>
              </a:spcBef>
            </a:pPr>
            <a:r>
              <a:rPr sz="1400" b="0">
                <a:solidFill>
                  <a:srgbClr val="333333"/>
                </a:solidFill>
                <a:latin typeface="Yu Gothic UI"/>
                <a:ea typeface="Yu Gothic UI"/>
              </a:rPr>
              <a:t>Azure Monitor Agent (AMA) で OpenTelemetry 計装済みアプリからの OTLP テレメトリを受信し、Azure Monitor にエクスポートできます</a:t>
            </a:r>
          </a:p>
          <a:p>
            <a:pPr lvl="1">
              <a:spcBef>
                <a:spcPts val="300"/>
              </a:spcBef>
            </a:pPr>
            <a:r>
              <a:rPr sz="1400" b="0">
                <a:solidFill>
                  <a:srgbClr val="333333"/>
                </a:solidFill>
                <a:latin typeface="Yu Gothic UI"/>
                <a:ea typeface="Yu Gothic UI"/>
              </a:rPr>
              <a:t>Azure VM、VM スケールセット、Azure Arc 対応プラットフォームで対応</a:t>
            </a:r>
          </a:p>
          <a:p>
            <a:pPr lvl="1">
              <a:spcBef>
                <a:spcPts val="300"/>
              </a:spcBef>
            </a:pPr>
            <a:r>
              <a:rPr sz="1400" b="0">
                <a:solidFill>
                  <a:srgbClr val="333333"/>
                </a:solidFill>
                <a:latin typeface="Yu Gothic UI"/>
                <a:ea typeface="Yu Gothic UI"/>
              </a:rPr>
              <a:t>Application Insights で監視・トリアージ・パフォーマンス分析が可能となり、メトリクスは Grafana ダッシュボードと PromQL で可視化、ログ/トレースは Log Analytics で OpenTelemetry セマンティクスで照会可能です</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2026/04/20</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https://azure.microsoft.com/updates/?id=560530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OpenTelemetry と Azure Monitor で AKS アプリケーションを監視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Monitor が OpenTelemetry を用いた AKS 上アプリの計装・データ収集をサポート (プレビュー)</a:t>
            </a:r>
          </a:p>
          <a:p>
            <a:pPr lvl="1">
              <a:spcBef>
                <a:spcPts val="300"/>
              </a:spcBef>
            </a:pPr>
            <a:r>
              <a:rPr sz="1400" b="0">
                <a:solidFill>
                  <a:srgbClr val="333333"/>
                </a:solidFill>
                <a:latin typeface="Yu Gothic UI"/>
                <a:ea typeface="Yu Gothic UI"/>
              </a:rPr>
              <a:t>自動計装機能で Azure Monitor OpenTelemetry ディストロをワークロードへデプロイ、または自動構成でオープンソースのベンダー中立 OpenTelemetry SDK で既に計装されたアプリからの OTLP シグナルを Azure Monitor へルーティング可能</a:t>
            </a:r>
          </a:p>
          <a:p>
            <a:pPr lvl="1">
              <a:spcBef>
                <a:spcPts val="300"/>
              </a:spcBef>
            </a:pPr>
            <a:r>
              <a:rPr sz="1400" b="0">
                <a:solidFill>
                  <a:srgbClr val="333333"/>
                </a:solidFill>
                <a:latin typeface="Yu Gothic UI"/>
                <a:ea typeface="Yu Gothic UI"/>
              </a:rPr>
              <a:t>Application Insights によるアプリパフォーマンスの監視・トラブルシューティングを、Azure Managed Prometheus やコンテナーログなどインフラシグナルと組み合わせて実施できます</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https://azure.microsoft.com/updates/?id=560119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ネットワーク（3件）</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Virtual Network Manager のクロスリージョン IPAM プール関連付け</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単一の IPAM プールを複数 Azure リージョンの仮想ネットワークに関連付けられるクロスリージョン IPAM プール関連付けが一般提供開始</a:t>
            </a:r>
          </a:p>
          <a:p>
            <a:pPr lvl="1">
              <a:spcBef>
                <a:spcPts val="300"/>
              </a:spcBef>
            </a:pPr>
            <a:r>
              <a:rPr sz="1400" b="0">
                <a:solidFill>
                  <a:srgbClr val="333333"/>
                </a:solidFill>
                <a:latin typeface="Yu Gothic UI"/>
                <a:ea typeface="Yu Gothic UI"/>
              </a:rPr>
              <a:t>アドレス計画の一元化、ガバナンスの簡素化、グローバル環境での一貫した CIDR 割当を実現します</a:t>
            </a:r>
          </a:p>
          <a:p>
            <a:pPr lvl="1">
              <a:spcBef>
                <a:spcPts val="300"/>
              </a:spcBef>
            </a:pPr>
            <a:r>
              <a:rPr sz="1400" b="0">
                <a:solidFill>
                  <a:srgbClr val="333333"/>
                </a:solidFill>
                <a:latin typeface="Yu Gothic UI"/>
                <a:ea typeface="Yu Gothic UI"/>
              </a:rPr>
              <a:t>リージョン単位の CIDR ポリシーも柔軟に定義可能</a:t>
            </a:r>
          </a:p>
          <a:p>
            <a:pPr lvl="1">
              <a:spcBef>
                <a:spcPts val="300"/>
              </a:spcBef>
            </a:pPr>
            <a:r>
              <a:rPr sz="1400" b="0">
                <a:solidFill>
                  <a:srgbClr val="333333"/>
                </a:solidFill>
                <a:latin typeface="Yu Gothic UI"/>
                <a:ea typeface="Yu Gothic UI"/>
              </a:rPr>
              <a:t>既存の単一リージョン IPAM プールはそのまま動作し変更不要です</a:t>
            </a:r>
          </a:p>
          <a:p>
            <a:pPr>
              <a:spcBef>
                <a:spcPts val="1400"/>
              </a:spcBef>
            </a:pPr>
            <a:r>
              <a:rPr sz="1300" b="1">
                <a:solidFill>
                  <a:srgbClr val="666666"/>
                </a:solidFill>
                <a:latin typeface="Yu Gothic UI"/>
                <a:ea typeface="Yu Gothic UI"/>
              </a:rPr>
              <a:t>対象製品: Azure Virtual Network Manager</a:t>
            </a:r>
          </a:p>
          <a:p>
            <a:pPr>
              <a:spcBef>
                <a:spcPts val="200"/>
              </a:spcBef>
            </a:pPr>
            <a:r>
              <a:rPr sz="1300" b="0">
                <a:solidFill>
                  <a:srgbClr val="666666"/>
                </a:solidFill>
                <a:latin typeface="Yu Gothic UI"/>
                <a:ea typeface="Yu Gothic UI"/>
              </a:rPr>
              <a:t>作成日: 2026/04/28</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https://azure.microsoft.com/updates/?id=561067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PostgreSQL の VNet 統合構成から Private Endpoint 対応構成への移行</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を VNet 統合デプロイから Private Endpoint 対応のネットワーク構成へ移行可能になりました (プレビュー)</a:t>
            </a:r>
          </a:p>
          <a:p>
            <a:pPr lvl="1">
              <a:spcBef>
                <a:spcPts val="300"/>
              </a:spcBef>
            </a:pPr>
            <a:r>
              <a:rPr sz="1400" b="0">
                <a:solidFill>
                  <a:srgbClr val="333333"/>
                </a:solidFill>
                <a:latin typeface="Yu Gothic UI"/>
                <a:ea typeface="Yu Gothic UI"/>
              </a:rPr>
              <a:t>Azure バックボーン経由のプライベートアクセスを維持しつつ、委任サブネット依存を削減し、スケーラブルなネットワーク設計に整合できます</a:t>
            </a:r>
          </a:p>
          <a:p>
            <a:pPr lvl="1">
              <a:spcBef>
                <a:spcPts val="300"/>
              </a:spcBef>
            </a:pPr>
            <a:r>
              <a:rPr sz="1400" b="0">
                <a:solidFill>
                  <a:srgbClr val="333333"/>
                </a:solidFill>
                <a:latin typeface="Yu Gothic UI"/>
                <a:ea typeface="Yu Gothic UI"/>
              </a:rPr>
              <a:t>Azure CLI / API / SDK から直接実行でき、サーバー再作成やデータ手動移動なしで Private Endpoint 接続を採用可能</a:t>
            </a:r>
          </a:p>
          <a:p>
            <a:pPr lvl="1">
              <a:spcBef>
                <a:spcPts val="300"/>
              </a:spcBef>
            </a:pPr>
            <a:r>
              <a:rPr sz="1400" b="0">
                <a:solidFill>
                  <a:srgbClr val="333333"/>
                </a:solidFill>
                <a:latin typeface="Yu Gothic UI"/>
                <a:ea typeface="Yu Gothic UI"/>
              </a:rPr>
              <a:t>ダウンタイムは発生します</a:t>
            </a:r>
          </a:p>
          <a:p>
            <a:pPr lvl="1">
              <a:spcBef>
                <a:spcPts val="300"/>
              </a:spcBef>
            </a:pPr>
            <a:r>
              <a:rPr sz="1400" b="0">
                <a:solidFill>
                  <a:srgbClr val="333333"/>
                </a:solidFill>
                <a:latin typeface="Yu Gothic UI"/>
                <a:ea typeface="Yu Gothic UI"/>
              </a:rPr>
              <a:t>注意: 本移行は HA 構成や読み取りレプリカが構成されていない PostgreSQL サーバーのみが対象で、移行後に Terraform 等の IaC テンプレート更新と Private Endpoint / ファイアウォール設定が必要です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https://azure.microsoft.com/updates/?id=560298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AKS の Outbound タイプとして StandardV2 NAT Gateway 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AKS でマネージドおよびユーザー割当の StandardV2 NAT Gateway を Outbound タイプとしてサポート (プレビュー)</a:t>
            </a:r>
          </a:p>
          <a:p>
            <a:pPr lvl="1">
              <a:spcBef>
                <a:spcPts val="300"/>
              </a:spcBef>
            </a:pPr>
            <a:r>
              <a:rPr sz="1400" b="0">
                <a:solidFill>
                  <a:srgbClr val="333333"/>
                </a:solidFill>
                <a:latin typeface="Yu Gothic UI"/>
                <a:ea typeface="Yu Gothic UI"/>
              </a:rPr>
              <a:t>AKS マネージド VNet および持ち込み (BYO) VNet の両方で利用可能</a:t>
            </a:r>
          </a:p>
          <a:p>
            <a:pPr lvl="1">
              <a:spcBef>
                <a:spcPts val="300"/>
              </a:spcBef>
            </a:pPr>
            <a:r>
              <a:rPr sz="1400" b="0">
                <a:solidFill>
                  <a:srgbClr val="333333"/>
                </a:solidFill>
                <a:latin typeface="Yu Gothic UI"/>
                <a:ea typeface="Yu Gothic UI"/>
              </a:rPr>
              <a:t>ゾーン冗長な送信接続、最大 100 Gbps の送信スループット、IPv6 送信サポートを AKS クラスターで実現します</a:t>
            </a:r>
          </a:p>
          <a:p>
            <a:pPr>
              <a:spcBef>
                <a:spcPts val="1400"/>
              </a:spcBef>
            </a:pPr>
            <a:r>
              <a:rPr sz="1300" b="1">
                <a:solidFill>
                  <a:srgbClr val="666666"/>
                </a:solidFill>
                <a:latin typeface="Yu Gothic UI"/>
                <a:ea typeface="Yu Gothic UI"/>
              </a:rPr>
              <a:t>対象製品: Azure Kubernetes Service (AKS), Azure NAT Gateway</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https://azure.microsoft.com/updates/?id=560207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管理 &amp; ガバナンス（3件）</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Backup による Azure 仮想マシンの一括リストア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Backup で Azure 仮想マシンの一括リストアがサポートされ、1回の操作で最大 100 台までの VM を復元できるようになりました</a:t>
            </a:r>
          </a:p>
          <a:p>
            <a:pPr lvl="1">
              <a:spcBef>
                <a:spcPts val="300"/>
              </a:spcBef>
            </a:pPr>
            <a:r>
              <a:rPr sz="1400" b="0">
                <a:solidFill>
                  <a:srgbClr val="333333"/>
                </a:solidFill>
                <a:latin typeface="Yu Gothic UI"/>
                <a:ea typeface="Yu Gothic UI"/>
              </a:rPr>
              <a:t>複数 VM の選択、復元ポイントの指定、共通パラメータの適用、進捗の集中管理に対応し、VM 単位での制御性も維持</a:t>
            </a:r>
          </a:p>
          <a:p>
            <a:pPr lvl="1">
              <a:spcBef>
                <a:spcPts val="300"/>
              </a:spcBef>
            </a:pPr>
            <a:r>
              <a:rPr sz="1400" b="0">
                <a:solidFill>
                  <a:srgbClr val="333333"/>
                </a:solidFill>
                <a:latin typeface="Yu Gothic UI"/>
                <a:ea typeface="Yu Gothic UI"/>
              </a:rPr>
              <a:t>障害復旧やランサムウェアからの復旧など大規模リカバリーシナリオで復旧速度と運用効率を向上します</a:t>
            </a:r>
          </a:p>
          <a:p>
            <a:pPr>
              <a:spcBef>
                <a:spcPts val="1400"/>
              </a:spcBef>
            </a:pPr>
            <a:r>
              <a:rPr sz="1300" b="1">
                <a:solidFill>
                  <a:srgbClr val="666666"/>
                </a:solidFill>
                <a:latin typeface="Yu Gothic UI"/>
                <a:ea typeface="Yu Gothic UI"/>
              </a:rPr>
              <a:t>対象製品: Azure Backup</a:t>
            </a:r>
          </a:p>
          <a:p>
            <a:pPr>
              <a:spcBef>
                <a:spcPts val="200"/>
              </a:spcBef>
            </a:pPr>
            <a:r>
              <a:rPr sz="1300" b="0">
                <a:solidFill>
                  <a:srgbClr val="666666"/>
                </a:solidFill>
                <a:latin typeface="Yu Gothic UI"/>
                <a:ea typeface="Yu Gothic UI"/>
              </a:rPr>
              <a:t>作成日: 2026/05/06</a:t>
            </a:r>
          </a:p>
          <a:p>
            <a:pPr>
              <a:spcBef>
                <a:spcPts val="200"/>
              </a:spcBef>
            </a:pPr>
            <a:r>
              <a:rPr sz="1300" b="0">
                <a:solidFill>
                  <a:srgbClr val="666666"/>
                </a:solidFill>
                <a:latin typeface="Yu Gothic UI"/>
                <a:ea typeface="Yu Gothic UI"/>
              </a:rPr>
              <a:t>可用性: Preview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https://azure.microsoft.com/updates/?id=561373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アップデート: 英国における Azure からのデータ送信 (egress) と転送ポリシー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英国 (UK) の請求先住所を持つ顧客が UK データセンターからデータを転送する場合のスコープネットワーク、転送ウィンドウ、対象サービスについて変更が行われました</a:t>
            </a:r>
          </a:p>
          <a:p>
            <a:pPr lvl="1">
              <a:spcBef>
                <a:spcPts val="300"/>
              </a:spcBef>
            </a:pPr>
            <a:r>
              <a:rPr sz="1400" b="0">
                <a:solidFill>
                  <a:srgbClr val="333333"/>
                </a:solidFill>
                <a:latin typeface="Yu Gothic UI"/>
                <a:ea typeface="Yu Gothic UI"/>
              </a:rPr>
              <a:t>これまで欧州の顧客および CSP パートナーに提供されていた、Azure と他のデータ処理事業者間のインターネット経由データ転送に関する無料 egress / 原価ベース転送オプションが英国向けに調整されています</a:t>
            </a:r>
          </a:p>
          <a:p>
            <a:pPr lvl="1">
              <a:spcBef>
                <a:spcPts val="300"/>
              </a:spcBef>
            </a:pPr>
            <a:r>
              <a:rPr sz="1400" b="0">
                <a:solidFill>
                  <a:srgbClr val="333333"/>
                </a:solidFill>
                <a:latin typeface="Yu Gothic UI"/>
                <a:ea typeface="Yu Gothic UI"/>
              </a:rPr>
              <a:t>クロスクラウドや Azure サービスからの移行でデータ転送する場合は、egress/並列データ転送の手順に従い、適格性要件を満たした上で Azure サポートにクレジット申請が可能です</a:t>
            </a:r>
          </a:p>
          <a:p>
            <a:pPr>
              <a:spcBef>
                <a:spcPts val="200"/>
              </a:spcBef>
            </a:pPr>
            <a:r>
              <a:rPr sz="1300" b="0">
                <a:solidFill>
                  <a:srgbClr val="666666"/>
                </a:solidFill>
                <a:latin typeface="Yu Gothic UI"/>
                <a:ea typeface="Yu Gothic UI"/>
              </a:rPr>
              <a:t>作成日: 2026/05/01</a:t>
            </a:r>
          </a:p>
          <a:p>
            <a:pPr>
              <a:spcBef>
                <a:spcPts val="200"/>
              </a:spcBef>
            </a:pPr>
            <a:r>
              <a:rPr sz="1300" b="0">
                <a:solidFill>
                  <a:srgbClr val="666666"/>
                </a:solidFill>
                <a:latin typeface="Yu Gothic UI"/>
                <a:ea typeface="Yu Gothic UI"/>
              </a:rPr>
              <a:t>可用性: General Availability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https://azure.microsoft.com/updates/?id=561392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NVMe ディスクコントローラーを持つ Windows Azure VM の Azure Site Recovery 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Site Recovery が NVMe 対応の第 2 世代 VM ファミリ (Da/Ea/Fa v6 シリーズ、Ebsv5/Ebdsv5 など) で稼働する Windows Azure VM のレプリケーション/DR を Azure 間シナリオでサポート (プレビュー)</a:t>
            </a:r>
          </a:p>
          <a:p>
            <a:pPr lvl="1">
              <a:spcBef>
                <a:spcPts val="300"/>
              </a:spcBef>
            </a:pPr>
            <a:r>
              <a:rPr sz="1400" b="0">
                <a:solidFill>
                  <a:srgbClr val="333333"/>
                </a:solidFill>
                <a:latin typeface="Yu Gothic UI"/>
                <a:ea typeface="Yu Gothic UI"/>
              </a:rPr>
              <a:t>高性能・I/O 集約型ワークロードを NVMe ディスクコントローラーで動かす VM の DR が可能になりました (ASR の変更レート上限の範囲内)</a:t>
            </a:r>
          </a:p>
          <a:p>
            <a:pPr lvl="1">
              <a:spcBef>
                <a:spcPts val="300"/>
              </a:spcBef>
            </a:pPr>
            <a:r>
              <a:rPr sz="1400" b="0">
                <a:solidFill>
                  <a:srgbClr val="333333"/>
                </a:solidFill>
                <a:latin typeface="Yu Gothic UI"/>
                <a:ea typeface="Yu Gothic UI"/>
              </a:rPr>
              <a:t>Azure パブリッククラウド全リージョンで利用可能です</a:t>
            </a:r>
          </a:p>
          <a:p>
            <a:pPr>
              <a:spcBef>
                <a:spcPts val="1400"/>
              </a:spcBef>
            </a:pPr>
            <a:r>
              <a:rPr sz="1300" b="1">
                <a:solidFill>
                  <a:srgbClr val="666666"/>
                </a:solidFill>
                <a:latin typeface="Yu Gothic UI"/>
                <a:ea typeface="Yu Gothic UI"/>
              </a:rPr>
              <a:t>対象製品: Azure Site Recovery</a:t>
            </a:r>
          </a:p>
          <a:p>
            <a:pPr>
              <a:spcBef>
                <a:spcPts val="200"/>
              </a:spcBef>
            </a:pPr>
            <a:r>
              <a:rPr sz="1300" b="0">
                <a:solidFill>
                  <a:srgbClr val="666666"/>
                </a:solidFill>
                <a:latin typeface="Yu Gothic UI"/>
                <a:ea typeface="Yu Gothic UI"/>
              </a:rPr>
              <a:t>作成日: 2026/04/14</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https://azure.microsoft.com/updates/?id=560241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DevOps（1件）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Foundry Toolkit for Visual Studio Code (旧 AI Toolkit for VS Code)</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Foundry Toolkit for VS Code (旧 AI Toolkit for VS Code) が一般提供開始</a:t>
            </a:r>
          </a:p>
          <a:p>
            <a:pPr lvl="1">
              <a:spcBef>
                <a:spcPts val="300"/>
              </a:spcBef>
            </a:pPr>
            <a:r>
              <a:rPr sz="1400" b="0">
                <a:solidFill>
                  <a:srgbClr val="333333"/>
                </a:solidFill>
                <a:latin typeface="Yu Gothic UI"/>
                <a:ea typeface="Yu Gothic UI"/>
              </a:rPr>
              <a:t>Microsoft Agent Framework 向け VS Code ツーリングを提供し、テンプレートまたは GitHub Copilot からのエージェント作成、ローカルでのテスト/デバッグ (可視化とトレース)、Foundry Agent Service への直接デプロイに対応します</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2026/04/24</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https://azure.microsoft.com/updates/?id=560987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統合（1件）</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サービス継続のためのレガシー AlternateId 利用の整理 (要対応)</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Communication Services (ACS) における AlternateId の社内実装での利用が Teams Phone のマルチライン (Multiple Number Assignment) 機能に影響することが判明しました</a:t>
            </a:r>
          </a:p>
          <a:p>
            <a:pPr lvl="1">
              <a:spcBef>
                <a:spcPts val="300"/>
              </a:spcBef>
            </a:pPr>
            <a:r>
              <a:rPr sz="1400" b="0">
                <a:solidFill>
                  <a:srgbClr val="333333"/>
                </a:solidFill>
                <a:latin typeface="Yu Gothic UI"/>
                <a:ea typeface="Yu Gothic UI"/>
              </a:rPr>
              <a:t>AlternateId は Microsoft 内部用パラメータであり、ACS では顧客が使用すべきではありません</a:t>
            </a:r>
          </a:p>
          <a:p>
            <a:pPr lvl="1">
              <a:spcBef>
                <a:spcPts val="300"/>
              </a:spcBef>
            </a:pPr>
            <a:r>
              <a:rPr sz="1400" b="0">
                <a:solidFill>
                  <a:srgbClr val="333333"/>
                </a:solidFill>
                <a:latin typeface="Yu Gothic UI"/>
                <a:ea typeface="Yu Gothic UI"/>
              </a:rPr>
              <a:t>一部の構成で AlternateId に電話以外の MRI 値を利用しているケースが検出されています</a:t>
            </a:r>
          </a:p>
          <a:p>
            <a:pPr lvl="1">
              <a:spcBef>
                <a:spcPts val="300"/>
              </a:spcBef>
            </a:pPr>
            <a:r>
              <a:rPr sz="1400" b="0">
                <a:solidFill>
                  <a:srgbClr val="333333"/>
                </a:solidFill>
                <a:latin typeface="Yu Gothic UI"/>
                <a:ea typeface="Yu Gothic UI"/>
              </a:rPr>
              <a:t>サポート外の構成であり、マルチライン有効化時に通話失敗等の障害を招く恐れがあります</a:t>
            </a:r>
          </a:p>
          <a:p>
            <a:pPr lvl="1">
              <a:spcBef>
                <a:spcPts val="300"/>
              </a:spcBef>
            </a:pPr>
            <a:r>
              <a:rPr sz="1400" b="0">
                <a:solidFill>
                  <a:srgbClr val="333333"/>
                </a:solidFill>
                <a:latin typeface="Yu Gothic UI"/>
                <a:ea typeface="Yu Gothic UI"/>
              </a:rPr>
              <a:t>利用組織は直ちに使用を停止する必要があり、移行が間に合わない場合は Microsoft サポートに連絡してマルチライン機能のブロックリストへの追加を依頼してください (有効期限 2026 年 6 月 15 日)</a:t>
            </a:r>
          </a:p>
          <a:p>
            <a:pPr>
              <a:spcBef>
                <a:spcPts val="1400"/>
              </a:spcBef>
            </a:pPr>
            <a:r>
              <a:rPr sz="1300" b="1">
                <a:solidFill>
                  <a:srgbClr val="666666"/>
                </a:solidFill>
                <a:latin typeface="Yu Gothic UI"/>
                <a:ea typeface="Yu Gothic UI"/>
              </a:rPr>
              <a:t>対象製品: Azure Communication Services</a:t>
            </a:r>
          </a:p>
          <a:p>
            <a:pPr>
              <a:spcBef>
                <a:spcPts val="200"/>
              </a:spcBef>
            </a:pPr>
            <a:r>
              <a:rPr sz="1300" b="0">
                <a:solidFill>
                  <a:srgbClr val="666666"/>
                </a:solidFill>
                <a:latin typeface="Yu Gothic UI"/>
                <a:ea typeface="Yu Gothic UI"/>
              </a:rPr>
              <a:t>作成日: 2026/05/04</a:t>
            </a:r>
          </a:p>
          <a:p>
            <a:pPr>
              <a:spcBef>
                <a:spcPts val="200"/>
              </a:spcBef>
            </a:pPr>
            <a:r>
              <a:rPr sz="1300" b="0">
                <a:solidFill>
                  <a:srgbClr val="666666"/>
                </a:solidFill>
                <a:latin typeface="Yu Gothic UI"/>
                <a:ea typeface="Yu Gothic UI"/>
              </a:rPr>
              <a:t>可用性: General Availability 2026/May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https://azure.microsoft.com/updates/?id=561432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分析（1件）</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Microsoft Fabric での Azure Database for PostgreSQL ミラーリング機能強化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Microsoft Fabric への Azure Database for PostgreSQL ミラーリングが強化</a:t>
            </a:r>
          </a:p>
          <a:p>
            <a:pPr lvl="1">
              <a:spcBef>
                <a:spcPts val="300"/>
              </a:spcBef>
            </a:pPr>
            <a:r>
              <a:rPr sz="1400" b="0">
                <a:solidFill>
                  <a:srgbClr val="333333"/>
                </a:solidFill>
                <a:latin typeface="Yu Gothic UI"/>
                <a:ea typeface="Yu Gothic UI"/>
              </a:rPr>
              <a:t>JSON / JSONB を含むネイティブ PostgreSQL データ型のミラーリングに対応し、リッチなスキーマをそのまま Fabric に取り込めます</a:t>
            </a:r>
          </a:p>
          <a:p>
            <a:pPr lvl="1">
              <a:spcBef>
                <a:spcPts val="300"/>
              </a:spcBef>
            </a:pPr>
            <a:r>
              <a:rPr sz="1400" b="0">
                <a:solidFill>
                  <a:srgbClr val="333333"/>
                </a:solidFill>
                <a:latin typeface="Yu Gothic UI"/>
                <a:ea typeface="Yu Gothic UI"/>
              </a:rPr>
              <a:t>レプリケーションユーザーがテーブル所有者である必要がなくなり、既存 DB でも所有権やセキュリティモデルを変更せずミラーリング有効化が可能</a:t>
            </a:r>
          </a:p>
          <a:p>
            <a:pPr lvl="1">
              <a:spcBef>
                <a:spcPts val="300"/>
              </a:spcBef>
            </a:pPr>
            <a:r>
              <a:rPr sz="1400" b="0">
                <a:solidFill>
                  <a:srgbClr val="333333"/>
                </a:solidFill>
                <a:latin typeface="Yu Gothic UI"/>
                <a:ea typeface="Yu Gothic UI"/>
              </a:rPr>
              <a:t>エラーメッセージの改善と専用 UDF によりミラーリング可否やブロック条件を PostgreSQL から直接確認可能になり、PostgreSQL バージョン 17 未満で HA 有効の Flexible Server もミラーリング対応になりました</a:t>
            </a:r>
          </a:p>
          <a:p>
            <a:pPr>
              <a:spcBef>
                <a:spcPts val="1400"/>
              </a:spcBef>
            </a:pPr>
            <a:r>
              <a:rPr sz="1300" b="1">
                <a:solidFill>
                  <a:srgbClr val="666666"/>
                </a:solidFill>
                <a:latin typeface="Yu Gothic UI"/>
                <a:ea typeface="Yu Gothic UI"/>
              </a:rPr>
              <a:t>対象製品: Azure Database for PostgreSQL, Microsoft Fabric</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https://azure.microsoft.com/updates/?id=560293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ハイブリッド &amp; マルチクラウド（1件）</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Arc 移行が SQL Server on Azure VM を移行先として追加</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Arc 移行が SQL Server on Azure VM を移行先としてサポート</a:t>
            </a:r>
          </a:p>
          <a:p>
            <a:pPr lvl="1">
              <a:spcBef>
                <a:spcPts val="300"/>
              </a:spcBef>
            </a:pPr>
            <a:r>
              <a:rPr sz="1400" b="0">
                <a:solidFill>
                  <a:srgbClr val="333333"/>
                </a:solidFill>
                <a:latin typeface="Yu Gothic UI"/>
                <a:ea typeface="Yu Gothic UI"/>
              </a:rPr>
              <a:t>Arc 対応 SQL Server インスタンスを Azure SQL Managed Instance に加え、Azure インフラ上の SQL Server にも、同じ統一ワークフローで移行できるようになりました</a:t>
            </a:r>
          </a:p>
          <a:p>
            <a:pPr>
              <a:spcBef>
                <a:spcPts val="1400"/>
              </a:spcBef>
            </a:pPr>
            <a:r>
              <a:rPr sz="1300" b="1">
                <a:solidFill>
                  <a:srgbClr val="666666"/>
                </a:solidFill>
                <a:latin typeface="Yu Gothic UI"/>
                <a:ea typeface="Yu Gothic UI"/>
              </a:rPr>
              <a:t>対象製品: Azure Arc</a:t>
            </a:r>
          </a:p>
          <a:p>
            <a:pPr>
              <a:spcBef>
                <a:spcPts val="200"/>
              </a:spcBef>
            </a:pPr>
            <a:r>
              <a:rPr sz="1300" b="0">
                <a:solidFill>
                  <a:srgbClr val="666666"/>
                </a:solidFill>
                <a:latin typeface="Yu Gothic UI"/>
                <a:ea typeface="Yu Gothic UI"/>
              </a:rPr>
              <a:t>作成日: 2026/04/22</a:t>
            </a:r>
          </a:p>
          <a:p>
            <a:pPr>
              <a:spcBef>
                <a:spcPts val="200"/>
              </a:spcBef>
            </a:pPr>
            <a:r>
              <a:rPr sz="1300" b="0">
                <a:solidFill>
                  <a:srgbClr val="666666"/>
                </a:solidFill>
                <a:latin typeface="Yu Gothic UI"/>
                <a:ea typeface="Yu Gothic UI"/>
              </a:rPr>
              <a:t>可用性: Preview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https://azure.microsoft.com/updates/?id=560805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移行（1件）</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Storage Mover が Azure Government (US)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Storage Mover が Azure Government (US) で一般提供開始</a:t>
            </a:r>
          </a:p>
          <a:p>
            <a:pPr lvl="1">
              <a:spcBef>
                <a:spcPts val="300"/>
              </a:spcBef>
            </a:pPr>
            <a:r>
              <a:rPr sz="1400" b="0">
                <a:solidFill>
                  <a:srgbClr val="333333"/>
                </a:solidFill>
                <a:latin typeface="Yu Gothic UI"/>
                <a:ea typeface="Yu Gothic UI"/>
              </a:rPr>
              <a:t>米国政府機関の顧客およびパートナーが大規模ファイルデータを Azure Government 環境へセキュアに移行できる完全マネージド移行サービスです</a:t>
            </a:r>
          </a:p>
          <a:p>
            <a:pPr lvl="1">
              <a:spcBef>
                <a:spcPts val="300"/>
              </a:spcBef>
            </a:pPr>
            <a:r>
              <a:rPr sz="1400" b="0">
                <a:solidFill>
                  <a:srgbClr val="333333"/>
                </a:solidFill>
                <a:latin typeface="Yu Gothic UI"/>
                <a:ea typeface="Yu Gothic UI"/>
              </a:rPr>
              <a:t>集中管理、組み込みの回復性、可視性を備え、データソース近くにマイグレーションエージェントを配置可能</a:t>
            </a:r>
          </a:p>
          <a:p>
            <a:pPr lvl="1">
              <a:spcBef>
                <a:spcPts val="300"/>
              </a:spcBef>
            </a:pPr>
            <a:r>
              <a:rPr sz="1400" b="0">
                <a:solidFill>
                  <a:srgbClr val="333333"/>
                </a:solidFill>
                <a:latin typeface="Yu Gothic UI"/>
                <a:ea typeface="Yu Gothic UI"/>
              </a:rPr>
              <a:t>Azure Government 内で運用することで、米国政府のコンプライアンス/規制要件を満たしつつ、オンプレミスから Azure Government、Azure Government ストレージアカウント間で大規模ファイル共有移行を実行できます</a:t>
            </a:r>
          </a:p>
          <a:p>
            <a:pPr>
              <a:spcBef>
                <a:spcPts val="1400"/>
              </a:spcBef>
            </a:pPr>
            <a:r>
              <a:rPr sz="1300" b="1">
                <a:solidFill>
                  <a:srgbClr val="666666"/>
                </a:solidFill>
                <a:latin typeface="Yu Gothic UI"/>
                <a:ea typeface="Yu Gothic UI"/>
              </a:rPr>
              <a:t>対象製品: Azure Storage Mover</a:t>
            </a:r>
          </a:p>
          <a:p>
            <a:pPr>
              <a:spcBef>
                <a:spcPts val="200"/>
              </a:spcBef>
            </a:pPr>
            <a:r>
              <a:rPr sz="1300" b="0">
                <a:solidFill>
                  <a:srgbClr val="666666"/>
                </a:solidFill>
                <a:latin typeface="Yu Gothic UI"/>
                <a:ea typeface="Yu Gothic UI"/>
              </a:rPr>
              <a:t>作成日: 2026/04/13</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https://azure.microsoft.com/updates/?id=560198</a:t>
            </a:r>
          </a:p>
        </p:txBody>
      </p:sp>
    </p:spTree>
  </p:cSld>
  <p:clrMapOvr>
    <a:masterClrMapping/>
  </p:clrMapOvr>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F1829AB2-CBD7-4CD6-8E4A-37E5E8041FA7}" vid="{C0926CC9-4F6D-442D-AA3F-CD7414C83F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255e9135-acb6-413d-8014-3858207eab07" xsi:nil="true"/>
    <lcf76f155ced4ddcb4097134ff3c332f xmlns="255e9135-acb6-413d-8014-3858207eab07">
      <Terms xmlns="http://schemas.microsoft.com/office/infopath/2007/PartnerControls"/>
    </lcf76f155ced4ddcb4097134ff3c332f>
    <SharedWithUsers xmlns="a4494d7a-ad2c-4b11-8dea-280127f8418e">
      <UserInfo>
        <DisplayName>Brand Central Administrators</DisplayName>
        <AccountId>2570</AccountId>
        <AccountType/>
      </UserInfo>
      <UserInfo>
        <DisplayName>Teresa Conte</DisplayName>
        <AccountId>563</AccountId>
        <AccountType/>
      </UserInfo>
      <UserInfo>
        <DisplayName>Nannette Sperling (Synaxis Corporation)</DisplayName>
        <AccountId>565</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C2B9021A22FC4C82FF99EC65766ED0" ma:contentTypeVersion="20" ma:contentTypeDescription="Create a new document." ma:contentTypeScope="" ma:versionID="9da7f44f7bc0c47e637d8ceae23e1e93">
  <xsd:schema xmlns:xsd="http://www.w3.org/2001/XMLSchema" xmlns:xs="http://www.w3.org/2001/XMLSchema" xmlns:p="http://schemas.microsoft.com/office/2006/metadata/properties" xmlns:ns1="http://schemas.microsoft.com/sharepoint/v3" xmlns:ns2="255e9135-acb6-413d-8014-3858207eab07" xmlns:ns3="a4494d7a-ad2c-4b11-8dea-280127f8418e" xmlns:ns4="230e9df3-be65-4c73-a93b-d1236ebd677e" targetNamespace="http://schemas.microsoft.com/office/2006/metadata/properties" ma:root="true" ma:fieldsID="31291647c0747e3ff3c6be7e5ea34989" ns1:_="" ns2:_="" ns3:_="" ns4:_="">
    <xsd:import namespace="http://schemas.microsoft.com/sharepoint/v3"/>
    <xsd:import namespace="255e9135-acb6-413d-8014-3858207eab07"/>
    <xsd:import namespace="a4494d7a-ad2c-4b11-8dea-280127f8418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5e9135-acb6-413d-8014-3858207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5" nillable="true" ma:displayName="MediaServiceDocTags" ma:hidden="true" ma:internalName="MediaServiceDocTag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494d7a-ad2c-4b11-8dea-280127f841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ed99a2d-f583-4356-ba8a-4aee971188b3}" ma:internalName="TaxCatchAll" ma:showField="CatchAllData" ma:web="a4494d7a-ad2c-4b11-8dea-280127f841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purl.org/dc/elements/1.1/"/>
    <ds:schemaRef ds:uri="ebe725d4-5a61-4827-9af4-da8e7f768b99"/>
    <ds:schemaRef ds:uri="http://schemas.microsoft.com/sharepoint/v3"/>
    <ds:schemaRef ds:uri="http://www.w3.org/XML/1998/namespace"/>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schemas.microsoft.com/office/2006/documentManagement/types"/>
    <ds:schemaRef ds:uri="230e9df3-be65-4c73-a93b-d1236ebd677e"/>
    <ds:schemaRef ds:uri="a647c833-fbf3-42d0-9d1a-fdc4c4d8b08f"/>
    <ds:schemaRef ds:uri="http://purl.org/dc/dcmitype/"/>
    <ds:schemaRef ds:uri="255e9135-acb6-413d-8014-3858207eab07"/>
    <ds:schemaRef ds:uri="a4494d7a-ad2c-4b11-8dea-280127f8418e"/>
  </ds:schemaRefs>
</ds:datastoreItem>
</file>

<file path=customXml/itemProps2.xml><?xml version="1.0" encoding="utf-8"?>
<ds:datastoreItem xmlns:ds="http://schemas.openxmlformats.org/officeDocument/2006/customXml" ds:itemID="{6DF23C8F-38A0-41C4-941E-F221D54D7B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5e9135-acb6-413d-8014-3858207eab07"/>
    <ds:schemaRef ds:uri="a4494d7a-ad2c-4b11-8dea-280127f8418e"/>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ppt-temp-zukako-202511</Template>
  <TotalTime>10</TotalTime>
  <Words>7</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Yu Gothic UI</vt:lpstr>
      <vt:lpstr>Segoe UI</vt:lpstr>
      <vt:lpstr>Segoe Sans Text Semibold</vt:lpstr>
      <vt:lpstr>Wingdings</vt:lpstr>
      <vt:lpstr>Segoe Sans Text</vt:lpstr>
      <vt:lpstr>Azure 2023 Template</vt:lpstr>
      <vt:lpstr>PowerPoint Presentation</vt:lpstr>
      <vt:lpstr>てすと</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Koki Ishizuka</dc:creator>
  <cp:keywords/>
  <dc:description/>
  <cp:lastModifiedBy>Koki Ishizuka</cp:lastModifiedBy>
  <cp:revision>5</cp:revision>
  <cp:lastPrinted>2023-02-15T20:48:24Z</cp:lastPrinted>
  <dcterms:created xsi:type="dcterms:W3CDTF">2026-04-03T03:45:54Z</dcterms:created>
  <dcterms:modified xsi:type="dcterms:W3CDTF">2026-04-04T03:05:59Z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0x010100D5C2B9021A22FC4C82FF99EC65766ED0</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ies>
</file>